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1695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0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3" name="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4" name="sh"/>
          <p:cNvSpPr/>
          <p:nvPr/>
        </p:nvSpPr>
        <p:spPr>
          <a:xfrm>
            <a:off x="9082735" y="0"/>
            <a:ext cx="3108960" cy="6858000"/>
          </a:xfrm>
          <a:prstGeom prst="rect">
            <a:avLst/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5" name="sh"/>
          <p:cNvSpPr/>
          <p:nvPr/>
        </p:nvSpPr>
        <p:spPr>
          <a:xfrm>
            <a:off x="9082735" y="0"/>
            <a:ext cx="91440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6" name="tb"/>
          <p:cNvSpPr txBox="1"/>
          <p:nvPr/>
        </p:nvSpPr>
        <p:spPr>
          <a:xfrm>
            <a:off x="9265615" y="1463040"/>
            <a:ext cx="2926080" cy="36576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5000" b="1" dirty="0">
                <a:solidFill>
                  <a:srgbClr val="1D5A99"/>
                </a:solidFill>
                <a:latin typeface="Calibri"/>
              </a:rPr>
              <a:t>100</a:t>
            </a:r>
          </a:p>
        </p:txBody>
      </p:sp>
      <p:sp>
        <p:nvSpPr>
          <p:cNvPr id="7" name="tb"/>
          <p:cNvSpPr txBox="1"/>
          <p:nvPr/>
        </p:nvSpPr>
        <p:spPr>
          <a:xfrm>
            <a:off x="9174175" y="3931920"/>
            <a:ext cx="3017520" cy="9144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AACBEA"/>
                </a:solidFill>
                <a:latin typeface="Calibri"/>
              </a:rPr>
              <a:t>tenants on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AACBEA"/>
                </a:solidFill>
                <a:latin typeface="Calibri"/>
              </a:rPr>
              <a:t>shared infrastructure</a:t>
            </a:r>
          </a:p>
        </p:txBody>
      </p:sp>
      <p:sp>
        <p:nvSpPr>
          <p:cNvPr id="8" name="sh"/>
          <p:cNvSpPr/>
          <p:nvPr/>
        </p:nvSpPr>
        <p:spPr>
          <a:xfrm>
            <a:off x="640080" y="1051560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0B2545"/>
                </a:solidFill>
                <a:latin typeface="Calibri"/>
              </a:rPr>
              <a:t>CLOUD FORENSICS</a:t>
            </a:r>
          </a:p>
        </p:txBody>
      </p:sp>
      <p:sp>
        <p:nvSpPr>
          <p:cNvPr id="9" name="tb"/>
          <p:cNvSpPr txBox="1"/>
          <p:nvPr/>
        </p:nvSpPr>
        <p:spPr>
          <a:xfrm>
            <a:off x="594360" y="1737360"/>
            <a:ext cx="7955279" cy="20116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4800" b="1" dirty="0">
                <a:solidFill>
                  <a:srgbClr val="FFFFFF"/>
                </a:solidFill>
                <a:latin typeface="Calibri"/>
              </a:rPr>
              <a:t>Multi-Tenancy Challenge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9EC4E8"/>
                </a:solidFill>
                <a:latin typeface="Calibri"/>
              </a:rPr>
              <a:t>Forensic Challenges in a Multi-Tenant Cloud Environment</a:t>
            </a:r>
          </a:p>
        </p:txBody>
      </p:sp>
      <p:sp>
        <p:nvSpPr>
          <p:cNvPr id="10" name="sh"/>
          <p:cNvSpPr/>
          <p:nvPr/>
        </p:nvSpPr>
        <p:spPr>
          <a:xfrm>
            <a:off x="640080" y="3886200"/>
            <a:ext cx="7955279" cy="2148840"/>
          </a:xfrm>
          <a:prstGeom prst="roundRect">
            <a:avLst>
              <a:gd name="adj" fmla="val 6000"/>
            </a:avLst>
          </a:prstGeom>
          <a:solidFill>
            <a:srgbClr val="0F315C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11" name="sh"/>
          <p:cNvSpPr/>
          <p:nvPr/>
        </p:nvSpPr>
        <p:spPr>
          <a:xfrm>
            <a:off x="640080" y="3886200"/>
            <a:ext cx="118872" cy="2148840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2" name="tb"/>
          <p:cNvSpPr txBox="1"/>
          <p:nvPr/>
        </p:nvSpPr>
        <p:spPr>
          <a:xfrm>
            <a:off x="914400" y="4023360"/>
            <a:ext cx="7498079" cy="4572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E8A33D"/>
                </a:solidFill>
                <a:latin typeface="Calibri"/>
              </a:rPr>
              <a:t>CASE SCENARIO</a:t>
            </a:r>
          </a:p>
        </p:txBody>
      </p:sp>
      <p:sp>
        <p:nvSpPr>
          <p:cNvPr id="13" name="tb"/>
          <p:cNvSpPr txBox="1"/>
          <p:nvPr/>
        </p:nvSpPr>
        <p:spPr>
          <a:xfrm>
            <a:off x="914400" y="4434840"/>
            <a:ext cx="7498079" cy="15544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274320" indent="-274320">
              <a:spcBef>
                <a:spcPts val="300"/>
              </a:spcBef>
              <a:buFont typeface="Arial"/>
              <a:buChar char="▪"/>
            </a:pPr>
            <a:r>
              <a:rPr lang="en-US" sz="1500" b="0" dirty="0">
                <a:solidFill>
                  <a:srgbClr val="E5EEF8"/>
                </a:solidFill>
                <a:latin typeface="Calibri"/>
              </a:rPr>
              <a:t>A cloud provider hosts data for 100 organizations on shared infrastructure.</a:t>
            </a:r>
          </a:p>
          <a:p>
            <a:pPr marL="274320" indent="-274320">
              <a:spcBef>
                <a:spcPts val="500"/>
              </a:spcBef>
              <a:buFont typeface="Arial"/>
              <a:buChar char="▪"/>
            </a:pPr>
            <a:r>
              <a:rPr lang="en-US" sz="1500" b="0" dirty="0">
                <a:solidFill>
                  <a:srgbClr val="E5EEF8"/>
                </a:solidFill>
                <a:latin typeface="Calibri"/>
              </a:rPr>
              <a:t>Evidence for only ONE organization (Org-A) is needed for an investigation.</a:t>
            </a:r>
          </a:p>
          <a:p>
            <a:pPr marL="274320" indent="-274320">
              <a:spcBef>
                <a:spcPts val="500"/>
              </a:spcBef>
              <a:buFont typeface="Arial"/>
              <a:buChar char="▪"/>
            </a:pPr>
            <a:r>
              <a:rPr lang="en-US" sz="1500" b="0" dirty="0">
                <a:solidFill>
                  <a:srgbClr val="E5EEF8"/>
                </a:solidFill>
                <a:latin typeface="Calibri"/>
              </a:rPr>
              <a:t>It must be collected without exposing or altering the other 99 tenants' data.</a:t>
            </a:r>
          </a:p>
        </p:txBody>
      </p:sp>
      <p:sp>
        <p:nvSpPr>
          <p:cNvPr id="14" name="tb"/>
          <p:cNvSpPr txBox="1"/>
          <p:nvPr/>
        </p:nvSpPr>
        <p:spPr>
          <a:xfrm>
            <a:off x="640080" y="6172200"/>
            <a:ext cx="8229600" cy="4572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AACBEA"/>
                </a:solidFill>
                <a:latin typeface="Calibri"/>
              </a:rPr>
              <a:t>Presented by:  Komaleswari S      Register No: __________      Topic: Multi-Tenancy Challenge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6" name="sh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7" name="sh"/>
          <p:cNvSpPr/>
          <p:nvPr/>
        </p:nvSpPr>
        <p:spPr>
          <a:xfrm>
            <a:off x="502920" y="274320"/>
            <a:ext cx="128016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8" name="tb"/>
          <p:cNvSpPr txBox="1"/>
          <p:nvPr/>
        </p:nvSpPr>
        <p:spPr>
          <a:xfrm>
            <a:off x="777240" y="146304"/>
            <a:ext cx="9601200" cy="4114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9EC4E8"/>
                </a:solidFill>
                <a:latin typeface="Calibri"/>
              </a:rPr>
              <a:t>THE CORE IDEA</a:t>
            </a:r>
          </a:p>
        </p:txBody>
      </p:sp>
      <p:sp>
        <p:nvSpPr>
          <p:cNvPr id="19" name="tb"/>
          <p:cNvSpPr txBox="1"/>
          <p:nvPr/>
        </p:nvSpPr>
        <p:spPr>
          <a:xfrm>
            <a:off x="777240" y="402336"/>
            <a:ext cx="9875520" cy="6400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Cloud Forensics &amp; Multi-Tenancy Concept</a:t>
            </a:r>
          </a:p>
        </p:txBody>
      </p:sp>
      <p:sp>
        <p:nvSpPr>
          <p:cNvPr id="20" name="sh"/>
          <p:cNvSpPr/>
          <p:nvPr/>
        </p:nvSpPr>
        <p:spPr>
          <a:xfrm>
            <a:off x="11231575" y="292608"/>
            <a:ext cx="457200" cy="457200"/>
          </a:xfrm>
          <a:prstGeom prst="oval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0B2545"/>
                </a:solidFill>
                <a:latin typeface="Calibri"/>
              </a:rPr>
              <a:t>2</a:t>
            </a:r>
          </a:p>
        </p:txBody>
      </p:sp>
      <p:sp>
        <p:nvSpPr>
          <p:cNvPr id="21" name="sh"/>
          <p:cNvSpPr/>
          <p:nvPr/>
        </p:nvSpPr>
        <p:spPr>
          <a:xfrm>
            <a:off x="640080" y="141732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22" name="sh"/>
          <p:cNvSpPr/>
          <p:nvPr/>
        </p:nvSpPr>
        <p:spPr>
          <a:xfrm>
            <a:off x="640080" y="1417320"/>
            <a:ext cx="118872" cy="1600200"/>
          </a:xfrm>
          <a:prstGeom prst="roundRect">
            <a:avLst>
              <a:gd name="adj" fmla="val 30000"/>
            </a:avLst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23" name="tb"/>
          <p:cNvSpPr txBox="1"/>
          <p:nvPr/>
        </p:nvSpPr>
        <p:spPr>
          <a:xfrm>
            <a:off x="914400" y="1545336"/>
            <a:ext cx="4983480" cy="4572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13639E"/>
                </a:solidFill>
                <a:latin typeface="Calibri"/>
              </a:rPr>
              <a:t>Cloud Forensics</a:t>
            </a:r>
          </a:p>
        </p:txBody>
      </p:sp>
      <p:sp>
        <p:nvSpPr>
          <p:cNvPr id="24" name="tb"/>
          <p:cNvSpPr txBox="1"/>
          <p:nvPr/>
        </p:nvSpPr>
        <p:spPr>
          <a:xfrm>
            <a:off x="914400" y="1984248"/>
            <a:ext cx="4983480" cy="96012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3A3A3A"/>
                </a:solidFill>
                <a:latin typeface="Calibri"/>
              </a:rPr>
              <a:t>Applying digital forensic principles to collect, preserve and analyze evidence located in cloud environments.</a:t>
            </a:r>
          </a:p>
        </p:txBody>
      </p:sp>
      <p:sp>
        <p:nvSpPr>
          <p:cNvPr id="25" name="sh"/>
          <p:cNvSpPr/>
          <p:nvPr/>
        </p:nvSpPr>
        <p:spPr>
          <a:xfrm>
            <a:off x="6537960" y="141732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26" name="sh"/>
          <p:cNvSpPr/>
          <p:nvPr/>
        </p:nvSpPr>
        <p:spPr>
          <a:xfrm>
            <a:off x="6537960" y="1417320"/>
            <a:ext cx="118872" cy="1600200"/>
          </a:xfrm>
          <a:prstGeom prst="roundRect">
            <a:avLst>
              <a:gd name="adj" fmla="val 30000"/>
            </a:avLst>
          </a:prstGeom>
          <a:solidFill>
            <a:srgbClr val="2E74B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27" name="tb"/>
          <p:cNvSpPr txBox="1"/>
          <p:nvPr/>
        </p:nvSpPr>
        <p:spPr>
          <a:xfrm>
            <a:off x="6812280" y="1545336"/>
            <a:ext cx="4983480" cy="4572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2E74B5"/>
                </a:solidFill>
                <a:latin typeface="Calibri"/>
              </a:rPr>
              <a:t>Multi-Tenancy</a:t>
            </a:r>
          </a:p>
        </p:txBody>
      </p:sp>
      <p:sp>
        <p:nvSpPr>
          <p:cNvPr id="28" name="tb"/>
          <p:cNvSpPr txBox="1"/>
          <p:nvPr/>
        </p:nvSpPr>
        <p:spPr>
          <a:xfrm>
            <a:off x="6812280" y="1984248"/>
            <a:ext cx="4983480" cy="96012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3A3A3A"/>
                </a:solidFill>
                <a:latin typeface="Calibri"/>
              </a:rPr>
              <a:t>One physical infrastructure - servers, storage, network - is shared by many independent customers, called tenants.</a:t>
            </a:r>
          </a:p>
        </p:txBody>
      </p:sp>
      <p:sp>
        <p:nvSpPr>
          <p:cNvPr id="29" name="sh"/>
          <p:cNvSpPr/>
          <p:nvPr/>
        </p:nvSpPr>
        <p:spPr>
          <a:xfrm>
            <a:off x="640080" y="333756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30" name="sh"/>
          <p:cNvSpPr/>
          <p:nvPr/>
        </p:nvSpPr>
        <p:spPr>
          <a:xfrm>
            <a:off x="640080" y="3337560"/>
            <a:ext cx="118872" cy="1600200"/>
          </a:xfrm>
          <a:prstGeom prst="roundRect">
            <a:avLst>
              <a:gd name="adj" fmla="val 30000"/>
            </a:avLst>
          </a:prstGeom>
          <a:solidFill>
            <a:srgbClr val="3A7CA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31" name="tb"/>
          <p:cNvSpPr txBox="1"/>
          <p:nvPr/>
        </p:nvSpPr>
        <p:spPr>
          <a:xfrm>
            <a:off x="914400" y="3465576"/>
            <a:ext cx="4983480" cy="4572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3A7CA5"/>
                </a:solidFill>
                <a:latin typeface="Calibri"/>
              </a:rPr>
              <a:t>Shared Resources</a:t>
            </a:r>
          </a:p>
        </p:txBody>
      </p:sp>
      <p:sp>
        <p:nvSpPr>
          <p:cNvPr id="32" name="tb"/>
          <p:cNvSpPr txBox="1"/>
          <p:nvPr/>
        </p:nvSpPr>
        <p:spPr>
          <a:xfrm>
            <a:off x="914400" y="3904488"/>
            <a:ext cx="4983480" cy="96012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3A3A3A"/>
                </a:solidFill>
                <a:latin typeface="Calibri"/>
              </a:rPr>
              <a:t>CPU, memory, disk and network are pooled and used simultaneously by all tenants.</a:t>
            </a:r>
          </a:p>
        </p:txBody>
      </p:sp>
      <p:sp>
        <p:nvSpPr>
          <p:cNvPr id="33" name="sh"/>
          <p:cNvSpPr/>
          <p:nvPr/>
        </p:nvSpPr>
        <p:spPr>
          <a:xfrm>
            <a:off x="6537960" y="333756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34" name="sh"/>
          <p:cNvSpPr/>
          <p:nvPr/>
        </p:nvSpPr>
        <p:spPr>
          <a:xfrm>
            <a:off x="6537960" y="3337560"/>
            <a:ext cx="118872" cy="1600200"/>
          </a:xfrm>
          <a:prstGeom prst="roundRect">
            <a:avLst>
              <a:gd name="adj" fmla="val 30000"/>
            </a:avLst>
          </a:prstGeom>
          <a:solidFill>
            <a:srgbClr val="5A6BA8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35" name="tb"/>
          <p:cNvSpPr txBox="1"/>
          <p:nvPr/>
        </p:nvSpPr>
        <p:spPr>
          <a:xfrm>
            <a:off x="6812280" y="3465576"/>
            <a:ext cx="4983480" cy="4572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5A6BA8"/>
                </a:solidFill>
                <a:latin typeface="Calibri"/>
              </a:rPr>
              <a:t>Data Separation</a:t>
            </a:r>
          </a:p>
        </p:txBody>
      </p:sp>
      <p:sp>
        <p:nvSpPr>
          <p:cNvPr id="36" name="tb"/>
          <p:cNvSpPr txBox="1"/>
          <p:nvPr/>
        </p:nvSpPr>
        <p:spPr>
          <a:xfrm>
            <a:off x="6812280" y="3904488"/>
            <a:ext cx="4983480" cy="96012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3A3A3A"/>
                </a:solidFill>
                <a:latin typeface="Calibri"/>
              </a:rPr>
              <a:t>Tenants are kept apart only logically - via virtual machines, containers and database partitions.</a:t>
            </a:r>
          </a:p>
        </p:txBody>
      </p:sp>
      <p:sp>
        <p:nvSpPr>
          <p:cNvPr id="37" name="sh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38" name="tb"/>
          <p:cNvSpPr txBox="1"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Because hardware is shared, a single disk, memory page or log file can hold data belonging to many organizations at once.</a:t>
            </a:r>
          </a:p>
        </p:txBody>
      </p:sp>
      <p:sp>
        <p:nvSpPr>
          <p:cNvPr id="39" name="sh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40" name="tb"/>
          <p:cNvSpPr txBox="1"/>
          <p:nvPr/>
        </p:nvSpPr>
        <p:spPr>
          <a:xfrm>
            <a:off x="457200" y="6473952"/>
            <a:ext cx="8229600" cy="384048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9EC4E8"/>
                </a:solidFill>
                <a:latin typeface="Calibri"/>
              </a:rPr>
              <a:t>Cloud Forensics  |  Multi-Tenancy Challenge</a:t>
            </a:r>
          </a:p>
        </p:txBody>
      </p:sp>
      <p:sp>
        <p:nvSpPr>
          <p:cNvPr id="41" name="tb"/>
          <p:cNvSpPr txBox="1"/>
          <p:nvPr/>
        </p:nvSpPr>
        <p:spPr>
          <a:xfrm>
            <a:off x="8991295" y="6473952"/>
            <a:ext cx="2743200" cy="384048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 algn="r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9EC4E8"/>
                </a:solidFill>
                <a:latin typeface="Calibri"/>
              </a:rPr>
              <a:t>Komaleswari S   ·   2/5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43" name="sh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44" name="sh"/>
          <p:cNvSpPr/>
          <p:nvPr/>
        </p:nvSpPr>
        <p:spPr>
          <a:xfrm>
            <a:off x="502920" y="274320"/>
            <a:ext cx="128016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45" name="tb"/>
          <p:cNvSpPr txBox="1"/>
          <p:nvPr/>
        </p:nvSpPr>
        <p:spPr>
          <a:xfrm>
            <a:off x="777240" y="146304"/>
            <a:ext cx="9601200" cy="4114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9EC4E8"/>
                </a:solidFill>
                <a:latin typeface="Calibri"/>
              </a:rPr>
              <a:t>WHAT TO COLLECT &amp; HOW</a:t>
            </a:r>
          </a:p>
        </p:txBody>
      </p:sp>
      <p:sp>
        <p:nvSpPr>
          <p:cNvPr id="46" name="tb"/>
          <p:cNvSpPr txBox="1"/>
          <p:nvPr/>
        </p:nvSpPr>
        <p:spPr>
          <a:xfrm>
            <a:off x="777240" y="402336"/>
            <a:ext cx="9875520" cy="6400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Digital Evidence &amp; Investigation Process</a:t>
            </a:r>
          </a:p>
        </p:txBody>
      </p:sp>
      <p:sp>
        <p:nvSpPr>
          <p:cNvPr id="47" name="sh"/>
          <p:cNvSpPr/>
          <p:nvPr/>
        </p:nvSpPr>
        <p:spPr>
          <a:xfrm>
            <a:off x="11231575" y="292608"/>
            <a:ext cx="457200" cy="457200"/>
          </a:xfrm>
          <a:prstGeom prst="oval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0B2545"/>
                </a:solidFill>
                <a:latin typeface="Calibri"/>
              </a:rPr>
              <a:t>3</a:t>
            </a:r>
          </a:p>
        </p:txBody>
      </p:sp>
      <p:sp>
        <p:nvSpPr>
          <p:cNvPr id="48" name="sh"/>
          <p:cNvSpPr/>
          <p:nvPr/>
        </p:nvSpPr>
        <p:spPr>
          <a:xfrm>
            <a:off x="640080" y="141732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49" name="sh"/>
          <p:cNvSpPr/>
          <p:nvPr/>
        </p:nvSpPr>
        <p:spPr>
          <a:xfrm>
            <a:off x="640080" y="141732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50" name="tb"/>
          <p:cNvSpPr txBox="1"/>
          <p:nvPr/>
        </p:nvSpPr>
        <p:spPr>
          <a:xfrm>
            <a:off x="868680" y="1417320"/>
            <a:ext cx="4937760" cy="54864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DIGITAL EVIDENCE</a:t>
            </a:r>
          </a:p>
        </p:txBody>
      </p:sp>
      <p:sp>
        <p:nvSpPr>
          <p:cNvPr id="51" name="tb"/>
          <p:cNvSpPr txBox="1"/>
          <p:nvPr/>
        </p:nvSpPr>
        <p:spPr>
          <a:xfrm>
            <a:off x="914400" y="2148840"/>
            <a:ext cx="4846320" cy="36576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274320" indent="-274320">
              <a:spcBef>
                <a:spcPts val="3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VM images &amp; snapshots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Storage volumes &amp; object storage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Application &amp; access logs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Database records (tenant tables)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Network / flow logs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Cloud audit trails (e.g., CloudTrail)</a:t>
            </a:r>
          </a:p>
        </p:txBody>
      </p:sp>
      <p:sp>
        <p:nvSpPr>
          <p:cNvPr id="52" name="sh"/>
          <p:cNvSpPr/>
          <p:nvPr/>
        </p:nvSpPr>
        <p:spPr>
          <a:xfrm>
            <a:off x="6245352" y="141732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7F7"/>
            </a:solidFill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53" name="sh"/>
          <p:cNvSpPr/>
          <p:nvPr/>
        </p:nvSpPr>
        <p:spPr>
          <a:xfrm>
            <a:off x="6245352" y="141732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54" name="tb"/>
          <p:cNvSpPr txBox="1"/>
          <p:nvPr/>
        </p:nvSpPr>
        <p:spPr>
          <a:xfrm>
            <a:off x="6473952" y="1417320"/>
            <a:ext cx="4937760" cy="54864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0B2545"/>
                </a:solidFill>
                <a:latin typeface="Calibri"/>
              </a:rPr>
              <a:t>INVESTIGATION PROCESS</a:t>
            </a:r>
          </a:p>
        </p:txBody>
      </p:sp>
      <p:sp>
        <p:nvSpPr>
          <p:cNvPr id="55" name="sh"/>
          <p:cNvSpPr/>
          <p:nvPr/>
        </p:nvSpPr>
        <p:spPr>
          <a:xfrm>
            <a:off x="6492240" y="2148840"/>
            <a:ext cx="384048" cy="384048"/>
          </a:xfrm>
          <a:prstGeom prst="oval">
            <a:avLst/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6" name="tb"/>
          <p:cNvSpPr txBox="1"/>
          <p:nvPr/>
        </p:nvSpPr>
        <p:spPr>
          <a:xfrm>
            <a:off x="6995160" y="2130552"/>
            <a:ext cx="4434840" cy="45720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3A3A3A"/>
                </a:solidFill>
                <a:latin typeface="Calibri"/>
              </a:rPr>
              <a:t>Legal authorization scoped to one tenant</a:t>
            </a:r>
          </a:p>
        </p:txBody>
      </p:sp>
      <p:sp>
        <p:nvSpPr>
          <p:cNvPr id="57" name="sh"/>
          <p:cNvSpPr/>
          <p:nvPr/>
        </p:nvSpPr>
        <p:spPr>
          <a:xfrm>
            <a:off x="6492240" y="2752344"/>
            <a:ext cx="384048" cy="384048"/>
          </a:xfrm>
          <a:prstGeom prst="oval">
            <a:avLst/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8" name="tb"/>
          <p:cNvSpPr txBox="1"/>
          <p:nvPr/>
        </p:nvSpPr>
        <p:spPr>
          <a:xfrm>
            <a:off x="6995160" y="2734056"/>
            <a:ext cx="4434840" cy="45720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3A3A3A"/>
                </a:solidFill>
                <a:latin typeface="Calibri"/>
              </a:rPr>
              <a:t>Map tenant boundaries with the CSP</a:t>
            </a:r>
          </a:p>
        </p:txBody>
      </p:sp>
      <p:sp>
        <p:nvSpPr>
          <p:cNvPr id="59" name="sh"/>
          <p:cNvSpPr/>
          <p:nvPr/>
        </p:nvSpPr>
        <p:spPr>
          <a:xfrm>
            <a:off x="6492240" y="3355848"/>
            <a:ext cx="384048" cy="384048"/>
          </a:xfrm>
          <a:prstGeom prst="oval">
            <a:avLst/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b"/>
          <p:cNvSpPr txBox="1"/>
          <p:nvPr/>
        </p:nvSpPr>
        <p:spPr>
          <a:xfrm>
            <a:off x="6995160" y="3337560"/>
            <a:ext cx="4434840" cy="45720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3A3A3A"/>
                </a:solidFill>
                <a:latin typeface="Calibri"/>
              </a:rPr>
              <a:t>Targeted LOGICAL acquisition (tenant only)</a:t>
            </a:r>
          </a:p>
        </p:txBody>
      </p:sp>
      <p:sp>
        <p:nvSpPr>
          <p:cNvPr id="61" name="sh"/>
          <p:cNvSpPr/>
          <p:nvPr/>
        </p:nvSpPr>
        <p:spPr>
          <a:xfrm>
            <a:off x="6492240" y="3959352"/>
            <a:ext cx="384048" cy="384048"/>
          </a:xfrm>
          <a:prstGeom prst="oval">
            <a:avLst/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2" name="tb"/>
          <p:cNvSpPr txBox="1"/>
          <p:nvPr/>
        </p:nvSpPr>
        <p:spPr>
          <a:xfrm>
            <a:off x="6995160" y="3941064"/>
            <a:ext cx="4434840" cy="45720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3A3A3A"/>
                </a:solidFill>
                <a:latin typeface="Calibri"/>
              </a:rPr>
              <a:t>Hash &amp; isolate evidence (SHA-256)</a:t>
            </a:r>
          </a:p>
        </p:txBody>
      </p:sp>
      <p:sp>
        <p:nvSpPr>
          <p:cNvPr id="63" name="sh"/>
          <p:cNvSpPr/>
          <p:nvPr/>
        </p:nvSpPr>
        <p:spPr>
          <a:xfrm>
            <a:off x="6492240" y="4562856"/>
            <a:ext cx="384048" cy="384048"/>
          </a:xfrm>
          <a:prstGeom prst="oval">
            <a:avLst/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4" name="tb"/>
          <p:cNvSpPr txBox="1"/>
          <p:nvPr/>
        </p:nvSpPr>
        <p:spPr>
          <a:xfrm>
            <a:off x="6995160" y="4544568"/>
            <a:ext cx="4434840" cy="45720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3A3A3A"/>
                </a:solidFill>
                <a:latin typeface="Calibri"/>
              </a:rPr>
              <a:t>Verify ownership; filter out other tenants</a:t>
            </a:r>
          </a:p>
        </p:txBody>
      </p:sp>
      <p:sp>
        <p:nvSpPr>
          <p:cNvPr id="65" name="sh"/>
          <p:cNvSpPr/>
          <p:nvPr/>
        </p:nvSpPr>
        <p:spPr>
          <a:xfrm>
            <a:off x="6492240" y="5166360"/>
            <a:ext cx="384048" cy="384048"/>
          </a:xfrm>
          <a:prstGeom prst="oval">
            <a:avLst/>
          </a:prstGeom>
          <a:solidFill>
            <a:srgbClr val="13639E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6" name="tb"/>
          <p:cNvSpPr txBox="1"/>
          <p:nvPr/>
        </p:nvSpPr>
        <p:spPr>
          <a:xfrm>
            <a:off x="6995160" y="5148072"/>
            <a:ext cx="4434840" cy="45720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3A3A3A"/>
                </a:solidFill>
                <a:latin typeface="Calibri"/>
              </a:rPr>
              <a:t>Analyze &amp; maintain chain of custody</a:t>
            </a:r>
          </a:p>
        </p:txBody>
      </p:sp>
      <p:sp>
        <p:nvSpPr>
          <p:cNvPr id="67" name="sh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68" name="tb"/>
          <p:cNvSpPr txBox="1"/>
          <p:nvPr/>
        </p:nvSpPr>
        <p:spPr>
          <a:xfrm>
            <a:off x="457200" y="6473952"/>
            <a:ext cx="8229600" cy="384048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9EC4E8"/>
                </a:solidFill>
                <a:latin typeface="Calibri"/>
              </a:rPr>
              <a:t>Cloud Forensics  |  Multi-Tenancy Challenge</a:t>
            </a:r>
          </a:p>
        </p:txBody>
      </p:sp>
      <p:sp>
        <p:nvSpPr>
          <p:cNvPr id="69" name="tb"/>
          <p:cNvSpPr txBox="1"/>
          <p:nvPr/>
        </p:nvSpPr>
        <p:spPr>
          <a:xfrm>
            <a:off x="8991295" y="6473952"/>
            <a:ext cx="2743200" cy="384048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 algn="r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9EC4E8"/>
                </a:solidFill>
                <a:latin typeface="Calibri"/>
              </a:rPr>
              <a:t>Komaleswari S   ·   3/5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71" name="sh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72" name="sh"/>
          <p:cNvSpPr/>
          <p:nvPr/>
        </p:nvSpPr>
        <p:spPr>
          <a:xfrm>
            <a:off x="502920" y="274320"/>
            <a:ext cx="128016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73" name="tb"/>
          <p:cNvSpPr txBox="1"/>
          <p:nvPr/>
        </p:nvSpPr>
        <p:spPr>
          <a:xfrm>
            <a:off x="777240" y="146304"/>
            <a:ext cx="9601200" cy="4114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9EC4E8"/>
                </a:solidFill>
                <a:latin typeface="Calibri"/>
              </a:rPr>
              <a:t>THE HARD PART &amp; THE TOOLKIT</a:t>
            </a:r>
          </a:p>
        </p:txBody>
      </p:sp>
      <p:sp>
        <p:nvSpPr>
          <p:cNvPr id="74" name="tb"/>
          <p:cNvSpPr txBox="1"/>
          <p:nvPr/>
        </p:nvSpPr>
        <p:spPr>
          <a:xfrm>
            <a:off x="777240" y="402336"/>
            <a:ext cx="9875520" cy="6400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Challenges &amp; Cloud Forensic Tools</a:t>
            </a:r>
          </a:p>
        </p:txBody>
      </p:sp>
      <p:sp>
        <p:nvSpPr>
          <p:cNvPr id="75" name="sh"/>
          <p:cNvSpPr/>
          <p:nvPr/>
        </p:nvSpPr>
        <p:spPr>
          <a:xfrm>
            <a:off x="11231575" y="292608"/>
            <a:ext cx="457200" cy="457200"/>
          </a:xfrm>
          <a:prstGeom prst="oval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0B2545"/>
                </a:solidFill>
                <a:latin typeface="Calibri"/>
              </a:rPr>
              <a:t>4</a:t>
            </a:r>
          </a:p>
        </p:txBody>
      </p:sp>
      <p:sp>
        <p:nvSpPr>
          <p:cNvPr id="76" name="sh"/>
          <p:cNvSpPr/>
          <p:nvPr/>
        </p:nvSpPr>
        <p:spPr>
          <a:xfrm>
            <a:off x="640080" y="141732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77" name="sh"/>
          <p:cNvSpPr/>
          <p:nvPr/>
        </p:nvSpPr>
        <p:spPr>
          <a:xfrm>
            <a:off x="640080" y="141732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B23A48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78" name="tb"/>
          <p:cNvSpPr txBox="1"/>
          <p:nvPr/>
        </p:nvSpPr>
        <p:spPr>
          <a:xfrm>
            <a:off x="868680" y="1417320"/>
            <a:ext cx="4937760" cy="54864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KEY CHALLENGES</a:t>
            </a:r>
          </a:p>
        </p:txBody>
      </p:sp>
      <p:sp>
        <p:nvSpPr>
          <p:cNvPr id="79" name="tb"/>
          <p:cNvSpPr txBox="1"/>
          <p:nvPr/>
        </p:nvSpPr>
        <p:spPr>
          <a:xfrm>
            <a:off x="914400" y="2148840"/>
            <a:ext cx="4846320" cy="36576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274320" indent="-274320">
              <a:spcBef>
                <a:spcPts val="3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Shared resources cause data commingling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Evidence isolation is hard to prove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Privacy of the other 99 tenants (GDPR)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Weak or shared logging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Dependence on the cloud provider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Jurisdiction &amp; chain of custody</a:t>
            </a:r>
          </a:p>
        </p:txBody>
      </p:sp>
      <p:sp>
        <p:nvSpPr>
          <p:cNvPr id="80" name="sh"/>
          <p:cNvSpPr/>
          <p:nvPr/>
        </p:nvSpPr>
        <p:spPr>
          <a:xfrm>
            <a:off x="6245352" y="141732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E9F4EE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81" name="sh"/>
          <p:cNvSpPr/>
          <p:nvPr/>
        </p:nvSpPr>
        <p:spPr>
          <a:xfrm>
            <a:off x="6245352" y="141732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82" name="tb"/>
          <p:cNvSpPr txBox="1"/>
          <p:nvPr/>
        </p:nvSpPr>
        <p:spPr>
          <a:xfrm>
            <a:off x="6473952" y="1417320"/>
            <a:ext cx="4937760" cy="548640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CLOUD FORENSIC TOOLS</a:t>
            </a:r>
          </a:p>
        </p:txBody>
      </p:sp>
      <p:sp>
        <p:nvSpPr>
          <p:cNvPr id="83" name="tb"/>
          <p:cNvSpPr txBox="1"/>
          <p:nvPr/>
        </p:nvSpPr>
        <p:spPr>
          <a:xfrm>
            <a:off x="6519672" y="2148840"/>
            <a:ext cx="4846320" cy="36576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274320" indent="-274320">
              <a:spcBef>
                <a:spcPts val="3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CloudTrail / Azure Monitor / GCP Audit Logs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FTK &amp; EnCase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Magnet AXIOM Cloud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The Sleuth Kit / Autopsy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Cellebrite / Oxygen (cloud modules)</a:t>
            </a:r>
          </a:p>
          <a:p>
            <a:pPr marL="274320" indent="-274320">
              <a:spcBef>
                <a:spcPts val="600"/>
              </a:spcBef>
              <a:buFont typeface="Arial"/>
              <a:buChar char="▪"/>
            </a:pPr>
            <a:r>
              <a:rPr lang="en-US" sz="1500" b="0" dirty="0">
                <a:solidFill>
                  <a:srgbClr val="3A3A3A"/>
                </a:solidFill>
                <a:latin typeface="Calibri"/>
              </a:rPr>
              <a:t>Volatility (memory forensics)</a:t>
            </a:r>
          </a:p>
        </p:txBody>
      </p:sp>
      <p:sp>
        <p:nvSpPr>
          <p:cNvPr id="84" name="sh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85" name="tb"/>
          <p:cNvSpPr txBox="1"/>
          <p:nvPr/>
        </p:nvSpPr>
        <p:spPr>
          <a:xfrm>
            <a:off x="457200" y="6473952"/>
            <a:ext cx="8229600" cy="384048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9EC4E8"/>
                </a:solidFill>
                <a:latin typeface="Calibri"/>
              </a:rPr>
              <a:t>Cloud Forensics  |  Multi-Tenancy Challenge</a:t>
            </a:r>
          </a:p>
        </p:txBody>
      </p:sp>
      <p:sp>
        <p:nvSpPr>
          <p:cNvPr id="86" name="tb"/>
          <p:cNvSpPr txBox="1"/>
          <p:nvPr/>
        </p:nvSpPr>
        <p:spPr>
          <a:xfrm>
            <a:off x="8991295" y="6473952"/>
            <a:ext cx="2743200" cy="384048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 algn="r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9EC4E8"/>
                </a:solidFill>
                <a:latin typeface="Calibri"/>
              </a:rPr>
              <a:t>Komaleswari S   ·   4/5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88" name="sh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89" name="sh"/>
          <p:cNvSpPr/>
          <p:nvPr/>
        </p:nvSpPr>
        <p:spPr>
          <a:xfrm>
            <a:off x="502920" y="274320"/>
            <a:ext cx="128016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90" name="tb"/>
          <p:cNvSpPr txBox="1"/>
          <p:nvPr/>
        </p:nvSpPr>
        <p:spPr>
          <a:xfrm>
            <a:off x="777240" y="146304"/>
            <a:ext cx="9601200" cy="4114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9EC4E8"/>
                </a:solidFill>
                <a:latin typeface="Calibri"/>
              </a:rPr>
              <a:t>PUTTING IT TOGETHER</a:t>
            </a:r>
          </a:p>
        </p:txBody>
      </p:sp>
      <p:sp>
        <p:nvSpPr>
          <p:cNvPr id="91" name="tb"/>
          <p:cNvSpPr txBox="1"/>
          <p:nvPr/>
        </p:nvSpPr>
        <p:spPr>
          <a:xfrm>
            <a:off x="777240" y="402336"/>
            <a:ext cx="9875520" cy="64008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Investigation Flowchart &amp; Conclusion</a:t>
            </a:r>
          </a:p>
        </p:txBody>
      </p:sp>
      <p:sp>
        <p:nvSpPr>
          <p:cNvPr id="92" name="sh"/>
          <p:cNvSpPr/>
          <p:nvPr/>
        </p:nvSpPr>
        <p:spPr>
          <a:xfrm>
            <a:off x="11231575" y="292608"/>
            <a:ext cx="457200" cy="457200"/>
          </a:xfrm>
          <a:prstGeom prst="oval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0B2545"/>
                </a:solidFill>
                <a:latin typeface="Calibri"/>
              </a:rPr>
              <a:t>5</a:t>
            </a:r>
          </a:p>
        </p:txBody>
      </p:sp>
      <p:sp>
        <p:nvSpPr>
          <p:cNvPr id="93" name="sh"/>
          <p:cNvSpPr/>
          <p:nvPr/>
        </p:nvSpPr>
        <p:spPr>
          <a:xfrm>
            <a:off x="640080" y="1417320"/>
            <a:ext cx="5486400" cy="530352"/>
          </a:xfrm>
          <a:prstGeom prst="roundRect">
            <a:avLst>
              <a:gd name="adj" fmla="val 12000"/>
            </a:avLst>
          </a:prstGeom>
          <a:solidFill>
            <a:srgbClr val="13639E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94" name="sh"/>
          <p:cNvSpPr/>
          <p:nvPr/>
        </p:nvSpPr>
        <p:spPr>
          <a:xfrm>
            <a:off x="749808" y="1499616"/>
            <a:ext cx="365760" cy="365760"/>
          </a:xfrm>
          <a:prstGeom prst="oval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13639E"/>
                </a:solidFill>
                <a:latin typeface="Calibri"/>
              </a:rPr>
              <a:t>1</a:t>
            </a:r>
          </a:p>
        </p:txBody>
      </p:sp>
      <p:sp>
        <p:nvSpPr>
          <p:cNvPr id="95" name="tb"/>
          <p:cNvSpPr txBox="1"/>
          <p:nvPr/>
        </p:nvSpPr>
        <p:spPr>
          <a:xfrm>
            <a:off x="1207008" y="1417320"/>
            <a:ext cx="4800600" cy="530352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Incident: Org-A (1 of 100)</a:t>
            </a:r>
          </a:p>
        </p:txBody>
      </p:sp>
      <p:sp>
        <p:nvSpPr>
          <p:cNvPr id="96" name="sh"/>
          <p:cNvSpPr/>
          <p:nvPr/>
        </p:nvSpPr>
        <p:spPr>
          <a:xfrm>
            <a:off x="3300984.0" y="1952244"/>
            <a:ext cx="164592" cy="137160"/>
          </a:xfrm>
          <a:prstGeom prst="downArrow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97" name="sh"/>
          <p:cNvSpPr/>
          <p:nvPr/>
        </p:nvSpPr>
        <p:spPr>
          <a:xfrm>
            <a:off x="640080" y="2093976"/>
            <a:ext cx="5486400" cy="530352"/>
          </a:xfrm>
          <a:prstGeom prst="roundRect">
            <a:avLst>
              <a:gd name="adj" fmla="val 12000"/>
            </a:avLst>
          </a:prstGeom>
          <a:solidFill>
            <a:srgbClr val="1A6EA8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98" name="sh"/>
          <p:cNvSpPr/>
          <p:nvPr/>
        </p:nvSpPr>
        <p:spPr>
          <a:xfrm>
            <a:off x="749808" y="2176272"/>
            <a:ext cx="365760" cy="365760"/>
          </a:xfrm>
          <a:prstGeom prst="oval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1A6EA8"/>
                </a:solidFill>
                <a:latin typeface="Calibri"/>
              </a:rPr>
              <a:t>2</a:t>
            </a:r>
          </a:p>
        </p:txBody>
      </p:sp>
      <p:sp>
        <p:nvSpPr>
          <p:cNvPr id="99" name="tb"/>
          <p:cNvSpPr txBox="1"/>
          <p:nvPr/>
        </p:nvSpPr>
        <p:spPr>
          <a:xfrm>
            <a:off x="1207008" y="2093976"/>
            <a:ext cx="4800600" cy="530352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Legal authorization (scoped)</a:t>
            </a:r>
          </a:p>
        </p:txBody>
      </p:sp>
      <p:sp>
        <p:nvSpPr>
          <p:cNvPr id="100" name="sh"/>
          <p:cNvSpPr/>
          <p:nvPr/>
        </p:nvSpPr>
        <p:spPr>
          <a:xfrm>
            <a:off x="3300984.0" y="2628900"/>
            <a:ext cx="164592" cy="137160"/>
          </a:xfrm>
          <a:prstGeom prst="downArrow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01" name="sh"/>
          <p:cNvSpPr/>
          <p:nvPr/>
        </p:nvSpPr>
        <p:spPr>
          <a:xfrm>
            <a:off x="640080" y="2770632"/>
            <a:ext cx="5486400" cy="530352"/>
          </a:xfrm>
          <a:prstGeom prst="roundRect">
            <a:avLst>
              <a:gd name="adj" fmla="val 12000"/>
            </a:avLst>
          </a:prstGeom>
          <a:solidFill>
            <a:srgbClr val="2278B0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102" name="sh"/>
          <p:cNvSpPr/>
          <p:nvPr/>
        </p:nvSpPr>
        <p:spPr>
          <a:xfrm>
            <a:off x="749808" y="2852928"/>
            <a:ext cx="365760" cy="365760"/>
          </a:xfrm>
          <a:prstGeom prst="oval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2278B0"/>
                </a:solidFill>
                <a:latin typeface="Calibri"/>
              </a:rPr>
              <a:t>3</a:t>
            </a:r>
          </a:p>
        </p:txBody>
      </p:sp>
      <p:sp>
        <p:nvSpPr>
          <p:cNvPr id="103" name="tb"/>
          <p:cNvSpPr txBox="1"/>
          <p:nvPr/>
        </p:nvSpPr>
        <p:spPr>
          <a:xfrm>
            <a:off x="1207008" y="2770632"/>
            <a:ext cx="4800600" cy="530352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Map tenant boundaries w/ CSP</a:t>
            </a:r>
          </a:p>
        </p:txBody>
      </p:sp>
      <p:sp>
        <p:nvSpPr>
          <p:cNvPr id="104" name="sh"/>
          <p:cNvSpPr/>
          <p:nvPr/>
        </p:nvSpPr>
        <p:spPr>
          <a:xfrm>
            <a:off x="3300984.0" y="3305556"/>
            <a:ext cx="164592" cy="137160"/>
          </a:xfrm>
          <a:prstGeom prst="downArrow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05" name="sh"/>
          <p:cNvSpPr/>
          <p:nvPr/>
        </p:nvSpPr>
        <p:spPr>
          <a:xfrm>
            <a:off x="640080" y="3447288"/>
            <a:ext cx="5486400" cy="530352"/>
          </a:xfrm>
          <a:prstGeom prst="roundRect">
            <a:avLst>
              <a:gd name="adj" fmla="val 12000"/>
            </a:avLst>
          </a:prstGeom>
          <a:solidFill>
            <a:srgbClr val="2E82B8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106" name="sh"/>
          <p:cNvSpPr/>
          <p:nvPr/>
        </p:nvSpPr>
        <p:spPr>
          <a:xfrm>
            <a:off x="749808" y="3529584"/>
            <a:ext cx="365760" cy="365760"/>
          </a:xfrm>
          <a:prstGeom prst="oval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2E82B8"/>
                </a:solidFill>
                <a:latin typeface="Calibri"/>
              </a:rPr>
              <a:t>4</a:t>
            </a:r>
          </a:p>
        </p:txBody>
      </p:sp>
      <p:sp>
        <p:nvSpPr>
          <p:cNvPr id="107" name="tb"/>
          <p:cNvSpPr txBox="1"/>
          <p:nvPr/>
        </p:nvSpPr>
        <p:spPr>
          <a:xfrm>
            <a:off x="1207008" y="3447288"/>
            <a:ext cx="4800600" cy="530352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Targeted logical acquisition</a:t>
            </a:r>
          </a:p>
        </p:txBody>
      </p:sp>
      <p:sp>
        <p:nvSpPr>
          <p:cNvPr id="108" name="sh"/>
          <p:cNvSpPr/>
          <p:nvPr/>
        </p:nvSpPr>
        <p:spPr>
          <a:xfrm>
            <a:off x="3300984.0" y="3982212"/>
            <a:ext cx="164592" cy="137160"/>
          </a:xfrm>
          <a:prstGeom prst="downArrow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09" name="sh"/>
          <p:cNvSpPr/>
          <p:nvPr/>
        </p:nvSpPr>
        <p:spPr>
          <a:xfrm>
            <a:off x="640080" y="4123944"/>
            <a:ext cx="5486400" cy="530352"/>
          </a:xfrm>
          <a:prstGeom prst="roundRect">
            <a:avLst>
              <a:gd name="adj" fmla="val 12000"/>
            </a:avLst>
          </a:prstGeom>
          <a:solidFill>
            <a:srgbClr val="3A8CBE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110" name="sh"/>
          <p:cNvSpPr/>
          <p:nvPr/>
        </p:nvSpPr>
        <p:spPr>
          <a:xfrm>
            <a:off x="749808" y="4206240"/>
            <a:ext cx="365760" cy="365760"/>
          </a:xfrm>
          <a:prstGeom prst="oval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3A8CBE"/>
                </a:solidFill>
                <a:latin typeface="Calibri"/>
              </a:rPr>
              <a:t>5</a:t>
            </a:r>
          </a:p>
        </p:txBody>
      </p:sp>
      <p:sp>
        <p:nvSpPr>
          <p:cNvPr id="111" name="tb"/>
          <p:cNvSpPr txBox="1"/>
          <p:nvPr/>
        </p:nvSpPr>
        <p:spPr>
          <a:xfrm>
            <a:off x="1207008" y="4123944"/>
            <a:ext cx="4800600" cy="530352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Hash + isolate; verify owner</a:t>
            </a:r>
          </a:p>
        </p:txBody>
      </p:sp>
      <p:sp>
        <p:nvSpPr>
          <p:cNvPr id="112" name="sh"/>
          <p:cNvSpPr/>
          <p:nvPr/>
        </p:nvSpPr>
        <p:spPr>
          <a:xfrm>
            <a:off x="3300984.0" y="4658868"/>
            <a:ext cx="164592" cy="137160"/>
          </a:xfrm>
          <a:prstGeom prst="downArrow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13" name="sh"/>
          <p:cNvSpPr/>
          <p:nvPr/>
        </p:nvSpPr>
        <p:spPr>
          <a:xfrm>
            <a:off x="640080" y="4800600"/>
            <a:ext cx="5486400" cy="530352"/>
          </a:xfrm>
          <a:prstGeom prst="roundRect">
            <a:avLst>
              <a:gd name="adj" fmla="val 12000"/>
            </a:avLst>
          </a:prstGeom>
          <a:solidFill>
            <a:srgbClr val="4796C4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114" name="sh"/>
          <p:cNvSpPr/>
          <p:nvPr/>
        </p:nvSpPr>
        <p:spPr>
          <a:xfrm>
            <a:off x="749808" y="4882896"/>
            <a:ext cx="365760" cy="365760"/>
          </a:xfrm>
          <a:prstGeom prst="oval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4796C4"/>
                </a:solidFill>
                <a:latin typeface="Calibri"/>
              </a:rPr>
              <a:t>6</a:t>
            </a:r>
          </a:p>
        </p:txBody>
      </p:sp>
      <p:sp>
        <p:nvSpPr>
          <p:cNvPr id="115" name="tb"/>
          <p:cNvSpPr txBox="1"/>
          <p:nvPr/>
        </p:nvSpPr>
        <p:spPr>
          <a:xfrm>
            <a:off x="1207008" y="4800600"/>
            <a:ext cx="4800600" cy="530352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Filter out other tenants</a:t>
            </a:r>
          </a:p>
        </p:txBody>
      </p:sp>
      <p:sp>
        <p:nvSpPr>
          <p:cNvPr id="116" name="sh"/>
          <p:cNvSpPr/>
          <p:nvPr/>
        </p:nvSpPr>
        <p:spPr>
          <a:xfrm>
            <a:off x="3300984.0" y="5335524"/>
            <a:ext cx="164592" cy="137160"/>
          </a:xfrm>
          <a:prstGeom prst="downArrow">
            <a:avLst/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17" name="sh"/>
          <p:cNvSpPr/>
          <p:nvPr/>
        </p:nvSpPr>
        <p:spPr>
          <a:xfrm>
            <a:off x="640080" y="5477256"/>
            <a:ext cx="5486400" cy="530352"/>
          </a:xfrm>
          <a:prstGeom prst="roundRect">
            <a:avLst>
              <a:gd name="adj" fmla="val 12000"/>
            </a:avLst>
          </a:prstGeom>
          <a:solidFill>
            <a:srgbClr val="54A0CA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118" name="sh"/>
          <p:cNvSpPr/>
          <p:nvPr/>
        </p:nvSpPr>
        <p:spPr>
          <a:xfrm>
            <a:off x="749808" y="5559552"/>
            <a:ext cx="365760" cy="365760"/>
          </a:xfrm>
          <a:prstGeom prst="oval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54A0CA"/>
                </a:solidFill>
                <a:latin typeface="Calibri"/>
              </a:rPr>
              <a:t>7</a:t>
            </a:r>
          </a:p>
        </p:txBody>
      </p:sp>
      <p:sp>
        <p:nvSpPr>
          <p:cNvPr id="119" name="tb"/>
          <p:cNvSpPr txBox="1"/>
          <p:nvPr/>
        </p:nvSpPr>
        <p:spPr>
          <a:xfrm>
            <a:off x="1207008" y="5477256"/>
            <a:ext cx="4800600" cy="530352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Analyze &amp; court-ready report</a:t>
            </a:r>
          </a:p>
        </p:txBody>
      </p:sp>
      <p:sp>
        <p:nvSpPr>
          <p:cNvPr id="120" name="sh"/>
          <p:cNvSpPr/>
          <p:nvPr/>
        </p:nvSpPr>
        <p:spPr>
          <a:xfrm>
            <a:off x="6400800" y="141732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>
            <a:noFill/>
          </a:ln>
          <a:effectLst>
            <a:outerShdw blurRad="60000" dist="30000" dir="5400000" rotWithShape="0">
              <a:srgbClr val="000000">
                <a:alpha val="22000"/>
              </a:srgbClr>
            </a:outerShdw>
          </a:effectLst>
        </p:spPr>
        <p:txBody>
          <a:bodyPr anchor="ctr" wrap="square" lIns="72000" tIns="36000" rIns="72000" bIns="36000"/>
          <a:lstStyle/>
          <a:p/>
        </p:txBody>
      </p:sp>
      <p:sp>
        <p:nvSpPr>
          <p:cNvPr id="121" name="sh"/>
          <p:cNvSpPr/>
          <p:nvPr/>
        </p:nvSpPr>
        <p:spPr>
          <a:xfrm>
            <a:off x="6400800" y="1417320"/>
            <a:ext cx="5120640" cy="566928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>
            <a:noFill/>
          </a:ln>
        </p:spPr>
        <p:txBody>
          <a:bodyPr anchor="ctr" wrap="square" lIns="72000" tIns="36000" rIns="72000" bIns="36000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0B2545"/>
                </a:solidFill>
                <a:latin typeface="Calibri"/>
              </a:rPr>
              <a:t>CONCLUSION</a:t>
            </a:r>
          </a:p>
        </p:txBody>
      </p:sp>
      <p:sp>
        <p:nvSpPr>
          <p:cNvPr id="122" name="tb"/>
          <p:cNvSpPr txBox="1"/>
          <p:nvPr/>
        </p:nvSpPr>
        <p:spPr>
          <a:xfrm>
            <a:off x="6675120" y="2240280"/>
            <a:ext cx="4617720" cy="3657600"/>
          </a:xfrm>
          <a:prstGeom prst="rect">
            <a:avLst/>
          </a:prstGeom>
        </p:spPr>
        <p:txBody>
          <a:bodyPr wrap="square" lIns="45720" tIns="27432" rIns="45720" bIns="27432" anchor="t">
            <a:normAutofit/>
          </a:bodyPr>
          <a:lstStyle/>
          <a:p>
            <a:pPr marL="274320" indent="-274320">
              <a:spcBef>
                <a:spcPts val="300"/>
              </a:spcBef>
              <a:buFont typeface="Arial"/>
              <a:buChar char="▪"/>
            </a:pPr>
            <a:r>
              <a:rPr lang="en-US" sz="1500" b="0" dirty="0">
                <a:solidFill>
                  <a:srgbClr val="E5EEF8"/>
                </a:solidFill>
                <a:latin typeface="Calibri"/>
              </a:rPr>
              <a:t>Multi-tenancy is one of the hardest problems in cloud forensics.</a:t>
            </a:r>
          </a:p>
          <a:p>
            <a:pPr marL="274320" indent="-274320">
              <a:spcBef>
                <a:spcPts val="700"/>
              </a:spcBef>
              <a:buFont typeface="Arial"/>
              <a:buChar char="▪"/>
            </a:pPr>
            <a:r>
              <a:rPr lang="en-US" sz="1500" b="0" dirty="0">
                <a:solidFill>
                  <a:srgbClr val="E5EEF8"/>
                </a:solidFill>
                <a:latin typeface="Calibri"/>
              </a:rPr>
              <a:t>Physical seizure is impossible without breaching other tenants' privacy.</a:t>
            </a:r>
          </a:p>
          <a:p>
            <a:pPr marL="274320" indent="-274320">
              <a:spcBef>
                <a:spcPts val="700"/>
              </a:spcBef>
              <a:buFont typeface="Arial"/>
              <a:buChar char="▪"/>
            </a:pPr>
            <a:r>
              <a:rPr lang="en-US" sz="1500" b="1" dirty="0">
                <a:solidFill>
                  <a:srgbClr val="FFD79A"/>
                </a:solidFill>
                <a:latin typeface="Calibri"/>
              </a:rPr>
              <a:t>Shift from physical to targeted, tenant-scoped LOGICAL acquisition.</a:t>
            </a:r>
          </a:p>
          <a:p>
            <a:pPr marL="274320" indent="-274320">
              <a:spcBef>
                <a:spcPts val="700"/>
              </a:spcBef>
              <a:buFont typeface="Arial"/>
              <a:buChar char="▪"/>
            </a:pPr>
            <a:r>
              <a:rPr lang="en-US" sz="1500" b="0" dirty="0">
                <a:solidFill>
                  <a:srgbClr val="E5EEF8"/>
                </a:solidFill>
                <a:latin typeface="Calibri"/>
              </a:rPr>
              <a:t>Success depends on CSP cooperation, strong per-tenant logging and cloud forensic tools.</a:t>
            </a:r>
          </a:p>
        </p:txBody>
      </p:sp>
      <p:sp>
        <p:nvSpPr>
          <p:cNvPr id="123" name="sh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="ctr" wrap="square" lIns="72000" tIns="36000" rIns="72000" bIns="36000"/>
          <a:lstStyle/>
          <a:p/>
        </p:txBody>
      </p:sp>
      <p:sp>
        <p:nvSpPr>
          <p:cNvPr id="124" name="tb"/>
          <p:cNvSpPr txBox="1"/>
          <p:nvPr/>
        </p:nvSpPr>
        <p:spPr>
          <a:xfrm>
            <a:off x="457200" y="6473952"/>
            <a:ext cx="8229600" cy="384048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9EC4E8"/>
                </a:solidFill>
                <a:latin typeface="Calibri"/>
              </a:rPr>
              <a:t>Cloud Forensics  |  Multi-Tenancy Challenge</a:t>
            </a:r>
          </a:p>
        </p:txBody>
      </p:sp>
      <p:sp>
        <p:nvSpPr>
          <p:cNvPr id="125" name="tb"/>
          <p:cNvSpPr txBox="1"/>
          <p:nvPr/>
        </p:nvSpPr>
        <p:spPr>
          <a:xfrm>
            <a:off x="8991295" y="6473952"/>
            <a:ext cx="2743200" cy="384048"/>
          </a:xfrm>
          <a:prstGeom prst="rect">
            <a:avLst/>
          </a:prstGeom>
        </p:spPr>
        <p:txBody>
          <a:bodyPr wrap="square" lIns="45720" tIns="27432" rIns="45720" bIns="27432" anchor="ctr">
            <a:normAutofit/>
          </a:bodyPr>
          <a:lstStyle/>
          <a:p>
            <a:pPr marL="0" indent="0" algn="r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9EC4E8"/>
                </a:solidFill>
                <a:latin typeface="Calibri"/>
              </a:rPr>
              <a:t>Komaleswari S   ·   5/5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B2545"/>
      </a:dk2>
      <a:lt2>
        <a:srgbClr val="EAF2FB"/>
      </a:lt2>
      <a:accent1>
        <a:srgbClr val="13639E"/>
      </a:accent1>
      <a:accent2>
        <a:srgbClr val="E8A33D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