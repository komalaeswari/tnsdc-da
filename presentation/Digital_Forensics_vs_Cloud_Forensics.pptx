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S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</p:sldIdLst>
  <p:sldSz cx="12191695" cy="6858000"/>
  <p:notesSz cx="6858000" cy="1219169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SM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PP" Type="http://schemas.openxmlformats.org/officeDocument/2006/relationships/presProps" Target="presProp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SM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L1" Type="http://schemas.openxmlformats.org/officeDocument/2006/relationships/slideLayout" Target="../slideLayouts/slideLayout1.xml"/><Relationship Id="rIdTh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L1"/>
  </p:sldLayoutIdLst>
</p:sldMaster>
</file>

<file path=ppt/slides/_rels/slide1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7680960" y="-2011680"/>
            <a:ext cx="6400800" cy="6400800"/>
          </a:xfrm>
          <a:prstGeom prst="ellipse">
            <a:avLst/>
          </a:prstGeom>
          <a:solidFill>
            <a:srgbClr val="2E9BFF">
              <a:alpha val="11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2011680" y="3474720"/>
            <a:ext cx="5120640" cy="5120640"/>
          </a:xfrm>
          <a:prstGeom prst="ellipse">
            <a:avLst/>
          </a:prstGeom>
          <a:solidFill>
            <a:srgbClr val="24E0D8">
              <a:alpha val="9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o237"/>
          <p:cNvSpPr/>
          <p:nvPr/>
        </p:nvSpPr>
        <p:spPr>
          <a:xfrm>
            <a:off x="11475720" y="914400"/>
            <a:ext cx="164592" cy="164592"/>
          </a:xfrm>
          <a:prstGeom prst="ellipse">
            <a:avLst/>
          </a:prstGeom>
          <a:solidFill>
            <a:srgbClr val="24E0D8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8" name="o238"/>
          <p:cNvSpPr/>
          <p:nvPr/>
        </p:nvSpPr>
        <p:spPr>
          <a:xfrm>
            <a:off x="11475720" y="1874519"/>
            <a:ext cx="109728" cy="109728"/>
          </a:xfrm>
          <a:prstGeom prst="ellipse">
            <a:avLst/>
          </a:prstGeom>
          <a:solidFill>
            <a:srgbClr val="2E9BFF">
              <a:alpha val="6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9" name="o239"/>
          <p:cNvSpPr/>
          <p:nvPr/>
        </p:nvSpPr>
        <p:spPr>
          <a:xfrm>
            <a:off x="11475720" y="2926080"/>
            <a:ext cx="201168" cy="201168"/>
          </a:xfrm>
          <a:prstGeom prst="ellipse">
            <a:avLst/>
          </a:prstGeom>
          <a:solidFill>
            <a:srgbClr val="24E0D8">
              <a:alpha val="5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0" name="o240"/>
          <p:cNvSpPr/>
          <p:nvPr/>
        </p:nvSpPr>
        <p:spPr>
          <a:xfrm>
            <a:off x="11475720" y="4023360"/>
            <a:ext cx="109728" cy="109728"/>
          </a:xfrm>
          <a:prstGeom prst="ellipse">
            <a:avLst/>
          </a:prstGeom>
          <a:solidFill>
            <a:srgbClr val="8A63FF">
              <a:alpha val="5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1" name="o241"/>
          <p:cNvSpPr/>
          <p:nvPr/>
        </p:nvSpPr>
        <p:spPr>
          <a:xfrm>
            <a:off x="9180576" y="1408175"/>
            <a:ext cx="1298448" cy="129844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42" name="o242"/>
          <p:cNvSpPr/>
          <p:nvPr/>
        </p:nvSpPr>
        <p:spPr>
          <a:xfrm>
            <a:off x="9226296" y="1453895"/>
            <a:ext cx="1207008" cy="120700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43" name="ff243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2000" y="16000"/>
                </a:moveTo>
                <a:lnTo>
                  <a:pt x="88000" y="16000"/>
                </a:lnTo>
                <a:lnTo>
                  <a:pt x="88000" y="62000"/>
                </a:lnTo>
                <a:lnTo>
                  <a:pt x="12000" y="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4" name="ff244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000" y="22000"/>
                </a:moveTo>
                <a:lnTo>
                  <a:pt x="82000" y="22000"/>
                </a:lnTo>
                <a:lnTo>
                  <a:pt x="82000" y="56000"/>
                </a:lnTo>
                <a:lnTo>
                  <a:pt x="18000" y="56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45" name="ff245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2000" y="62000"/>
                </a:moveTo>
                <a:lnTo>
                  <a:pt x="58000" y="62000"/>
                </a:lnTo>
                <a:lnTo>
                  <a:pt x="62000" y="78000"/>
                </a:lnTo>
                <a:lnTo>
                  <a:pt x="38000" y="7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6" name="ff246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0000" y="78000"/>
                </a:moveTo>
                <a:lnTo>
                  <a:pt x="70000" y="78000"/>
                </a:lnTo>
                <a:lnTo>
                  <a:pt x="70000" y="86000"/>
                </a:lnTo>
                <a:lnTo>
                  <a:pt x="3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7" name="ff247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28000"/>
                </a:moveTo>
                <a:lnTo>
                  <a:pt x="64000" y="28000"/>
                </a:lnTo>
                <a:lnTo>
                  <a:pt x="64000" y="33000"/>
                </a:lnTo>
                <a:lnTo>
                  <a:pt x="24000" y="33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8" name="ff248"/>
          <p:cNvSpPr/>
          <p:nvPr/>
        </p:nvSpPr>
        <p:spPr>
          <a:xfrm>
            <a:off x="9515977" y="174357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38000"/>
                </a:moveTo>
                <a:lnTo>
                  <a:pt x="52000" y="38000"/>
                </a:lnTo>
                <a:lnTo>
                  <a:pt x="52000" y="42000"/>
                </a:lnTo>
                <a:lnTo>
                  <a:pt x="24000" y="4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9" name="o249"/>
          <p:cNvSpPr/>
          <p:nvPr/>
        </p:nvSpPr>
        <p:spPr>
          <a:xfrm>
            <a:off x="10277855" y="2231136"/>
            <a:ext cx="1298448" cy="129844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0" name="o250"/>
          <p:cNvSpPr/>
          <p:nvPr/>
        </p:nvSpPr>
        <p:spPr>
          <a:xfrm>
            <a:off x="10323576" y="2276856"/>
            <a:ext cx="1207008" cy="120700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1" name="ff251"/>
          <p:cNvSpPr/>
          <p:nvPr/>
        </p:nvSpPr>
        <p:spPr>
          <a:xfrm>
            <a:off x="10613257" y="2566537"/>
            <a:ext cx="627644" cy="6276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72000"/>
                </a:moveTo>
                <a:cubicBezTo>
                  <a:pt x="12000" y="72000"/>
                  <a:pt x="10000" y="52000"/>
                  <a:pt x="28000" y="50000"/>
                </a:cubicBezTo>
                <a:cubicBezTo>
                  <a:pt x="28000" y="30000"/>
                  <a:pt x="58000" y="26000"/>
                  <a:pt x="62000" y="46000"/>
                </a:cubicBezTo>
                <a:cubicBezTo>
                  <a:pt x="84000" y="42000"/>
                  <a:pt x="92000" y="70000"/>
                  <a:pt x="74000" y="72000"/>
                </a:cubicBezTo>
                <a:lnTo>
                  <a:pt x="26000" y="7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2" name="o252"/>
          <p:cNvSpPr/>
          <p:nvPr/>
        </p:nvSpPr>
        <p:spPr>
          <a:xfrm>
            <a:off x="10314432" y="3639312"/>
            <a:ext cx="512064" cy="51206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3A1E7A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3" name="o253"/>
          <p:cNvSpPr/>
          <p:nvPr/>
        </p:nvSpPr>
        <p:spPr>
          <a:xfrm>
            <a:off x="10451957" y="3776837"/>
            <a:ext cx="151424" cy="151424"/>
          </a:xfrm>
          <a:prstGeom prst="ellipse">
            <a:avLst/>
          </a:prstGeom>
          <a:noFill/>
          <a:ln w="43180" cap="rnd">
            <a:solidFill>
              <a:srgbClr val="FFFFFF"/>
            </a:solidFill>
          </a:ln>
        </p:spPr>
        <p:txBody>
          <a:bodyPr/>
          <a:p/>
        </p:txBody>
      </p:sp>
      <p:cxnSp>
        <p:nvCxnSpPr>
          <p:cNvPr id="254" name="l254"/>
          <p:cNvCxnSpPr/>
          <p:nvPr/>
        </p:nvCxnSpPr>
        <p:spPr>
          <a:xfrm>
            <a:off x="10590215" y="3915095"/>
            <a:ext cx="98755" cy="98755"/>
          </a:xfrm>
          <a:prstGeom prst="line">
            <a:avLst/>
          </a:prstGeom>
          <a:ln w="45720" cap="rnd">
            <a:solidFill>
              <a:srgbClr val="FFFFFF"/>
            </a:solidFill>
          </a:ln>
        </p:spPr>
      </p:cxnSp>
      <p:sp>
        <p:nvSpPr>
          <p:cNvPr id="255" name="r255"/>
          <p:cNvSpPr/>
          <p:nvPr/>
        </p:nvSpPr>
        <p:spPr>
          <a:xfrm>
            <a:off x="566928" y="1444752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56" name="t256"/>
          <p:cNvSpPr txBox="1"/>
          <p:nvPr/>
        </p:nvSpPr>
        <p:spPr>
          <a:xfrm>
            <a:off x="969264" y="1353312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M.SC. INFORMATION TECHNOLOGY  •  FORENSIC INVESTIGATION</a:t>
            </a:r>
          </a:p>
        </p:txBody>
      </p:sp>
      <p:sp>
        <p:nvSpPr>
          <p:cNvPr id="257" name="t257"/>
          <p:cNvSpPr txBox="1"/>
          <p:nvPr/>
        </p:nvSpPr>
        <p:spPr>
          <a:xfrm>
            <a:off x="566928" y="1847088"/>
            <a:ext cx="8412480" cy="9144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5000" b="1" dirty="0">
                <a:solidFill>
                  <a:srgbClr val="FFFFFF"/>
                </a:solidFill>
                <a:latin typeface="Poppins"/>
                <a:cs typeface="Poppins"/>
              </a:rPr>
              <a:t>Digital Forensics</a:t>
            </a:r>
          </a:p>
        </p:txBody>
      </p:sp>
      <p:sp>
        <p:nvSpPr>
          <p:cNvPr id="258" name="t258"/>
          <p:cNvSpPr txBox="1"/>
          <p:nvPr/>
        </p:nvSpPr>
        <p:spPr>
          <a:xfrm>
            <a:off x="566928" y="2670048"/>
            <a:ext cx="8412480" cy="9144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5000" b="1" dirty="0">
                <a:solidFill>
                  <a:srgbClr val="24E0D8"/>
                </a:solidFill>
                <a:latin typeface="Poppins"/>
                <a:cs typeface="Poppins"/>
              </a:rPr>
              <a:t>vs </a:t>
            </a:r>
            <a:r>
              <a:rPr lang="en-US" sz="5000" b="1" dirty="0">
                <a:solidFill>
                  <a:srgbClr val="24E0D8"/>
                </a:solidFill>
                <a:latin typeface="Poppins"/>
                <a:cs typeface="Poppins"/>
              </a:rPr>
              <a:t>Cloud Forensics</a:t>
            </a:r>
          </a:p>
        </p:txBody>
      </p:sp>
      <p:sp>
        <p:nvSpPr>
          <p:cNvPr id="259" name="r259"/>
          <p:cNvSpPr/>
          <p:nvPr/>
        </p:nvSpPr>
        <p:spPr>
          <a:xfrm>
            <a:off x="566928" y="3584448"/>
            <a:ext cx="2194560" cy="54864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60" name="t260"/>
          <p:cNvSpPr txBox="1"/>
          <p:nvPr/>
        </p:nvSpPr>
        <p:spPr>
          <a:xfrm>
            <a:off x="566928" y="3785615"/>
            <a:ext cx="7680960" cy="77724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700" dirty="0">
                <a:solidFill>
                  <a:srgbClr val="E7F0FA"/>
                </a:solidFill>
                <a:latin typeface="Segoe UI"/>
                <a:cs typeface="Segoe UI"/>
              </a:rPr>
              <a:t>A Comparative Investigation of a Traditional Desktop Intrusion and a Cloud-Based Application Compromise</a:t>
            </a:r>
          </a:p>
        </p:txBody>
      </p:sp>
      <p:sp>
        <p:nvSpPr>
          <p:cNvPr id="261" name="r261"/>
          <p:cNvSpPr/>
          <p:nvPr/>
        </p:nvSpPr>
        <p:spPr>
          <a:xfrm>
            <a:off x="566928" y="5029200"/>
            <a:ext cx="3529584" cy="969264"/>
          </a:xfrm>
          <a:prstGeom prst="roundRect">
            <a:avLst>
              <a:gd name="adj" fmla="val 9000"/>
            </a:avLst>
          </a:prstGeom>
          <a:solidFill>
            <a:srgbClr val="0E2038">
              <a:alpha val="90000"/>
            </a:srgbClr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2" name="r262"/>
          <p:cNvSpPr/>
          <p:nvPr/>
        </p:nvSpPr>
        <p:spPr>
          <a:xfrm>
            <a:off x="566928" y="5029200"/>
            <a:ext cx="54864" cy="969264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63" name="t263"/>
          <p:cNvSpPr txBox="1"/>
          <p:nvPr/>
        </p:nvSpPr>
        <p:spPr>
          <a:xfrm>
            <a:off x="822960" y="5193792"/>
            <a:ext cx="3127248" cy="25603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b="1" spc="200" dirty="0">
                <a:solidFill>
                  <a:srgbClr val="24E0D8"/>
                </a:solidFill>
                <a:latin typeface="Segoe UI"/>
                <a:cs typeface="Segoe UI"/>
              </a:rPr>
              <a:t>PRESENTED BY</a:t>
            </a:r>
          </a:p>
        </p:txBody>
      </p:sp>
      <p:sp>
        <p:nvSpPr>
          <p:cNvPr id="264" name="t264"/>
          <p:cNvSpPr txBox="1"/>
          <p:nvPr/>
        </p:nvSpPr>
        <p:spPr>
          <a:xfrm>
            <a:off x="822960" y="5486400"/>
            <a:ext cx="3127248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/>
                <a:cs typeface="Segoe UI"/>
              </a:rPr>
              <a:t>Afiya Shahin S</a:t>
            </a:r>
          </a:p>
        </p:txBody>
      </p:sp>
      <p:sp>
        <p:nvSpPr>
          <p:cNvPr id="265" name="r265"/>
          <p:cNvSpPr/>
          <p:nvPr/>
        </p:nvSpPr>
        <p:spPr>
          <a:xfrm>
            <a:off x="4297680" y="5029200"/>
            <a:ext cx="3529584" cy="969264"/>
          </a:xfrm>
          <a:prstGeom prst="roundRect">
            <a:avLst>
              <a:gd name="adj" fmla="val 9000"/>
            </a:avLst>
          </a:prstGeom>
          <a:solidFill>
            <a:srgbClr val="0E2038">
              <a:alpha val="90000"/>
            </a:srgbClr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6" name="r266"/>
          <p:cNvSpPr/>
          <p:nvPr/>
        </p:nvSpPr>
        <p:spPr>
          <a:xfrm>
            <a:off x="4297680" y="5029200"/>
            <a:ext cx="54864" cy="969264"/>
          </a:xfrm>
          <a:prstGeom prst="rect">
            <a:avLst/>
          </a:prstGeom>
          <a:solidFill>
            <a:srgbClr val="7BC0FF"/>
          </a:solidFill>
          <a:ln>
            <a:noFill/>
          </a:ln>
        </p:spPr>
        <p:txBody>
          <a:bodyPr/>
          <a:p/>
        </p:txBody>
      </p:sp>
      <p:sp>
        <p:nvSpPr>
          <p:cNvPr id="267" name="t267"/>
          <p:cNvSpPr txBox="1"/>
          <p:nvPr/>
        </p:nvSpPr>
        <p:spPr>
          <a:xfrm>
            <a:off x="4553712" y="5193792"/>
            <a:ext cx="3127248" cy="25603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b="1" spc="200" dirty="0">
                <a:solidFill>
                  <a:srgbClr val="7BC0FF"/>
                </a:solidFill>
                <a:latin typeface="Segoe UI"/>
                <a:cs typeface="Segoe UI"/>
              </a:rPr>
              <a:t>PROGRAMME</a:t>
            </a:r>
          </a:p>
        </p:txBody>
      </p:sp>
      <p:sp>
        <p:nvSpPr>
          <p:cNvPr id="268" name="t268"/>
          <p:cNvSpPr txBox="1"/>
          <p:nvPr/>
        </p:nvSpPr>
        <p:spPr>
          <a:xfrm>
            <a:off x="4553712" y="5486400"/>
            <a:ext cx="3127248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/>
                <a:cs typeface="Segoe UI"/>
              </a:rPr>
              <a:t>II M.Sc. Information Technology</a:t>
            </a:r>
          </a:p>
        </p:txBody>
      </p:sp>
      <p:sp>
        <p:nvSpPr>
          <p:cNvPr id="269" name="r269"/>
          <p:cNvSpPr/>
          <p:nvPr/>
        </p:nvSpPr>
        <p:spPr>
          <a:xfrm>
            <a:off x="8028432" y="5029200"/>
            <a:ext cx="3529584" cy="969264"/>
          </a:xfrm>
          <a:prstGeom prst="roundRect">
            <a:avLst>
              <a:gd name="adj" fmla="val 9000"/>
            </a:avLst>
          </a:prstGeom>
          <a:solidFill>
            <a:srgbClr val="0E2038">
              <a:alpha val="90000"/>
            </a:srgbClr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0" name="r270"/>
          <p:cNvSpPr/>
          <p:nvPr/>
        </p:nvSpPr>
        <p:spPr>
          <a:xfrm>
            <a:off x="8028432" y="5029200"/>
            <a:ext cx="54864" cy="969264"/>
          </a:xfrm>
          <a:prstGeom prst="rect">
            <a:avLst/>
          </a:prstGeom>
          <a:solidFill>
            <a:srgbClr val="5FF3EC"/>
          </a:solidFill>
          <a:ln>
            <a:noFill/>
          </a:ln>
        </p:spPr>
        <p:txBody>
          <a:bodyPr/>
          <a:p/>
        </p:txBody>
      </p:sp>
      <p:sp>
        <p:nvSpPr>
          <p:cNvPr id="271" name="t271"/>
          <p:cNvSpPr txBox="1"/>
          <p:nvPr/>
        </p:nvSpPr>
        <p:spPr>
          <a:xfrm>
            <a:off x="8284464" y="5193792"/>
            <a:ext cx="3127248" cy="256032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b="1" spc="200" dirty="0">
                <a:solidFill>
                  <a:srgbClr val="5FF3EC"/>
                </a:solidFill>
                <a:latin typeface="Segoe UI"/>
                <a:cs typeface="Segoe UI"/>
              </a:rPr>
              <a:t>COURSE</a:t>
            </a:r>
          </a:p>
        </p:txBody>
      </p:sp>
      <p:sp>
        <p:nvSpPr>
          <p:cNvPr id="272" name="t272"/>
          <p:cNvSpPr txBox="1"/>
          <p:nvPr/>
        </p:nvSpPr>
        <p:spPr>
          <a:xfrm>
            <a:off x="8284464" y="5486400"/>
            <a:ext cx="3127248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/>
                <a:cs typeface="Segoe UI"/>
              </a:rPr>
              <a:t>Cloud Computing &amp; Digital Forensics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TWO INCIDENTS · ONE COMPANY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  <a:cs typeface="Poppins"/>
              </a:rPr>
              <a:t>The Case Scenario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02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566928" y="1645920"/>
            <a:ext cx="11057839" cy="5029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9DB4CC"/>
                </a:solidFill>
                <a:latin typeface="Segoe UI"/>
                <a:cs typeface="Segoe UI"/>
              </a:rPr>
              <a:t>One organisation faces two separate intrusions. The forensic goal is identical — but the path to the evidence is not.</a:t>
            </a:r>
          </a:p>
        </p:txBody>
      </p:sp>
      <p:sp>
        <p:nvSpPr>
          <p:cNvPr id="245" name="o245"/>
          <p:cNvSpPr/>
          <p:nvPr/>
        </p:nvSpPr>
        <p:spPr>
          <a:xfrm>
            <a:off x="722375" y="2217420"/>
            <a:ext cx="1188720" cy="1188720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46" name="o246"/>
          <p:cNvSpPr/>
          <p:nvPr/>
        </p:nvSpPr>
        <p:spPr>
          <a:xfrm>
            <a:off x="768096" y="2263139"/>
            <a:ext cx="1097280" cy="1097280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47" name="ff247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2000" y="16000"/>
                </a:moveTo>
                <a:lnTo>
                  <a:pt x="88000" y="16000"/>
                </a:lnTo>
                <a:lnTo>
                  <a:pt x="88000" y="62000"/>
                </a:lnTo>
                <a:lnTo>
                  <a:pt x="12000" y="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8" name="ff248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000" y="22000"/>
                </a:moveTo>
                <a:lnTo>
                  <a:pt x="82000" y="22000"/>
                </a:lnTo>
                <a:lnTo>
                  <a:pt x="82000" y="56000"/>
                </a:lnTo>
                <a:lnTo>
                  <a:pt x="18000" y="56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49" name="ff249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2000" y="62000"/>
                </a:moveTo>
                <a:lnTo>
                  <a:pt x="58000" y="62000"/>
                </a:lnTo>
                <a:lnTo>
                  <a:pt x="62000" y="78000"/>
                </a:lnTo>
                <a:lnTo>
                  <a:pt x="38000" y="7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0" name="ff250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0000" y="78000"/>
                </a:moveTo>
                <a:lnTo>
                  <a:pt x="70000" y="78000"/>
                </a:lnTo>
                <a:lnTo>
                  <a:pt x="70000" y="86000"/>
                </a:lnTo>
                <a:lnTo>
                  <a:pt x="3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1" name="ff251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28000"/>
                </a:moveTo>
                <a:lnTo>
                  <a:pt x="64000" y="28000"/>
                </a:lnTo>
                <a:lnTo>
                  <a:pt x="64000" y="33000"/>
                </a:lnTo>
                <a:lnTo>
                  <a:pt x="24000" y="33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2" name="ff252"/>
          <p:cNvSpPr/>
          <p:nvPr/>
        </p:nvSpPr>
        <p:spPr>
          <a:xfrm>
            <a:off x="1031443" y="2526487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38000"/>
                </a:moveTo>
                <a:lnTo>
                  <a:pt x="52000" y="38000"/>
                </a:lnTo>
                <a:lnTo>
                  <a:pt x="52000" y="42000"/>
                </a:lnTo>
                <a:lnTo>
                  <a:pt x="24000" y="4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3" name="t253"/>
          <p:cNvSpPr txBox="1"/>
          <p:nvPr/>
        </p:nvSpPr>
        <p:spPr>
          <a:xfrm>
            <a:off x="566928" y="3396996"/>
            <a:ext cx="1499616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050" b="1" spc="150" dirty="0">
                <a:solidFill>
                  <a:srgbClr val="7BC0FF"/>
                </a:solidFill>
                <a:latin typeface="Segoe UI"/>
                <a:cs typeface="Segoe UI"/>
              </a:rPr>
              <a:t>DESKTOP</a:t>
            </a:r>
          </a:p>
        </p:txBody>
      </p:sp>
      <p:sp>
        <p:nvSpPr>
          <p:cNvPr id="254" name="ch254"/>
          <p:cNvSpPr/>
          <p:nvPr/>
        </p:nvSpPr>
        <p:spPr>
          <a:xfrm>
            <a:off x="2304288" y="2665476"/>
            <a:ext cx="1417320" cy="512064"/>
          </a:xfrm>
          <a:prstGeom prst="homePlate">
            <a:avLst/>
          </a:prstGeom>
          <a:gradFill rotWithShape="1">
            <a:gsLst>
              <a:gs pos="0">
                <a:srgbClr val="7BC0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55" name="t255"/>
          <p:cNvSpPr txBox="1"/>
          <p:nvPr/>
        </p:nvSpPr>
        <p:spPr>
          <a:xfrm>
            <a:off x="2304288" y="2665476"/>
            <a:ext cx="1234440" cy="51206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spc="120" dirty="0">
                <a:solidFill>
                  <a:srgbClr val="FFFFFF"/>
                </a:solidFill>
                <a:latin typeface="Segoe UI"/>
                <a:cs typeface="Segoe UI"/>
              </a:rPr>
              <a:t>INVESTIGATE</a:t>
            </a:r>
          </a:p>
        </p:txBody>
      </p:sp>
      <p:sp>
        <p:nvSpPr>
          <p:cNvPr id="256" name="r256"/>
          <p:cNvSpPr/>
          <p:nvPr/>
        </p:nvSpPr>
        <p:spPr>
          <a:xfrm>
            <a:off x="3931920" y="2212848"/>
            <a:ext cx="7692847" cy="1417320"/>
          </a:xfrm>
          <a:prstGeom prst="roundRect">
            <a:avLst>
              <a:gd name="adj" fmla="val 7000"/>
            </a:avLst>
          </a:prstGeom>
          <a:solidFill>
            <a:srgbClr val="0E2038">
              <a:alpha val="94000"/>
            </a:srgbClr>
          </a:solidFill>
          <a:ln w="15240" cap="rnd">
            <a:solidFill>
              <a:srgbClr val="7BC0FF"/>
            </a:solidFill>
          </a:ln>
        </p:spPr>
        <p:txBody>
          <a:bodyPr/>
          <a:p/>
        </p:txBody>
      </p:sp>
      <p:sp>
        <p:nvSpPr>
          <p:cNvPr id="257" name="r257"/>
          <p:cNvSpPr/>
          <p:nvPr/>
        </p:nvSpPr>
        <p:spPr>
          <a:xfrm>
            <a:off x="3931920" y="2212848"/>
            <a:ext cx="64008" cy="1417320"/>
          </a:xfrm>
          <a:prstGeom prst="rect">
            <a:avLst/>
          </a:prstGeom>
          <a:solidFill>
            <a:srgbClr val="7BC0FF"/>
          </a:solidFill>
          <a:ln>
            <a:noFill/>
          </a:ln>
        </p:spPr>
        <p:txBody>
          <a:bodyPr/>
          <a:p/>
        </p:txBody>
      </p:sp>
      <p:sp>
        <p:nvSpPr>
          <p:cNvPr id="258" name="t258"/>
          <p:cNvSpPr txBox="1"/>
          <p:nvPr/>
        </p:nvSpPr>
        <p:spPr>
          <a:xfrm>
            <a:off x="4242816" y="2432304"/>
            <a:ext cx="7125919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Incident A — Traditional Desktop Intrusion</a:t>
            </a:r>
          </a:p>
        </p:txBody>
      </p:sp>
      <p:sp>
        <p:nvSpPr>
          <p:cNvPr id="259" name="t259"/>
          <p:cNvSpPr txBox="1"/>
          <p:nvPr/>
        </p:nvSpPr>
        <p:spPr>
          <a:xfrm>
            <a:off x="4242816" y="2889504"/>
            <a:ext cx="7125919" cy="6400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Unauthorised access to a physical desktop computer located inside the company's own premises.</a:t>
            </a:r>
          </a:p>
        </p:txBody>
      </p:sp>
      <p:sp>
        <p:nvSpPr>
          <p:cNvPr id="260" name="o260"/>
          <p:cNvSpPr/>
          <p:nvPr/>
        </p:nvSpPr>
        <p:spPr>
          <a:xfrm>
            <a:off x="722375" y="3927348"/>
            <a:ext cx="1188720" cy="1188720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1" name="o261"/>
          <p:cNvSpPr/>
          <p:nvPr/>
        </p:nvSpPr>
        <p:spPr>
          <a:xfrm>
            <a:off x="768096" y="3973068"/>
            <a:ext cx="1097280" cy="1097280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62" name="ff262"/>
          <p:cNvSpPr/>
          <p:nvPr/>
        </p:nvSpPr>
        <p:spPr>
          <a:xfrm>
            <a:off x="1031443" y="4236415"/>
            <a:ext cx="570585" cy="5705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72000"/>
                </a:moveTo>
                <a:cubicBezTo>
                  <a:pt x="12000" y="72000"/>
                  <a:pt x="10000" y="52000"/>
                  <a:pt x="28000" y="50000"/>
                </a:cubicBezTo>
                <a:cubicBezTo>
                  <a:pt x="28000" y="30000"/>
                  <a:pt x="58000" y="26000"/>
                  <a:pt x="62000" y="46000"/>
                </a:cubicBezTo>
                <a:cubicBezTo>
                  <a:pt x="84000" y="42000"/>
                  <a:pt x="92000" y="70000"/>
                  <a:pt x="74000" y="72000"/>
                </a:cubicBezTo>
                <a:lnTo>
                  <a:pt x="26000" y="7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3" name="t263"/>
          <p:cNvSpPr txBox="1"/>
          <p:nvPr/>
        </p:nvSpPr>
        <p:spPr>
          <a:xfrm>
            <a:off x="566928" y="5106924"/>
            <a:ext cx="1499616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ctr">
              <a:buNone/>
            </a:pPr>
            <a:r>
              <a:rPr lang="en-US" sz="1050" b="1" spc="150" dirty="0">
                <a:solidFill>
                  <a:srgbClr val="5FF3EC"/>
                </a:solidFill>
                <a:latin typeface="Segoe UI"/>
                <a:cs typeface="Segoe UI"/>
              </a:rPr>
              <a:t>CLOUD</a:t>
            </a:r>
          </a:p>
        </p:txBody>
      </p:sp>
      <p:sp>
        <p:nvSpPr>
          <p:cNvPr id="264" name="ch264"/>
          <p:cNvSpPr/>
          <p:nvPr/>
        </p:nvSpPr>
        <p:spPr>
          <a:xfrm>
            <a:off x="2304288" y="4375404"/>
            <a:ext cx="1417320" cy="512064"/>
          </a:xfrm>
          <a:prstGeom prst="homePlate">
            <a:avLst/>
          </a:prstGeom>
          <a:gradFill rotWithShape="1">
            <a:gsLst>
              <a:gs pos="0">
                <a:srgbClr val="5FF3EC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65" name="t265"/>
          <p:cNvSpPr txBox="1"/>
          <p:nvPr/>
        </p:nvSpPr>
        <p:spPr>
          <a:xfrm>
            <a:off x="2304288" y="4375404"/>
            <a:ext cx="1234440" cy="51206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spc="120" dirty="0">
                <a:solidFill>
                  <a:srgbClr val="FFFFFF"/>
                </a:solidFill>
                <a:latin typeface="Segoe UI"/>
                <a:cs typeface="Segoe UI"/>
              </a:rPr>
              <a:t>INVESTIGATE</a:t>
            </a:r>
          </a:p>
        </p:txBody>
      </p:sp>
      <p:sp>
        <p:nvSpPr>
          <p:cNvPr id="266" name="r266"/>
          <p:cNvSpPr/>
          <p:nvPr/>
        </p:nvSpPr>
        <p:spPr>
          <a:xfrm>
            <a:off x="3931920" y="3922776"/>
            <a:ext cx="7692847" cy="1417320"/>
          </a:xfrm>
          <a:prstGeom prst="roundRect">
            <a:avLst>
              <a:gd name="adj" fmla="val 7000"/>
            </a:avLst>
          </a:prstGeom>
          <a:solidFill>
            <a:srgbClr val="0E2038">
              <a:alpha val="94000"/>
            </a:srgbClr>
          </a:solidFill>
          <a:ln w="15240" cap="rnd">
            <a:solidFill>
              <a:srgbClr val="5FF3EC"/>
            </a:solidFill>
          </a:ln>
        </p:spPr>
        <p:txBody>
          <a:bodyPr/>
          <a:p/>
        </p:txBody>
      </p:sp>
      <p:sp>
        <p:nvSpPr>
          <p:cNvPr id="267" name="r267"/>
          <p:cNvSpPr/>
          <p:nvPr/>
        </p:nvSpPr>
        <p:spPr>
          <a:xfrm>
            <a:off x="3931920" y="3922776"/>
            <a:ext cx="64008" cy="1417320"/>
          </a:xfrm>
          <a:prstGeom prst="rect">
            <a:avLst/>
          </a:prstGeom>
          <a:solidFill>
            <a:srgbClr val="5FF3EC"/>
          </a:solidFill>
          <a:ln>
            <a:noFill/>
          </a:ln>
        </p:spPr>
        <p:txBody>
          <a:bodyPr/>
          <a:p/>
        </p:txBody>
      </p:sp>
      <p:sp>
        <p:nvSpPr>
          <p:cNvPr id="268" name="t268"/>
          <p:cNvSpPr txBox="1"/>
          <p:nvPr/>
        </p:nvSpPr>
        <p:spPr>
          <a:xfrm>
            <a:off x="4242816" y="4142232"/>
            <a:ext cx="7125919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Incident B — Cloud Application Compromise</a:t>
            </a:r>
          </a:p>
        </p:txBody>
      </p:sp>
      <p:sp>
        <p:nvSpPr>
          <p:cNvPr id="269" name="t269"/>
          <p:cNvSpPr txBox="1"/>
          <p:nvPr/>
        </p:nvSpPr>
        <p:spPr>
          <a:xfrm>
            <a:off x="4242816" y="4599432"/>
            <a:ext cx="7125919" cy="6400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Unauthorised access to a business application hosted by a third-party Cloud Service Provider (CSP).</a:t>
            </a:r>
          </a:p>
        </p:txBody>
      </p:sp>
      <p:sp>
        <p:nvSpPr>
          <p:cNvPr id="270" name="r27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02A46"/>
              </a:gs>
              <a:gs pos="100000">
                <a:srgbClr val="0C1E33"/>
              </a:gs>
            </a:gsLst>
            <a:lin ang="5400000" scaled="1"/>
          </a:gradFill>
          <a:ln w="1397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1" name="o271"/>
          <p:cNvSpPr/>
          <p:nvPr/>
        </p:nvSpPr>
        <p:spPr>
          <a:xfrm>
            <a:off x="882213" y="5765109"/>
            <a:ext cx="134599" cy="134599"/>
          </a:xfrm>
          <a:prstGeom prst="ellipse">
            <a:avLst/>
          </a:prstGeom>
          <a:noFill/>
          <a:ln w="43180" cap="rnd">
            <a:solidFill>
              <a:srgbClr val="24E0D8"/>
            </a:solidFill>
          </a:ln>
        </p:spPr>
        <p:txBody>
          <a:bodyPr/>
          <a:p/>
        </p:txBody>
      </p:sp>
      <p:cxnSp>
        <p:nvCxnSpPr>
          <p:cNvPr id="272" name="l272"/>
          <p:cNvCxnSpPr/>
          <p:nvPr/>
        </p:nvCxnSpPr>
        <p:spPr>
          <a:xfrm>
            <a:off x="1005108" y="5888004"/>
            <a:ext cx="87782" cy="87782"/>
          </a:xfrm>
          <a:prstGeom prst="line">
            <a:avLst/>
          </a:prstGeom>
          <a:ln w="45720" cap="rnd">
            <a:solidFill>
              <a:srgbClr val="24E0D8"/>
            </a:solidFill>
          </a:ln>
        </p:spPr>
      </p:cxnSp>
      <p:sp>
        <p:nvSpPr>
          <p:cNvPr id="273" name="t273"/>
          <p:cNvSpPr txBox="1"/>
          <p:nvPr/>
        </p:nvSpPr>
        <p:spPr>
          <a:xfrm>
            <a:off x="1344168" y="5541264"/>
            <a:ext cx="10051999" cy="65836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24E0D8"/>
                </a:solidFill>
                <a:latin typeface="Segoe UI"/>
                <a:cs typeface="Segoe UI"/>
              </a:rPr>
              <a:t>Key Question:   </a:t>
            </a:r>
            <a:r>
              <a:rPr lang="en-US" sz="1400" b="1" dirty="0">
                <a:solidFill>
                  <a:srgbClr val="FFFFFF"/>
                </a:solidFill>
                <a:latin typeface="Segoe UI"/>
                <a:cs typeface="Segoe UI"/>
              </a:rPr>
              <a:t>How would the two incidents be investigated differently?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DEFINITIONS &amp; PROCESS MODELS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  <a:latin typeface="Poppins"/>
                <a:cs typeface="Poppins"/>
              </a:rPr>
              <a:t>What is Digital vs Cloud Forensics?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03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r244"/>
          <p:cNvSpPr/>
          <p:nvPr/>
        </p:nvSpPr>
        <p:spPr>
          <a:xfrm>
            <a:off x="566928" y="1700784"/>
            <a:ext cx="5300319" cy="402336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7BC0FF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45" name="r245"/>
          <p:cNvSpPr/>
          <p:nvPr/>
        </p:nvSpPr>
        <p:spPr>
          <a:xfrm>
            <a:off x="566928" y="1700784"/>
            <a:ext cx="5300319" cy="89611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6" name="r246"/>
          <p:cNvSpPr/>
          <p:nvPr/>
        </p:nvSpPr>
        <p:spPr>
          <a:xfrm>
            <a:off x="566928" y="2249424"/>
            <a:ext cx="5300319" cy="347472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txBody>
          <a:bodyPr/>
          <a:p/>
        </p:txBody>
      </p:sp>
      <p:sp>
        <p:nvSpPr>
          <p:cNvPr id="247" name="o247"/>
          <p:cNvSpPr/>
          <p:nvPr/>
        </p:nvSpPr>
        <p:spPr>
          <a:xfrm>
            <a:off x="795528" y="1773936"/>
            <a:ext cx="749808" cy="749808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48" name="o248"/>
          <p:cNvSpPr/>
          <p:nvPr/>
        </p:nvSpPr>
        <p:spPr>
          <a:xfrm>
            <a:off x="841248" y="1819656"/>
            <a:ext cx="658368" cy="65836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E9BF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49" name="ff249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2000" y="16000"/>
                </a:moveTo>
                <a:lnTo>
                  <a:pt x="88000" y="16000"/>
                </a:lnTo>
                <a:lnTo>
                  <a:pt x="88000" y="62000"/>
                </a:lnTo>
                <a:lnTo>
                  <a:pt x="12000" y="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0" name="ff250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000" y="22000"/>
                </a:moveTo>
                <a:lnTo>
                  <a:pt x="82000" y="22000"/>
                </a:lnTo>
                <a:lnTo>
                  <a:pt x="82000" y="56000"/>
                </a:lnTo>
                <a:lnTo>
                  <a:pt x="18000" y="56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51" name="ff251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2000" y="62000"/>
                </a:moveTo>
                <a:lnTo>
                  <a:pt x="58000" y="62000"/>
                </a:lnTo>
                <a:lnTo>
                  <a:pt x="62000" y="78000"/>
                </a:lnTo>
                <a:lnTo>
                  <a:pt x="38000" y="7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2" name="ff252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0000" y="78000"/>
                </a:moveTo>
                <a:lnTo>
                  <a:pt x="70000" y="78000"/>
                </a:lnTo>
                <a:lnTo>
                  <a:pt x="70000" y="86000"/>
                </a:lnTo>
                <a:lnTo>
                  <a:pt x="3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3" name="ff253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28000"/>
                </a:moveTo>
                <a:lnTo>
                  <a:pt x="64000" y="28000"/>
                </a:lnTo>
                <a:lnTo>
                  <a:pt x="64000" y="33000"/>
                </a:lnTo>
                <a:lnTo>
                  <a:pt x="24000" y="33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4" name="ff254"/>
          <p:cNvSpPr/>
          <p:nvPr/>
        </p:nvSpPr>
        <p:spPr>
          <a:xfrm>
            <a:off x="98608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38000"/>
                </a:moveTo>
                <a:lnTo>
                  <a:pt x="52000" y="38000"/>
                </a:lnTo>
                <a:lnTo>
                  <a:pt x="52000" y="42000"/>
                </a:lnTo>
                <a:lnTo>
                  <a:pt x="24000" y="4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5" name="t255"/>
          <p:cNvSpPr txBox="1"/>
          <p:nvPr/>
        </p:nvSpPr>
        <p:spPr>
          <a:xfrm>
            <a:off x="1627631" y="1837944"/>
            <a:ext cx="4093311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Traditional Digital Forensics</a:t>
            </a:r>
          </a:p>
        </p:txBody>
      </p:sp>
      <p:sp>
        <p:nvSpPr>
          <p:cNvPr id="256" name="t256"/>
          <p:cNvSpPr txBox="1"/>
          <p:nvPr/>
        </p:nvSpPr>
        <p:spPr>
          <a:xfrm>
            <a:off x="1627631" y="2212848"/>
            <a:ext cx="4093311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EAF4FF"/>
                </a:solidFill>
                <a:latin typeface="Segoe UI"/>
                <a:cs typeface="Segoe UI"/>
              </a:rPr>
              <a:t>Evidence physically on the organisation's device</a:t>
            </a:r>
          </a:p>
        </p:txBody>
      </p:sp>
      <p:sp>
        <p:nvSpPr>
          <p:cNvPr id="257" name="t257"/>
          <p:cNvSpPr txBox="1"/>
          <p:nvPr/>
        </p:nvSpPr>
        <p:spPr>
          <a:xfrm>
            <a:off x="859536" y="2761488"/>
            <a:ext cx="4715103" cy="237744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b="1" spc="200" dirty="0">
                <a:solidFill>
                  <a:srgbClr val="7BC0FF"/>
                </a:solidFill>
                <a:latin typeface="Segoe UI"/>
                <a:cs typeface="Segoe UI"/>
              </a:rPr>
              <a:t>PROCESS PHASES</a:t>
            </a:r>
          </a:p>
        </p:txBody>
      </p:sp>
      <p:sp>
        <p:nvSpPr>
          <p:cNvPr id="258" name="r258"/>
          <p:cNvSpPr/>
          <p:nvPr/>
        </p:nvSpPr>
        <p:spPr>
          <a:xfrm>
            <a:off x="859536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9" name="t259"/>
          <p:cNvSpPr txBox="1"/>
          <p:nvPr/>
        </p:nvSpPr>
        <p:spPr>
          <a:xfrm>
            <a:off x="859536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Identification</a:t>
            </a:r>
          </a:p>
        </p:txBody>
      </p:sp>
      <p:sp>
        <p:nvSpPr>
          <p:cNvPr id="260" name="r260"/>
          <p:cNvSpPr/>
          <p:nvPr/>
        </p:nvSpPr>
        <p:spPr>
          <a:xfrm>
            <a:off x="2467813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1" name="t261"/>
          <p:cNvSpPr txBox="1"/>
          <p:nvPr/>
        </p:nvSpPr>
        <p:spPr>
          <a:xfrm>
            <a:off x="2467813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Preservation</a:t>
            </a:r>
          </a:p>
        </p:txBody>
      </p:sp>
      <p:sp>
        <p:nvSpPr>
          <p:cNvPr id="262" name="r262"/>
          <p:cNvSpPr/>
          <p:nvPr/>
        </p:nvSpPr>
        <p:spPr>
          <a:xfrm>
            <a:off x="4076090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3" name="t263"/>
          <p:cNvSpPr txBox="1"/>
          <p:nvPr/>
        </p:nvSpPr>
        <p:spPr>
          <a:xfrm>
            <a:off x="4076090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Collection</a:t>
            </a:r>
          </a:p>
        </p:txBody>
      </p:sp>
      <p:sp>
        <p:nvSpPr>
          <p:cNvPr id="264" name="r264"/>
          <p:cNvSpPr/>
          <p:nvPr/>
        </p:nvSpPr>
        <p:spPr>
          <a:xfrm>
            <a:off x="859536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5" name="t265"/>
          <p:cNvSpPr txBox="1"/>
          <p:nvPr/>
        </p:nvSpPr>
        <p:spPr>
          <a:xfrm>
            <a:off x="859536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Examination</a:t>
            </a:r>
          </a:p>
        </p:txBody>
      </p:sp>
      <p:sp>
        <p:nvSpPr>
          <p:cNvPr id="266" name="r266"/>
          <p:cNvSpPr/>
          <p:nvPr/>
        </p:nvSpPr>
        <p:spPr>
          <a:xfrm>
            <a:off x="2467813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7" name="t267"/>
          <p:cNvSpPr txBox="1"/>
          <p:nvPr/>
        </p:nvSpPr>
        <p:spPr>
          <a:xfrm>
            <a:off x="2467813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Analysis</a:t>
            </a:r>
          </a:p>
        </p:txBody>
      </p:sp>
      <p:sp>
        <p:nvSpPr>
          <p:cNvPr id="268" name="r268"/>
          <p:cNvSpPr/>
          <p:nvPr/>
        </p:nvSpPr>
        <p:spPr>
          <a:xfrm>
            <a:off x="4076090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7BC0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9" name="t269"/>
          <p:cNvSpPr txBox="1"/>
          <p:nvPr/>
        </p:nvSpPr>
        <p:spPr>
          <a:xfrm>
            <a:off x="4076090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Reporting</a:t>
            </a:r>
          </a:p>
        </p:txBody>
      </p:sp>
      <p:sp>
        <p:nvSpPr>
          <p:cNvPr id="270" name="t270"/>
          <p:cNvSpPr txBox="1"/>
          <p:nvPr/>
        </p:nvSpPr>
        <p:spPr>
          <a:xfrm>
            <a:off x="859536" y="4059935"/>
            <a:ext cx="4715103" cy="10972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82880" indent="-182880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Investigator has direct physical control of the device.</a:t>
            </a:r>
          </a:p>
          <a:p>
            <a:pPr algn="l" marL="182880" indent="-182880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Evidence lives on hardware the organisation owns.</a:t>
            </a:r>
          </a:p>
        </p:txBody>
      </p:sp>
      <p:sp>
        <p:nvSpPr>
          <p:cNvPr id="271" name="r271"/>
          <p:cNvSpPr/>
          <p:nvPr/>
        </p:nvSpPr>
        <p:spPr>
          <a:xfrm>
            <a:off x="859536" y="5175504"/>
            <a:ext cx="4715103" cy="402336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2700" cap="rnd">
            <a:solidFill>
              <a:srgbClr val="7BC0FF">
                <a:alpha val="70000"/>
              </a:srgbClr>
            </a:solidFill>
          </a:ln>
        </p:spPr>
        <p:txBody>
          <a:bodyPr/>
          <a:p/>
        </p:txBody>
      </p:sp>
      <p:sp>
        <p:nvSpPr>
          <p:cNvPr id="272" name="t272"/>
          <p:cNvSpPr txBox="1"/>
          <p:nvPr/>
        </p:nvSpPr>
        <p:spPr>
          <a:xfrm>
            <a:off x="859536" y="5175504"/>
            <a:ext cx="4715103" cy="40233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7BC0FF"/>
                </a:solidFill>
                <a:latin typeface="Segoe UI"/>
                <a:cs typeface="Segoe UI"/>
              </a:rPr>
              <a:t>Model:  </a:t>
            </a: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NIST SP 800-86</a:t>
            </a:r>
          </a:p>
        </p:txBody>
      </p:sp>
      <p:sp>
        <p:nvSpPr>
          <p:cNvPr id="273" name="r273"/>
          <p:cNvSpPr/>
          <p:nvPr/>
        </p:nvSpPr>
        <p:spPr>
          <a:xfrm>
            <a:off x="6324447" y="1700784"/>
            <a:ext cx="5300319" cy="402336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5FF3EC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74" name="r274"/>
          <p:cNvSpPr/>
          <p:nvPr/>
        </p:nvSpPr>
        <p:spPr>
          <a:xfrm>
            <a:off x="6324447" y="1700784"/>
            <a:ext cx="5300319" cy="89611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75" name="r275"/>
          <p:cNvSpPr/>
          <p:nvPr/>
        </p:nvSpPr>
        <p:spPr>
          <a:xfrm>
            <a:off x="6324447" y="2249424"/>
            <a:ext cx="5300319" cy="347472"/>
          </a:xfrm>
          <a:prstGeom prst="rect">
            <a:avLst/>
          </a:prstGeom>
          <a:solidFill>
            <a:srgbClr val="0C6E77"/>
          </a:solidFill>
          <a:ln>
            <a:noFill/>
          </a:ln>
        </p:spPr>
        <p:txBody>
          <a:bodyPr/>
          <a:p/>
        </p:txBody>
      </p:sp>
      <p:sp>
        <p:nvSpPr>
          <p:cNvPr id="276" name="o276"/>
          <p:cNvSpPr/>
          <p:nvPr/>
        </p:nvSpPr>
        <p:spPr>
          <a:xfrm>
            <a:off x="6553047" y="1773936"/>
            <a:ext cx="749808" cy="749808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77" name="o277"/>
          <p:cNvSpPr/>
          <p:nvPr/>
        </p:nvSpPr>
        <p:spPr>
          <a:xfrm>
            <a:off x="6598767" y="1819656"/>
            <a:ext cx="658368" cy="65836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4E0D8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78" name="ff278"/>
          <p:cNvSpPr/>
          <p:nvPr/>
        </p:nvSpPr>
        <p:spPr>
          <a:xfrm>
            <a:off x="6743608" y="1964496"/>
            <a:ext cx="368686" cy="36868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72000"/>
                </a:moveTo>
                <a:cubicBezTo>
                  <a:pt x="12000" y="72000"/>
                  <a:pt x="10000" y="52000"/>
                  <a:pt x="28000" y="50000"/>
                </a:cubicBezTo>
                <a:cubicBezTo>
                  <a:pt x="28000" y="30000"/>
                  <a:pt x="58000" y="26000"/>
                  <a:pt x="62000" y="46000"/>
                </a:cubicBezTo>
                <a:cubicBezTo>
                  <a:pt x="84000" y="42000"/>
                  <a:pt x="92000" y="70000"/>
                  <a:pt x="74000" y="72000"/>
                </a:cubicBezTo>
                <a:lnTo>
                  <a:pt x="26000" y="7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9" name="t279"/>
          <p:cNvSpPr txBox="1"/>
          <p:nvPr/>
        </p:nvSpPr>
        <p:spPr>
          <a:xfrm>
            <a:off x="7385151" y="1837944"/>
            <a:ext cx="4093311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Cloud Forensics</a:t>
            </a:r>
          </a:p>
        </p:txBody>
      </p:sp>
      <p:sp>
        <p:nvSpPr>
          <p:cNvPr id="280" name="t280"/>
          <p:cNvSpPr txBox="1"/>
          <p:nvPr/>
        </p:nvSpPr>
        <p:spPr>
          <a:xfrm>
            <a:off x="7385151" y="2212848"/>
            <a:ext cx="4093311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EAF4FF"/>
                </a:solidFill>
                <a:latin typeface="Segoe UI"/>
                <a:cs typeface="Segoe UI"/>
              </a:rPr>
              <a:t>Same principles on distributed, multi-tenant infrastructure</a:t>
            </a:r>
          </a:p>
        </p:txBody>
      </p:sp>
      <p:sp>
        <p:nvSpPr>
          <p:cNvPr id="281" name="t281"/>
          <p:cNvSpPr txBox="1"/>
          <p:nvPr/>
        </p:nvSpPr>
        <p:spPr>
          <a:xfrm>
            <a:off x="6617055" y="2761488"/>
            <a:ext cx="4715103" cy="237744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b="1" spc="200" dirty="0">
                <a:solidFill>
                  <a:srgbClr val="5FF3EC"/>
                </a:solidFill>
                <a:latin typeface="Segoe UI"/>
                <a:cs typeface="Segoe UI"/>
              </a:rPr>
              <a:t>PROCESS PHASES</a:t>
            </a:r>
          </a:p>
        </p:txBody>
      </p:sp>
      <p:sp>
        <p:nvSpPr>
          <p:cNvPr id="282" name="r282"/>
          <p:cNvSpPr/>
          <p:nvPr/>
        </p:nvSpPr>
        <p:spPr>
          <a:xfrm>
            <a:off x="6617055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3" name="t283"/>
          <p:cNvSpPr txBox="1"/>
          <p:nvPr/>
        </p:nvSpPr>
        <p:spPr>
          <a:xfrm>
            <a:off x="6617055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Identification</a:t>
            </a:r>
          </a:p>
        </p:txBody>
      </p:sp>
      <p:sp>
        <p:nvSpPr>
          <p:cNvPr id="284" name="r284"/>
          <p:cNvSpPr/>
          <p:nvPr/>
        </p:nvSpPr>
        <p:spPr>
          <a:xfrm>
            <a:off x="8225332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5" name="t285"/>
          <p:cNvSpPr txBox="1"/>
          <p:nvPr/>
        </p:nvSpPr>
        <p:spPr>
          <a:xfrm>
            <a:off x="8225332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Preservation</a:t>
            </a:r>
          </a:p>
        </p:txBody>
      </p:sp>
      <p:sp>
        <p:nvSpPr>
          <p:cNvPr id="286" name="r286"/>
          <p:cNvSpPr/>
          <p:nvPr/>
        </p:nvSpPr>
        <p:spPr>
          <a:xfrm>
            <a:off x="9833610" y="3054096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7" name="t287"/>
          <p:cNvSpPr txBox="1"/>
          <p:nvPr/>
        </p:nvSpPr>
        <p:spPr>
          <a:xfrm>
            <a:off x="9833610" y="3054096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Collection</a:t>
            </a:r>
          </a:p>
        </p:txBody>
      </p:sp>
      <p:sp>
        <p:nvSpPr>
          <p:cNvPr id="288" name="r288"/>
          <p:cNvSpPr/>
          <p:nvPr/>
        </p:nvSpPr>
        <p:spPr>
          <a:xfrm>
            <a:off x="6617055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9" name="t289"/>
          <p:cNvSpPr txBox="1"/>
          <p:nvPr/>
        </p:nvSpPr>
        <p:spPr>
          <a:xfrm>
            <a:off x="6617055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Examination</a:t>
            </a:r>
          </a:p>
        </p:txBody>
      </p:sp>
      <p:sp>
        <p:nvSpPr>
          <p:cNvPr id="290" name="r290"/>
          <p:cNvSpPr/>
          <p:nvPr/>
        </p:nvSpPr>
        <p:spPr>
          <a:xfrm>
            <a:off x="8225332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91" name="t291"/>
          <p:cNvSpPr txBox="1"/>
          <p:nvPr/>
        </p:nvSpPr>
        <p:spPr>
          <a:xfrm>
            <a:off x="8225332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Analysis</a:t>
            </a:r>
          </a:p>
        </p:txBody>
      </p:sp>
      <p:sp>
        <p:nvSpPr>
          <p:cNvPr id="292" name="r292"/>
          <p:cNvSpPr/>
          <p:nvPr/>
        </p:nvSpPr>
        <p:spPr>
          <a:xfrm>
            <a:off x="9833610" y="3493008"/>
            <a:ext cx="1498549" cy="329184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1430" cap="rnd">
            <a:solidFill>
              <a:srgbClr val="5FF3EC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93" name="t293"/>
          <p:cNvSpPr txBox="1"/>
          <p:nvPr/>
        </p:nvSpPr>
        <p:spPr>
          <a:xfrm>
            <a:off x="9833610" y="3493008"/>
            <a:ext cx="1498549" cy="32918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E7F0FA"/>
                </a:solidFill>
                <a:latin typeface="Segoe UI"/>
                <a:cs typeface="Segoe UI"/>
              </a:rPr>
              <a:t>Reporting</a:t>
            </a:r>
          </a:p>
        </p:txBody>
      </p:sp>
      <p:sp>
        <p:nvSpPr>
          <p:cNvPr id="294" name="t294"/>
          <p:cNvSpPr txBox="1"/>
          <p:nvPr/>
        </p:nvSpPr>
        <p:spPr>
          <a:xfrm>
            <a:off x="6617055" y="4059935"/>
            <a:ext cx="4715103" cy="10972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82880" indent="-182880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Evidence is controlled partly by the Cloud Service Provider (CSP).</a:t>
            </a:r>
          </a:p>
          <a:p>
            <a:pPr algn="l" marL="182880" indent="-182880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Investigator depends on the CSP for logs, snapshots &amp; audit trails.</a:t>
            </a:r>
          </a:p>
        </p:txBody>
      </p:sp>
      <p:sp>
        <p:nvSpPr>
          <p:cNvPr id="295" name="r295"/>
          <p:cNvSpPr/>
          <p:nvPr/>
        </p:nvSpPr>
        <p:spPr>
          <a:xfrm>
            <a:off x="6617055" y="5175504"/>
            <a:ext cx="4715103" cy="402336"/>
          </a:xfrm>
          <a:prstGeom prst="roundRect">
            <a:avLst>
              <a:gd name="adj" fmla="val 50000"/>
            </a:avLst>
          </a:prstGeom>
          <a:solidFill>
            <a:srgbClr val="12263F"/>
          </a:solidFill>
          <a:ln w="12700" cap="rnd">
            <a:solidFill>
              <a:srgbClr val="5FF3EC">
                <a:alpha val="70000"/>
              </a:srgbClr>
            </a:solidFill>
          </a:ln>
        </p:spPr>
        <p:txBody>
          <a:bodyPr/>
          <a:p/>
        </p:txBody>
      </p:sp>
      <p:sp>
        <p:nvSpPr>
          <p:cNvPr id="296" name="t296"/>
          <p:cNvSpPr txBox="1"/>
          <p:nvPr/>
        </p:nvSpPr>
        <p:spPr>
          <a:xfrm>
            <a:off x="6617055" y="5175504"/>
            <a:ext cx="4715103" cy="40233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5FF3EC"/>
                </a:solidFill>
                <a:latin typeface="Segoe UI"/>
                <a:cs typeface="Segoe UI"/>
              </a:rPr>
              <a:t>Model:  </a:t>
            </a: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NIST IR 8006</a:t>
            </a:r>
          </a:p>
        </p:txBody>
      </p:sp>
      <p:sp>
        <p:nvSpPr>
          <p:cNvPr id="297" name="o297"/>
          <p:cNvSpPr/>
          <p:nvPr/>
        </p:nvSpPr>
        <p:spPr>
          <a:xfrm>
            <a:off x="5794095" y="3410712"/>
            <a:ext cx="603504" cy="60350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 w="17780" cap="rnd">
            <a:solidFill>
              <a:srgbClr val="FFFFFF"/>
            </a:solidFill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98" name="t298"/>
          <p:cNvSpPr txBox="1"/>
          <p:nvPr/>
        </p:nvSpPr>
        <p:spPr>
          <a:xfrm>
            <a:off x="5794095" y="3410712"/>
            <a:ext cx="603504" cy="60350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VS</a:t>
            </a:r>
          </a:p>
        </p:txBody>
      </p:sp>
      <p:sp>
        <p:nvSpPr>
          <p:cNvPr id="299" name="t299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00" b="1" spc="100" dirty="0">
                <a:solidFill>
                  <a:srgbClr val="24E0D8"/>
                </a:solidFill>
                <a:latin typeface="Segoe UI"/>
                <a:cs typeface="Segoe UI"/>
              </a:rPr>
              <a:t>References   </a:t>
            </a:r>
            <a:r>
              <a:rPr lang="en-US" sz="900" spc="40" dirty="0">
                <a:solidFill>
                  <a:srgbClr val="9DB4CC"/>
                </a:solidFill>
                <a:latin typeface="Segoe UI"/>
                <a:cs typeface="Segoe UI"/>
              </a:rPr>
              <a:t>NIST SP 800-86   •   NIST IR 8006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WHAT WE COLLECT · HOW WE COLLECT IT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/>
                <a:cs typeface="Poppins"/>
              </a:rPr>
              <a:t>Evidence &amp; Investigation Process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04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graphicFrame>
        <p:nvGraphicFramePr>
          <p:cNvPr id="244" name="tbl244"/>
          <p:cNvGraphicFramePr/>
          <p:nvPr/>
        </p:nvGraphicFramePr>
        <p:xfrm>
          <a:off x="566928" y="1664208"/>
          <a:ext cx="11164824" cy="2103120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4439412"/>
                <a:gridCol w="443941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63B63"/>
                        </a:gs>
                        <a:gs pos="100000">
                          <a:srgbClr val="102A46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/>
                        </a:rPr>
                        <a:t>Desktop Incident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63B63"/>
                        </a:gs>
                        <a:gs pos="100000">
                          <a:srgbClr val="102A46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/>
                        </a:rPr>
                        <a:t>Cloud Incident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63B63"/>
                        </a:gs>
                        <a:gs pos="100000">
                          <a:srgbClr val="102A46"/>
                        </a:gs>
                      </a:gsLst>
                      <a:lin ang="5400000" scaled="1"/>
                    </a:gra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>
                          <a:solidFill>
                            <a:srgbClr val="5FF3EC"/>
                          </a:solidFill>
                          <a:latin typeface="Segoe UI"/>
                        </a:rPr>
                        <a:t>Evidence Sources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5355A"/>
                        </a:gs>
                        <a:gs pos="100000">
                          <a:srgbClr val="0E213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Disk image, RAM, registry, event logs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API / audit logs, VM snapshots, storage logs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>
                          <a:solidFill>
                            <a:srgbClr val="5FF3EC"/>
                          </a:solidFill>
                          <a:latin typeface="Segoe UI"/>
                        </a:rPr>
                        <a:t>Acquisition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5355A"/>
                        </a:gs>
                        <a:gs pos="100000">
                          <a:srgbClr val="0E213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Direct — write-blocker + forensic imaging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Indirect — CSP-assisted export / snapshot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C1B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>
                          <a:solidFill>
                            <a:srgbClr val="5FF3EC"/>
                          </a:solidFill>
                          <a:latin typeface="Segoe UI"/>
                        </a:rPr>
                        <a:t>Chain of Custody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gradFill rotWithShape="1">
                      <a:gsLst>
                        <a:gs pos="0">
                          <a:srgbClr val="15355A"/>
                        </a:gs>
                        <a:gs pos="100000">
                          <a:srgbClr val="0E213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Investigator has full custody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solidFill>
                            <a:srgbClr val="E7F0FA"/>
                          </a:solidFill>
                          <a:latin typeface="Segoe UI"/>
                        </a:rPr>
                        <a:t>Co-established together with the CSP</a:t>
                      </a:r>
                    </a:p>
                  </a:txBody>
                  <a:tcPr marL="109728" marR="109728" marT="65836" marB="65836" anchor="ctr">
                    <a:lnL w="9525">
                      <a:solidFill>
                        <a:srgbClr val="24476E"/>
                      </a:solidFill>
                    </a:lnL>
                    <a:lnR w="9525">
                      <a:solidFill>
                        <a:srgbClr val="24476E"/>
                      </a:solidFill>
                    </a:lnR>
                    <a:lnT w="9525">
                      <a:solidFill>
                        <a:srgbClr val="24476E"/>
                      </a:solidFill>
                    </a:lnT>
                    <a:lnB w="9525">
                      <a:solidFill>
                        <a:srgbClr val="24476E"/>
                      </a:solidFill>
                    </a:lnB>
                    <a:solidFill>
                      <a:srgbClr val="0E2038"/>
                    </a:solidFill>
                  </a:tcPr>
                </a:tc>
              </a:tr>
            </a:tbl>
          </a:graphicData>
        </a:graphic>
      </p:graphicFrame>
      <p:sp>
        <p:nvSpPr>
          <p:cNvPr id="245" name="o245"/>
          <p:cNvSpPr/>
          <p:nvPr/>
        </p:nvSpPr>
        <p:spPr>
          <a:xfrm>
            <a:off x="3419856" y="1847088"/>
            <a:ext cx="146304" cy="146304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6" name="o246"/>
          <p:cNvSpPr/>
          <p:nvPr/>
        </p:nvSpPr>
        <p:spPr>
          <a:xfrm>
            <a:off x="8188452" y="1847088"/>
            <a:ext cx="146304" cy="146304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7" name="t247"/>
          <p:cNvSpPr txBox="1"/>
          <p:nvPr/>
        </p:nvSpPr>
        <p:spPr>
          <a:xfrm>
            <a:off x="566928" y="4160520"/>
            <a:ext cx="11057839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50" b="1" spc="250" dirty="0">
                <a:solidFill>
                  <a:srgbClr val="24E0D8"/>
                </a:solidFill>
                <a:latin typeface="Segoe UI"/>
                <a:cs typeface="Segoe UI"/>
              </a:rPr>
              <a:t>THE SIX INVESTIGATION PHASES</a:t>
            </a:r>
          </a:p>
        </p:txBody>
      </p:sp>
      <p:sp>
        <p:nvSpPr>
          <p:cNvPr id="248" name="r248"/>
          <p:cNvSpPr/>
          <p:nvPr/>
        </p:nvSpPr>
        <p:spPr>
          <a:xfrm>
            <a:off x="566928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49" name="o249"/>
          <p:cNvSpPr/>
          <p:nvPr/>
        </p:nvSpPr>
        <p:spPr>
          <a:xfrm>
            <a:off x="1127226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0" name="o250"/>
          <p:cNvSpPr/>
          <p:nvPr/>
        </p:nvSpPr>
        <p:spPr>
          <a:xfrm>
            <a:off x="1172946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457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1" name="o251"/>
          <p:cNvSpPr/>
          <p:nvPr/>
        </p:nvSpPr>
        <p:spPr>
          <a:xfrm>
            <a:off x="1320289" y="4792494"/>
            <a:ext cx="127196" cy="127196"/>
          </a:xfrm>
          <a:prstGeom prst="ellipse">
            <a:avLst/>
          </a:prstGeom>
          <a:noFill/>
          <a:ln w="43180" cap="rnd">
            <a:solidFill>
              <a:srgbClr val="FFFFFF"/>
            </a:solidFill>
          </a:ln>
        </p:spPr>
        <p:txBody>
          <a:bodyPr/>
          <a:p/>
        </p:txBody>
      </p:sp>
      <p:cxnSp>
        <p:nvCxnSpPr>
          <p:cNvPr id="252" name="l252"/>
          <p:cNvCxnSpPr/>
          <p:nvPr/>
        </p:nvCxnSpPr>
        <p:spPr>
          <a:xfrm>
            <a:off x="1436425" y="4908630"/>
            <a:ext cx="82954" cy="82955"/>
          </a:xfrm>
          <a:prstGeom prst="line">
            <a:avLst/>
          </a:prstGeom>
          <a:ln w="45720" cap="rnd">
            <a:solidFill>
              <a:srgbClr val="FFFFFF"/>
            </a:solidFill>
          </a:ln>
        </p:spPr>
      </p:cxnSp>
      <p:sp>
        <p:nvSpPr>
          <p:cNvPr id="253" name="t253"/>
          <p:cNvSpPr txBox="1"/>
          <p:nvPr/>
        </p:nvSpPr>
        <p:spPr>
          <a:xfrm>
            <a:off x="566928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Identification</a:t>
            </a:r>
          </a:p>
        </p:txBody>
      </p:sp>
      <p:sp>
        <p:nvSpPr>
          <p:cNvPr id="254" name="o254"/>
          <p:cNvSpPr/>
          <p:nvPr/>
        </p:nvSpPr>
        <p:spPr>
          <a:xfrm>
            <a:off x="649224" y="4645152"/>
            <a:ext cx="237744" cy="237744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55" name="t255"/>
          <p:cNvSpPr txBox="1"/>
          <p:nvPr/>
        </p:nvSpPr>
        <p:spPr>
          <a:xfrm>
            <a:off x="649224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cxnSp>
        <p:nvCxnSpPr>
          <p:cNvPr id="256" name="l256"/>
          <p:cNvCxnSpPr/>
          <p:nvPr/>
        </p:nvCxnSpPr>
        <p:spPr>
          <a:xfrm>
            <a:off x="2300173" y="5047488"/>
            <a:ext cx="109728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57" name="r257"/>
          <p:cNvSpPr/>
          <p:nvPr/>
        </p:nvSpPr>
        <p:spPr>
          <a:xfrm>
            <a:off x="2437333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58" name="o258"/>
          <p:cNvSpPr/>
          <p:nvPr/>
        </p:nvSpPr>
        <p:spPr>
          <a:xfrm>
            <a:off x="2997631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1AA9B0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9" name="o259"/>
          <p:cNvSpPr/>
          <p:nvPr/>
        </p:nvSpPr>
        <p:spPr>
          <a:xfrm>
            <a:off x="3043351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1AA9B0"/>
              </a:gs>
              <a:gs pos="100000">
                <a:srgbClr val="0C5E63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60" name="ff260"/>
          <p:cNvSpPr/>
          <p:nvPr/>
        </p:nvSpPr>
        <p:spPr>
          <a:xfrm>
            <a:off x="3151982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46000"/>
                </a:moveTo>
                <a:lnTo>
                  <a:pt x="74000" y="46000"/>
                </a:lnTo>
                <a:lnTo>
                  <a:pt x="74000" y="84000"/>
                </a:lnTo>
                <a:lnTo>
                  <a:pt x="26000" y="8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1" name="ff261"/>
          <p:cNvSpPr/>
          <p:nvPr/>
        </p:nvSpPr>
        <p:spPr>
          <a:xfrm>
            <a:off x="3151982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6000" y="46000"/>
                </a:moveTo>
                <a:lnTo>
                  <a:pt x="36000" y="36000"/>
                </a:lnTo>
                <a:cubicBezTo>
                  <a:pt x="36000" y="18000"/>
                  <a:pt x="64000" y="18000"/>
                  <a:pt x="64000" y="36000"/>
                </a:cubicBezTo>
                <a:lnTo>
                  <a:pt x="64000" y="46000"/>
                </a:lnTo>
                <a:lnTo>
                  <a:pt x="56000" y="46000"/>
                </a:lnTo>
                <a:lnTo>
                  <a:pt x="56000" y="36000"/>
                </a:lnTo>
                <a:cubicBezTo>
                  <a:pt x="56000" y="28000"/>
                  <a:pt x="44000" y="28000"/>
                  <a:pt x="44000" y="36000"/>
                </a:cubicBezTo>
                <a:lnTo>
                  <a:pt x="44000" y="4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2" name="o262"/>
          <p:cNvSpPr/>
          <p:nvPr/>
        </p:nvSpPr>
        <p:spPr>
          <a:xfrm>
            <a:off x="3273648" y="4914161"/>
            <a:ext cx="33181" cy="33181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63" name="t263"/>
          <p:cNvSpPr txBox="1"/>
          <p:nvPr/>
        </p:nvSpPr>
        <p:spPr>
          <a:xfrm>
            <a:off x="2437333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Preservation</a:t>
            </a:r>
          </a:p>
        </p:txBody>
      </p:sp>
      <p:sp>
        <p:nvSpPr>
          <p:cNvPr id="264" name="o264"/>
          <p:cNvSpPr/>
          <p:nvPr/>
        </p:nvSpPr>
        <p:spPr>
          <a:xfrm>
            <a:off x="2519629" y="4645152"/>
            <a:ext cx="237744" cy="237744"/>
          </a:xfrm>
          <a:prstGeom prst="ellipse">
            <a:avLst/>
          </a:prstGeom>
          <a:solidFill>
            <a:srgbClr val="1AA9B0"/>
          </a:solidFill>
          <a:ln>
            <a:noFill/>
          </a:ln>
        </p:spPr>
        <p:txBody>
          <a:bodyPr/>
          <a:p/>
        </p:txBody>
      </p:sp>
      <p:sp>
        <p:nvSpPr>
          <p:cNvPr id="265" name="t265"/>
          <p:cNvSpPr txBox="1"/>
          <p:nvPr/>
        </p:nvSpPr>
        <p:spPr>
          <a:xfrm>
            <a:off x="2519629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cxnSp>
        <p:nvCxnSpPr>
          <p:cNvPr id="266" name="l266"/>
          <p:cNvCxnSpPr/>
          <p:nvPr/>
        </p:nvCxnSpPr>
        <p:spPr>
          <a:xfrm>
            <a:off x="4170578" y="5047488"/>
            <a:ext cx="109728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67" name="r267"/>
          <p:cNvSpPr/>
          <p:nvPr/>
        </p:nvSpPr>
        <p:spPr>
          <a:xfrm>
            <a:off x="4307738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8" name="o268"/>
          <p:cNvSpPr/>
          <p:nvPr/>
        </p:nvSpPr>
        <p:spPr>
          <a:xfrm>
            <a:off x="4868037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9" name="o269"/>
          <p:cNvSpPr/>
          <p:nvPr/>
        </p:nvSpPr>
        <p:spPr>
          <a:xfrm>
            <a:off x="4913757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457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70" name="ff270"/>
          <p:cNvSpPr/>
          <p:nvPr/>
        </p:nvSpPr>
        <p:spPr>
          <a:xfrm>
            <a:off x="5022387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000" y="30000"/>
                </a:moveTo>
                <a:lnTo>
                  <a:pt x="30000" y="30000"/>
                </a:lnTo>
                <a:lnTo>
                  <a:pt x="38000" y="22000"/>
                </a:lnTo>
                <a:lnTo>
                  <a:pt x="62000" y="22000"/>
                </a:lnTo>
                <a:lnTo>
                  <a:pt x="70000" y="30000"/>
                </a:lnTo>
                <a:lnTo>
                  <a:pt x="86000" y="30000"/>
                </a:lnTo>
                <a:lnTo>
                  <a:pt x="86000" y="80000"/>
                </a:lnTo>
                <a:lnTo>
                  <a:pt x="14000" y="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1" name="o271"/>
          <p:cNvSpPr/>
          <p:nvPr/>
        </p:nvSpPr>
        <p:spPr>
          <a:xfrm>
            <a:off x="5110872" y="4853327"/>
            <a:ext cx="99545" cy="99545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72" name="o272"/>
          <p:cNvSpPr/>
          <p:nvPr/>
        </p:nvSpPr>
        <p:spPr>
          <a:xfrm>
            <a:off x="5127463" y="4869918"/>
            <a:ext cx="66363" cy="6636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3" name="t273"/>
          <p:cNvSpPr txBox="1"/>
          <p:nvPr/>
        </p:nvSpPr>
        <p:spPr>
          <a:xfrm>
            <a:off x="4307738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Acquisition</a:t>
            </a:r>
          </a:p>
        </p:txBody>
      </p:sp>
      <p:sp>
        <p:nvSpPr>
          <p:cNvPr id="274" name="o274"/>
          <p:cNvSpPr/>
          <p:nvPr/>
        </p:nvSpPr>
        <p:spPr>
          <a:xfrm>
            <a:off x="4390034" y="4645152"/>
            <a:ext cx="237744" cy="237744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75" name="t275"/>
          <p:cNvSpPr txBox="1"/>
          <p:nvPr/>
        </p:nvSpPr>
        <p:spPr>
          <a:xfrm>
            <a:off x="4390034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cxnSp>
        <p:nvCxnSpPr>
          <p:cNvPr id="276" name="l276"/>
          <p:cNvCxnSpPr/>
          <p:nvPr/>
        </p:nvCxnSpPr>
        <p:spPr>
          <a:xfrm>
            <a:off x="6040983" y="5047488"/>
            <a:ext cx="109728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77" name="r277"/>
          <p:cNvSpPr/>
          <p:nvPr/>
        </p:nvSpPr>
        <p:spPr>
          <a:xfrm>
            <a:off x="6178143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8" name="o278"/>
          <p:cNvSpPr/>
          <p:nvPr/>
        </p:nvSpPr>
        <p:spPr>
          <a:xfrm>
            <a:off x="6738442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1AA9B0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79" name="o279"/>
          <p:cNvSpPr/>
          <p:nvPr/>
        </p:nvSpPr>
        <p:spPr>
          <a:xfrm>
            <a:off x="6784162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1AA9B0"/>
              </a:gs>
              <a:gs pos="100000">
                <a:srgbClr val="0C5E63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80" name="ff280"/>
          <p:cNvSpPr/>
          <p:nvPr/>
        </p:nvSpPr>
        <p:spPr>
          <a:xfrm>
            <a:off x="6892792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2000" y="14000"/>
                </a:moveTo>
                <a:lnTo>
                  <a:pt x="60000" y="14000"/>
                </a:lnTo>
                <a:lnTo>
                  <a:pt x="78000" y="32000"/>
                </a:lnTo>
                <a:lnTo>
                  <a:pt x="78000" y="86000"/>
                </a:lnTo>
                <a:lnTo>
                  <a:pt x="22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1" name="o281"/>
          <p:cNvSpPr/>
          <p:nvPr/>
        </p:nvSpPr>
        <p:spPr>
          <a:xfrm>
            <a:off x="7003398" y="4864388"/>
            <a:ext cx="82954" cy="82954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82" name="o282"/>
          <p:cNvSpPr/>
          <p:nvPr/>
        </p:nvSpPr>
        <p:spPr>
          <a:xfrm>
            <a:off x="7019989" y="4880979"/>
            <a:ext cx="49772" cy="497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3" name="t283"/>
          <p:cNvSpPr txBox="1"/>
          <p:nvPr/>
        </p:nvSpPr>
        <p:spPr>
          <a:xfrm>
            <a:off x="6178143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Examination</a:t>
            </a:r>
          </a:p>
        </p:txBody>
      </p:sp>
      <p:sp>
        <p:nvSpPr>
          <p:cNvPr id="284" name="o284"/>
          <p:cNvSpPr/>
          <p:nvPr/>
        </p:nvSpPr>
        <p:spPr>
          <a:xfrm>
            <a:off x="6260439" y="4645152"/>
            <a:ext cx="237744" cy="237744"/>
          </a:xfrm>
          <a:prstGeom prst="ellipse">
            <a:avLst/>
          </a:prstGeom>
          <a:solidFill>
            <a:srgbClr val="1AA9B0"/>
          </a:solidFill>
          <a:ln>
            <a:noFill/>
          </a:ln>
        </p:spPr>
        <p:txBody>
          <a:bodyPr/>
          <a:p/>
        </p:txBody>
      </p:sp>
      <p:sp>
        <p:nvSpPr>
          <p:cNvPr id="285" name="t285"/>
          <p:cNvSpPr txBox="1"/>
          <p:nvPr/>
        </p:nvSpPr>
        <p:spPr>
          <a:xfrm>
            <a:off x="6260439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cxnSp>
        <p:nvCxnSpPr>
          <p:cNvPr id="286" name="l286"/>
          <p:cNvCxnSpPr/>
          <p:nvPr/>
        </p:nvCxnSpPr>
        <p:spPr>
          <a:xfrm>
            <a:off x="7911388" y="5047488"/>
            <a:ext cx="109728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87" name="r287"/>
          <p:cNvSpPr/>
          <p:nvPr/>
        </p:nvSpPr>
        <p:spPr>
          <a:xfrm>
            <a:off x="8048548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88" name="o288"/>
          <p:cNvSpPr/>
          <p:nvPr/>
        </p:nvSpPr>
        <p:spPr>
          <a:xfrm>
            <a:off x="8608847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9" name="o289"/>
          <p:cNvSpPr/>
          <p:nvPr/>
        </p:nvSpPr>
        <p:spPr>
          <a:xfrm>
            <a:off x="8654567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457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90" name="o290"/>
          <p:cNvSpPr/>
          <p:nvPr/>
        </p:nvSpPr>
        <p:spPr>
          <a:xfrm>
            <a:off x="8785319" y="4775903"/>
            <a:ext cx="232272" cy="232272"/>
          </a:xfrm>
          <a:prstGeom prst="ellipse">
            <a:avLst/>
          </a:prstGeom>
          <a:noFill/>
          <a:ln w="3302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91" name="o291"/>
          <p:cNvSpPr/>
          <p:nvPr/>
        </p:nvSpPr>
        <p:spPr>
          <a:xfrm>
            <a:off x="8815735" y="4806320"/>
            <a:ext cx="171439" cy="171439"/>
          </a:xfrm>
          <a:prstGeom prst="ellipse">
            <a:avLst/>
          </a:prstGeom>
          <a:noFill/>
          <a:ln w="3302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92" name="o292"/>
          <p:cNvSpPr/>
          <p:nvPr/>
        </p:nvSpPr>
        <p:spPr>
          <a:xfrm>
            <a:off x="8846152" y="4836737"/>
            <a:ext cx="110605" cy="110605"/>
          </a:xfrm>
          <a:prstGeom prst="ellipse">
            <a:avLst/>
          </a:prstGeom>
          <a:noFill/>
          <a:ln w="3302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93" name="o293"/>
          <p:cNvSpPr/>
          <p:nvPr/>
        </p:nvSpPr>
        <p:spPr>
          <a:xfrm>
            <a:off x="8884864" y="4875449"/>
            <a:ext cx="33181" cy="331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4" name="t294"/>
          <p:cNvSpPr txBox="1"/>
          <p:nvPr/>
        </p:nvSpPr>
        <p:spPr>
          <a:xfrm>
            <a:off x="8048548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Analysis</a:t>
            </a:r>
          </a:p>
        </p:txBody>
      </p:sp>
      <p:sp>
        <p:nvSpPr>
          <p:cNvPr id="295" name="o295"/>
          <p:cNvSpPr/>
          <p:nvPr/>
        </p:nvSpPr>
        <p:spPr>
          <a:xfrm>
            <a:off x="8130844" y="4645152"/>
            <a:ext cx="237744" cy="237744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96" name="t296"/>
          <p:cNvSpPr txBox="1"/>
          <p:nvPr/>
        </p:nvSpPr>
        <p:spPr>
          <a:xfrm>
            <a:off x="8130844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cxnSp>
        <p:nvCxnSpPr>
          <p:cNvPr id="297" name="l297"/>
          <p:cNvCxnSpPr/>
          <p:nvPr/>
        </p:nvCxnSpPr>
        <p:spPr>
          <a:xfrm>
            <a:off x="9781794" y="5047488"/>
            <a:ext cx="109728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98" name="r298"/>
          <p:cNvSpPr/>
          <p:nvPr/>
        </p:nvSpPr>
        <p:spPr>
          <a:xfrm>
            <a:off x="9918954" y="4562856"/>
            <a:ext cx="1705813" cy="969264"/>
          </a:xfrm>
          <a:prstGeom prst="roundRect">
            <a:avLst>
              <a:gd name="adj" fmla="val 7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99" name="o299"/>
          <p:cNvSpPr/>
          <p:nvPr/>
        </p:nvSpPr>
        <p:spPr>
          <a:xfrm>
            <a:off x="10479252" y="4599432"/>
            <a:ext cx="585216" cy="585216"/>
          </a:xfrm>
          <a:prstGeom prst="ellipse">
            <a:avLst/>
          </a:prstGeom>
          <a:noFill/>
          <a:ln w="17780" cap="rnd">
            <a:solidFill>
              <a:srgbClr val="1AA9B0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00" name="o300"/>
          <p:cNvSpPr/>
          <p:nvPr/>
        </p:nvSpPr>
        <p:spPr>
          <a:xfrm>
            <a:off x="10524972" y="4645152"/>
            <a:ext cx="493776" cy="493776"/>
          </a:xfrm>
          <a:prstGeom prst="ellipse">
            <a:avLst/>
          </a:prstGeom>
          <a:gradFill rotWithShape="1">
            <a:gsLst>
              <a:gs pos="0">
                <a:srgbClr val="1AA9B0"/>
              </a:gs>
              <a:gs pos="100000">
                <a:srgbClr val="0C5E63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01" name="ff301"/>
          <p:cNvSpPr/>
          <p:nvPr/>
        </p:nvSpPr>
        <p:spPr>
          <a:xfrm>
            <a:off x="10633603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12000"/>
                </a:moveTo>
                <a:lnTo>
                  <a:pt x="62000" y="12000"/>
                </a:lnTo>
                <a:lnTo>
                  <a:pt x="78000" y="28000"/>
                </a:lnTo>
                <a:lnTo>
                  <a:pt x="78000" y="88000"/>
                </a:lnTo>
                <a:lnTo>
                  <a:pt x="24000" y="8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2" name="ff302"/>
          <p:cNvSpPr/>
          <p:nvPr/>
        </p:nvSpPr>
        <p:spPr>
          <a:xfrm>
            <a:off x="10633603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4000" y="62000"/>
                </a:moveTo>
                <a:lnTo>
                  <a:pt x="42000" y="62000"/>
                </a:lnTo>
                <a:lnTo>
                  <a:pt x="42000" y="74000"/>
                </a:lnTo>
                <a:lnTo>
                  <a:pt x="34000" y="74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3" name="ff303"/>
          <p:cNvSpPr/>
          <p:nvPr/>
        </p:nvSpPr>
        <p:spPr>
          <a:xfrm>
            <a:off x="10633603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8000" y="52000"/>
                </a:moveTo>
                <a:lnTo>
                  <a:pt x="56000" y="52000"/>
                </a:lnTo>
                <a:lnTo>
                  <a:pt x="56000" y="74000"/>
                </a:lnTo>
                <a:lnTo>
                  <a:pt x="48000" y="74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4" name="ff304"/>
          <p:cNvSpPr/>
          <p:nvPr/>
        </p:nvSpPr>
        <p:spPr>
          <a:xfrm>
            <a:off x="10633603" y="4753782"/>
            <a:ext cx="276514" cy="27651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62000" y="44000"/>
                </a:moveTo>
                <a:lnTo>
                  <a:pt x="70000" y="44000"/>
                </a:lnTo>
                <a:lnTo>
                  <a:pt x="70000" y="74000"/>
                </a:lnTo>
                <a:lnTo>
                  <a:pt x="62000" y="74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5" name="t305"/>
          <p:cNvSpPr txBox="1"/>
          <p:nvPr/>
        </p:nvSpPr>
        <p:spPr>
          <a:xfrm>
            <a:off x="9918954" y="5166360"/>
            <a:ext cx="1705813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Reporting</a:t>
            </a:r>
          </a:p>
        </p:txBody>
      </p:sp>
      <p:sp>
        <p:nvSpPr>
          <p:cNvPr id="306" name="o306"/>
          <p:cNvSpPr/>
          <p:nvPr/>
        </p:nvSpPr>
        <p:spPr>
          <a:xfrm>
            <a:off x="10001250" y="4645152"/>
            <a:ext cx="237744" cy="237744"/>
          </a:xfrm>
          <a:prstGeom prst="ellipse">
            <a:avLst/>
          </a:prstGeom>
          <a:solidFill>
            <a:srgbClr val="1AA9B0"/>
          </a:solidFill>
          <a:ln>
            <a:noFill/>
          </a:ln>
        </p:spPr>
        <p:txBody>
          <a:bodyPr/>
          <a:p/>
        </p:txBody>
      </p:sp>
      <p:sp>
        <p:nvSpPr>
          <p:cNvPr id="307" name="t307"/>
          <p:cNvSpPr txBox="1"/>
          <p:nvPr/>
        </p:nvSpPr>
        <p:spPr>
          <a:xfrm>
            <a:off x="10001250" y="4645152"/>
            <a:ext cx="2377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566928" y="5696712"/>
            <a:ext cx="110578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FB020"/>
                </a:solidFill>
                <a:latin typeface="Segoe UI"/>
                <a:cs typeface="Segoe UI"/>
              </a:rPr>
              <a:t>Both incidents follow the same six phases — but the cloud investigation depends heavily on CSP cooperation.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DESKTOP VS CLOUD · AT A GLANCE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  <a:cs typeface="Poppins"/>
              </a:rPr>
              <a:t>Key Differences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05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o244"/>
          <p:cNvSpPr/>
          <p:nvPr/>
        </p:nvSpPr>
        <p:spPr>
          <a:xfrm>
            <a:off x="7818120" y="548640"/>
            <a:ext cx="164592" cy="164592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5" name="t245"/>
          <p:cNvSpPr txBox="1"/>
          <p:nvPr/>
        </p:nvSpPr>
        <p:spPr>
          <a:xfrm>
            <a:off x="8046720" y="457200"/>
            <a:ext cx="109728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7BC0FF"/>
                </a:solidFill>
                <a:latin typeface="Segoe UI"/>
                <a:cs typeface="Segoe UI"/>
              </a:rPr>
              <a:t>Desktop</a:t>
            </a:r>
          </a:p>
        </p:txBody>
      </p:sp>
      <p:sp>
        <p:nvSpPr>
          <p:cNvPr id="246" name="o246"/>
          <p:cNvSpPr/>
          <p:nvPr/>
        </p:nvSpPr>
        <p:spPr>
          <a:xfrm>
            <a:off x="9464040" y="548640"/>
            <a:ext cx="164592" cy="164592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7" name="t247"/>
          <p:cNvSpPr txBox="1"/>
          <p:nvPr/>
        </p:nvSpPr>
        <p:spPr>
          <a:xfrm>
            <a:off x="9692640" y="457200"/>
            <a:ext cx="146304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5FF3EC"/>
                </a:solidFill>
                <a:latin typeface="Segoe UI"/>
                <a:cs typeface="Segoe UI"/>
              </a:rPr>
              <a:t>Cloud</a:t>
            </a:r>
          </a:p>
        </p:txBody>
      </p:sp>
      <p:sp>
        <p:nvSpPr>
          <p:cNvPr id="248" name="r248"/>
          <p:cNvSpPr/>
          <p:nvPr/>
        </p:nvSpPr>
        <p:spPr>
          <a:xfrm>
            <a:off x="566928" y="1664208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49" name="o249"/>
          <p:cNvSpPr/>
          <p:nvPr/>
        </p:nvSpPr>
        <p:spPr>
          <a:xfrm>
            <a:off x="694944" y="1691639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0" name="o250"/>
          <p:cNvSpPr/>
          <p:nvPr/>
        </p:nvSpPr>
        <p:spPr>
          <a:xfrm>
            <a:off x="740664" y="1737360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1" name="o251"/>
          <p:cNvSpPr/>
          <p:nvPr/>
        </p:nvSpPr>
        <p:spPr>
          <a:xfrm>
            <a:off x="858270" y="1854966"/>
            <a:ext cx="185411" cy="185411"/>
          </a:xfrm>
          <a:prstGeom prst="ellipse">
            <a:avLst/>
          </a:prstGeom>
          <a:noFill/>
          <a:ln w="3302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52" name="o252"/>
          <p:cNvSpPr/>
          <p:nvPr/>
        </p:nvSpPr>
        <p:spPr>
          <a:xfrm>
            <a:off x="911942" y="1854966"/>
            <a:ext cx="78067" cy="185411"/>
          </a:xfrm>
          <a:prstGeom prst="ellipse">
            <a:avLst/>
          </a:prstGeom>
          <a:noFill/>
          <a:ln w="25400" cap="rnd">
            <a:solidFill>
              <a:srgbClr val="FFFFFF"/>
            </a:solidFill>
          </a:ln>
        </p:spPr>
        <p:txBody>
          <a:bodyPr/>
          <a:p/>
        </p:txBody>
      </p:sp>
      <p:cxnSp>
        <p:nvCxnSpPr>
          <p:cNvPr id="253" name="l253"/>
          <p:cNvCxnSpPr/>
          <p:nvPr/>
        </p:nvCxnSpPr>
        <p:spPr>
          <a:xfrm>
            <a:off x="858270" y="1947672"/>
            <a:ext cx="185411" cy="0"/>
          </a:xfrm>
          <a:prstGeom prst="line">
            <a:avLst/>
          </a:prstGeom>
          <a:ln w="25400" cap="rnd">
            <a:solidFill>
              <a:srgbClr val="FFFFFF"/>
            </a:solidFill>
          </a:ln>
        </p:spPr>
      </p:cxnSp>
      <p:sp>
        <p:nvSpPr>
          <p:cNvPr id="254" name="t254"/>
          <p:cNvSpPr txBox="1"/>
          <p:nvPr/>
        </p:nvSpPr>
        <p:spPr>
          <a:xfrm>
            <a:off x="1316736" y="1664208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Evidence Location</a:t>
            </a:r>
          </a:p>
        </p:txBody>
      </p:sp>
      <p:sp>
        <p:nvSpPr>
          <p:cNvPr id="255" name="r255"/>
          <p:cNvSpPr/>
          <p:nvPr/>
        </p:nvSpPr>
        <p:spPr>
          <a:xfrm>
            <a:off x="4114800" y="1664208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56" name="r256"/>
          <p:cNvSpPr/>
          <p:nvPr/>
        </p:nvSpPr>
        <p:spPr>
          <a:xfrm>
            <a:off x="4114800" y="1664208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57" name="t257"/>
          <p:cNvSpPr txBox="1"/>
          <p:nvPr/>
        </p:nvSpPr>
        <p:spPr>
          <a:xfrm>
            <a:off x="4352544" y="1664208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On the local device</a:t>
            </a:r>
          </a:p>
        </p:txBody>
      </p:sp>
      <p:sp>
        <p:nvSpPr>
          <p:cNvPr id="258" name="r258"/>
          <p:cNvSpPr/>
          <p:nvPr/>
        </p:nvSpPr>
        <p:spPr>
          <a:xfrm>
            <a:off x="8257031" y="1664208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59" name="r259"/>
          <p:cNvSpPr/>
          <p:nvPr/>
        </p:nvSpPr>
        <p:spPr>
          <a:xfrm>
            <a:off x="8257031" y="1664208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60" name="t260"/>
          <p:cNvSpPr txBox="1"/>
          <p:nvPr/>
        </p:nvSpPr>
        <p:spPr>
          <a:xfrm>
            <a:off x="8494776" y="1664208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Distributed across data centres</a:t>
            </a:r>
          </a:p>
        </p:txBody>
      </p:sp>
      <p:sp>
        <p:nvSpPr>
          <p:cNvPr id="261" name="r261"/>
          <p:cNvSpPr/>
          <p:nvPr/>
        </p:nvSpPr>
        <p:spPr>
          <a:xfrm>
            <a:off x="566928" y="2336292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2" name="o262"/>
          <p:cNvSpPr/>
          <p:nvPr/>
        </p:nvSpPr>
        <p:spPr>
          <a:xfrm>
            <a:off x="694944" y="2363724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3" name="o263"/>
          <p:cNvSpPr/>
          <p:nvPr/>
        </p:nvSpPr>
        <p:spPr>
          <a:xfrm>
            <a:off x="740664" y="2409444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64" name="ff264"/>
          <p:cNvSpPr/>
          <p:nvPr/>
        </p:nvSpPr>
        <p:spPr>
          <a:xfrm>
            <a:off x="828995" y="2497775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46000"/>
                </a:moveTo>
                <a:lnTo>
                  <a:pt x="74000" y="46000"/>
                </a:lnTo>
                <a:lnTo>
                  <a:pt x="74000" y="84000"/>
                </a:lnTo>
                <a:lnTo>
                  <a:pt x="26000" y="8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5" name="ff265"/>
          <p:cNvSpPr/>
          <p:nvPr/>
        </p:nvSpPr>
        <p:spPr>
          <a:xfrm>
            <a:off x="828995" y="2497775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6000" y="46000"/>
                </a:moveTo>
                <a:lnTo>
                  <a:pt x="36000" y="36000"/>
                </a:lnTo>
                <a:cubicBezTo>
                  <a:pt x="36000" y="18000"/>
                  <a:pt x="64000" y="18000"/>
                  <a:pt x="64000" y="36000"/>
                </a:cubicBezTo>
                <a:lnTo>
                  <a:pt x="64000" y="46000"/>
                </a:lnTo>
                <a:lnTo>
                  <a:pt x="56000" y="46000"/>
                </a:lnTo>
                <a:lnTo>
                  <a:pt x="56000" y="36000"/>
                </a:lnTo>
                <a:cubicBezTo>
                  <a:pt x="56000" y="28000"/>
                  <a:pt x="44000" y="28000"/>
                  <a:pt x="44000" y="36000"/>
                </a:cubicBezTo>
                <a:lnTo>
                  <a:pt x="44000" y="4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6" name="o266"/>
          <p:cNvSpPr/>
          <p:nvPr/>
        </p:nvSpPr>
        <p:spPr>
          <a:xfrm>
            <a:off x="936338" y="2639272"/>
            <a:ext cx="29275" cy="29275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67" name="t267"/>
          <p:cNvSpPr txBox="1"/>
          <p:nvPr/>
        </p:nvSpPr>
        <p:spPr>
          <a:xfrm>
            <a:off x="1316736" y="2336292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Physical Control</a:t>
            </a:r>
          </a:p>
        </p:txBody>
      </p:sp>
      <p:sp>
        <p:nvSpPr>
          <p:cNvPr id="268" name="r268"/>
          <p:cNvSpPr/>
          <p:nvPr/>
        </p:nvSpPr>
        <p:spPr>
          <a:xfrm>
            <a:off x="4114800" y="2336292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69" name="r269"/>
          <p:cNvSpPr/>
          <p:nvPr/>
        </p:nvSpPr>
        <p:spPr>
          <a:xfrm>
            <a:off x="4114800" y="2336292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70" name="t270"/>
          <p:cNvSpPr txBox="1"/>
          <p:nvPr/>
        </p:nvSpPr>
        <p:spPr>
          <a:xfrm>
            <a:off x="4352544" y="2336292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Full, direct control</a:t>
            </a:r>
          </a:p>
        </p:txBody>
      </p:sp>
      <p:sp>
        <p:nvSpPr>
          <p:cNvPr id="271" name="r271"/>
          <p:cNvSpPr/>
          <p:nvPr/>
        </p:nvSpPr>
        <p:spPr>
          <a:xfrm>
            <a:off x="8257031" y="2336292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72" name="r272"/>
          <p:cNvSpPr/>
          <p:nvPr/>
        </p:nvSpPr>
        <p:spPr>
          <a:xfrm>
            <a:off x="8257031" y="2336292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73" name="t273"/>
          <p:cNvSpPr txBox="1"/>
          <p:nvPr/>
        </p:nvSpPr>
        <p:spPr>
          <a:xfrm>
            <a:off x="8494776" y="2336292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None — held by the CSP</a:t>
            </a:r>
          </a:p>
        </p:txBody>
      </p:sp>
      <p:sp>
        <p:nvSpPr>
          <p:cNvPr id="274" name="r274"/>
          <p:cNvSpPr/>
          <p:nvPr/>
        </p:nvSpPr>
        <p:spPr>
          <a:xfrm>
            <a:off x="566928" y="3008376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5" name="o275"/>
          <p:cNvSpPr/>
          <p:nvPr/>
        </p:nvSpPr>
        <p:spPr>
          <a:xfrm>
            <a:off x="694944" y="3035808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76" name="o276"/>
          <p:cNvSpPr/>
          <p:nvPr/>
        </p:nvSpPr>
        <p:spPr>
          <a:xfrm>
            <a:off x="740664" y="3081528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77" name="ff277"/>
          <p:cNvSpPr/>
          <p:nvPr/>
        </p:nvSpPr>
        <p:spPr>
          <a:xfrm>
            <a:off x="828995" y="3169859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000" y="30000"/>
                </a:moveTo>
                <a:lnTo>
                  <a:pt x="30000" y="30000"/>
                </a:lnTo>
                <a:lnTo>
                  <a:pt x="38000" y="22000"/>
                </a:lnTo>
                <a:lnTo>
                  <a:pt x="62000" y="22000"/>
                </a:lnTo>
                <a:lnTo>
                  <a:pt x="70000" y="30000"/>
                </a:lnTo>
                <a:lnTo>
                  <a:pt x="86000" y="30000"/>
                </a:lnTo>
                <a:lnTo>
                  <a:pt x="86000" y="80000"/>
                </a:lnTo>
                <a:lnTo>
                  <a:pt x="14000" y="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8" name="o278"/>
          <p:cNvSpPr/>
          <p:nvPr/>
        </p:nvSpPr>
        <p:spPr>
          <a:xfrm>
            <a:off x="907062" y="3257685"/>
            <a:ext cx="87826" cy="87826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79" name="o279"/>
          <p:cNvSpPr/>
          <p:nvPr/>
        </p:nvSpPr>
        <p:spPr>
          <a:xfrm>
            <a:off x="921700" y="3272323"/>
            <a:ext cx="58550" cy="585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0" name="t280"/>
          <p:cNvSpPr txBox="1"/>
          <p:nvPr/>
        </p:nvSpPr>
        <p:spPr>
          <a:xfrm>
            <a:off x="1316736" y="3008376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Evidence Acquisition</a:t>
            </a:r>
          </a:p>
        </p:txBody>
      </p:sp>
      <p:sp>
        <p:nvSpPr>
          <p:cNvPr id="281" name="r281"/>
          <p:cNvSpPr/>
          <p:nvPr/>
        </p:nvSpPr>
        <p:spPr>
          <a:xfrm>
            <a:off x="4114800" y="3008376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82" name="r282"/>
          <p:cNvSpPr/>
          <p:nvPr/>
        </p:nvSpPr>
        <p:spPr>
          <a:xfrm>
            <a:off x="4114800" y="3008376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83" name="t283"/>
          <p:cNvSpPr txBox="1"/>
          <p:nvPr/>
        </p:nvSpPr>
        <p:spPr>
          <a:xfrm>
            <a:off x="4352544" y="3008376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Direct forensic imaging</a:t>
            </a:r>
          </a:p>
        </p:txBody>
      </p:sp>
      <p:sp>
        <p:nvSpPr>
          <p:cNvPr id="284" name="r284"/>
          <p:cNvSpPr/>
          <p:nvPr/>
        </p:nvSpPr>
        <p:spPr>
          <a:xfrm>
            <a:off x="8257031" y="3008376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85" name="r285"/>
          <p:cNvSpPr/>
          <p:nvPr/>
        </p:nvSpPr>
        <p:spPr>
          <a:xfrm>
            <a:off x="8257031" y="3008376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86" name="t286"/>
          <p:cNvSpPr txBox="1"/>
          <p:nvPr/>
        </p:nvSpPr>
        <p:spPr>
          <a:xfrm>
            <a:off x="8494776" y="3008376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CSP-assisted snapshot / export</a:t>
            </a:r>
          </a:p>
        </p:txBody>
      </p:sp>
      <p:sp>
        <p:nvSpPr>
          <p:cNvPr id="287" name="r287"/>
          <p:cNvSpPr/>
          <p:nvPr/>
        </p:nvSpPr>
        <p:spPr>
          <a:xfrm>
            <a:off x="566928" y="3680460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88" name="o288"/>
          <p:cNvSpPr/>
          <p:nvPr/>
        </p:nvSpPr>
        <p:spPr>
          <a:xfrm>
            <a:off x="694944" y="3707891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9" name="o289"/>
          <p:cNvSpPr/>
          <p:nvPr/>
        </p:nvSpPr>
        <p:spPr>
          <a:xfrm>
            <a:off x="740664" y="3753611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90" name="r290"/>
          <p:cNvSpPr/>
          <p:nvPr/>
        </p:nvSpPr>
        <p:spPr>
          <a:xfrm>
            <a:off x="863149" y="3939527"/>
            <a:ext cx="87826" cy="48792"/>
          </a:xfrm>
          <a:prstGeom prst="roundRect">
            <a:avLst>
              <a:gd name="adj" fmla="val 50000"/>
            </a:avLst>
          </a:prstGeom>
          <a:noFill/>
          <a:ln w="3810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91" name="r291"/>
          <p:cNvSpPr/>
          <p:nvPr/>
        </p:nvSpPr>
        <p:spPr>
          <a:xfrm>
            <a:off x="950976" y="3939527"/>
            <a:ext cx="87826" cy="48792"/>
          </a:xfrm>
          <a:prstGeom prst="roundRect">
            <a:avLst>
              <a:gd name="adj" fmla="val 50000"/>
            </a:avLst>
          </a:prstGeom>
          <a:noFill/>
          <a:ln w="3810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92" name="ff292"/>
          <p:cNvSpPr/>
          <p:nvPr/>
        </p:nvSpPr>
        <p:spPr>
          <a:xfrm>
            <a:off x="828995" y="3841943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0000" y="48000"/>
                </a:moveTo>
                <a:lnTo>
                  <a:pt x="60000" y="48000"/>
                </a:lnTo>
                <a:lnTo>
                  <a:pt x="60000" y="52000"/>
                </a:lnTo>
                <a:lnTo>
                  <a:pt x="40000" y="5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3" name="t293"/>
          <p:cNvSpPr txBox="1"/>
          <p:nvPr/>
        </p:nvSpPr>
        <p:spPr>
          <a:xfrm>
            <a:off x="1316736" y="3680460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Chain of Custody</a:t>
            </a:r>
          </a:p>
        </p:txBody>
      </p:sp>
      <p:sp>
        <p:nvSpPr>
          <p:cNvPr id="294" name="r294"/>
          <p:cNvSpPr/>
          <p:nvPr/>
        </p:nvSpPr>
        <p:spPr>
          <a:xfrm>
            <a:off x="4114800" y="3680460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95" name="r295"/>
          <p:cNvSpPr/>
          <p:nvPr/>
        </p:nvSpPr>
        <p:spPr>
          <a:xfrm>
            <a:off x="4114800" y="3680460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296" name="t296"/>
          <p:cNvSpPr txBox="1"/>
          <p:nvPr/>
        </p:nvSpPr>
        <p:spPr>
          <a:xfrm>
            <a:off x="4352544" y="3680460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Investigator-owned</a:t>
            </a:r>
          </a:p>
        </p:txBody>
      </p:sp>
      <p:sp>
        <p:nvSpPr>
          <p:cNvPr id="297" name="r297"/>
          <p:cNvSpPr/>
          <p:nvPr/>
        </p:nvSpPr>
        <p:spPr>
          <a:xfrm>
            <a:off x="8257031" y="3680460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298" name="r298"/>
          <p:cNvSpPr/>
          <p:nvPr/>
        </p:nvSpPr>
        <p:spPr>
          <a:xfrm>
            <a:off x="8257031" y="3680460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99" name="t299"/>
          <p:cNvSpPr txBox="1"/>
          <p:nvPr/>
        </p:nvSpPr>
        <p:spPr>
          <a:xfrm>
            <a:off x="8494776" y="3680460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Shared with the CSP</a:t>
            </a:r>
          </a:p>
        </p:txBody>
      </p:sp>
      <p:sp>
        <p:nvSpPr>
          <p:cNvPr id="300" name="r300"/>
          <p:cNvSpPr/>
          <p:nvPr/>
        </p:nvSpPr>
        <p:spPr>
          <a:xfrm>
            <a:off x="566928" y="4352544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01" name="o301"/>
          <p:cNvSpPr/>
          <p:nvPr/>
        </p:nvSpPr>
        <p:spPr>
          <a:xfrm>
            <a:off x="694944" y="4379975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02" name="o302"/>
          <p:cNvSpPr/>
          <p:nvPr/>
        </p:nvSpPr>
        <p:spPr>
          <a:xfrm>
            <a:off x="740664" y="4425695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cxnSp>
        <p:nvCxnSpPr>
          <p:cNvPr id="303" name="l303"/>
          <p:cNvCxnSpPr/>
          <p:nvPr/>
        </p:nvCxnSpPr>
        <p:spPr>
          <a:xfrm flipH="1">
            <a:off x="882666" y="4567698"/>
            <a:ext cx="68310" cy="117102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cxnSp>
        <p:nvCxnSpPr>
          <p:cNvPr id="304" name="l304"/>
          <p:cNvCxnSpPr/>
          <p:nvPr/>
        </p:nvCxnSpPr>
        <p:spPr>
          <a:xfrm>
            <a:off x="950976" y="4567698"/>
            <a:ext cx="68309" cy="117102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cxnSp>
        <p:nvCxnSpPr>
          <p:cNvPr id="305" name="l305"/>
          <p:cNvCxnSpPr/>
          <p:nvPr/>
        </p:nvCxnSpPr>
        <p:spPr>
          <a:xfrm>
            <a:off x="882666" y="4689679"/>
            <a:ext cx="136619" cy="0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sp>
        <p:nvSpPr>
          <p:cNvPr id="306" name="o306"/>
          <p:cNvSpPr/>
          <p:nvPr/>
        </p:nvSpPr>
        <p:spPr>
          <a:xfrm>
            <a:off x="931459" y="4538423"/>
            <a:ext cx="39033" cy="390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7" name="o307"/>
          <p:cNvSpPr/>
          <p:nvPr/>
        </p:nvSpPr>
        <p:spPr>
          <a:xfrm>
            <a:off x="858270" y="4670162"/>
            <a:ext cx="39033" cy="390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8" name="o308"/>
          <p:cNvSpPr/>
          <p:nvPr/>
        </p:nvSpPr>
        <p:spPr>
          <a:xfrm>
            <a:off x="1004647" y="4670162"/>
            <a:ext cx="39033" cy="390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9" name="t309"/>
          <p:cNvSpPr txBox="1"/>
          <p:nvPr/>
        </p:nvSpPr>
        <p:spPr>
          <a:xfrm>
            <a:off x="1316736" y="4352544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Data Distribution</a:t>
            </a:r>
          </a:p>
        </p:txBody>
      </p:sp>
      <p:sp>
        <p:nvSpPr>
          <p:cNvPr id="310" name="r310"/>
          <p:cNvSpPr/>
          <p:nvPr/>
        </p:nvSpPr>
        <p:spPr>
          <a:xfrm>
            <a:off x="4114800" y="4352544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311" name="r311"/>
          <p:cNvSpPr/>
          <p:nvPr/>
        </p:nvSpPr>
        <p:spPr>
          <a:xfrm>
            <a:off x="4114800" y="4352544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312" name="t312"/>
          <p:cNvSpPr txBox="1"/>
          <p:nvPr/>
        </p:nvSpPr>
        <p:spPr>
          <a:xfrm>
            <a:off x="4352544" y="4352544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Single machine</a:t>
            </a:r>
          </a:p>
        </p:txBody>
      </p:sp>
      <p:sp>
        <p:nvSpPr>
          <p:cNvPr id="313" name="r313"/>
          <p:cNvSpPr/>
          <p:nvPr/>
        </p:nvSpPr>
        <p:spPr>
          <a:xfrm>
            <a:off x="8257031" y="4352544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314" name="r314"/>
          <p:cNvSpPr/>
          <p:nvPr/>
        </p:nvSpPr>
        <p:spPr>
          <a:xfrm>
            <a:off x="8257031" y="4352544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315" name="t315"/>
          <p:cNvSpPr txBox="1"/>
          <p:nvPr/>
        </p:nvSpPr>
        <p:spPr>
          <a:xfrm>
            <a:off x="8494776" y="4352544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Multi-tenant &amp; replicated</a:t>
            </a:r>
          </a:p>
        </p:txBody>
      </p:sp>
      <p:sp>
        <p:nvSpPr>
          <p:cNvPr id="316" name="r316"/>
          <p:cNvSpPr/>
          <p:nvPr/>
        </p:nvSpPr>
        <p:spPr>
          <a:xfrm>
            <a:off x="566928" y="5024628"/>
            <a:ext cx="3383280" cy="566928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270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17" name="o317"/>
          <p:cNvSpPr/>
          <p:nvPr/>
        </p:nvSpPr>
        <p:spPr>
          <a:xfrm>
            <a:off x="694944" y="5052059"/>
            <a:ext cx="512064" cy="512064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18" name="o318"/>
          <p:cNvSpPr/>
          <p:nvPr/>
        </p:nvSpPr>
        <p:spPr>
          <a:xfrm>
            <a:off x="740664" y="5097779"/>
            <a:ext cx="420624" cy="420624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19" name="ff319"/>
          <p:cNvSpPr/>
          <p:nvPr/>
        </p:nvSpPr>
        <p:spPr>
          <a:xfrm>
            <a:off x="828995" y="5186111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0000" y="66000"/>
                </a:moveTo>
                <a:lnTo>
                  <a:pt x="48000" y="38000"/>
                </a:lnTo>
                <a:lnTo>
                  <a:pt x="62000" y="52000"/>
                </a:lnTo>
                <a:lnTo>
                  <a:pt x="34000" y="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0" name="ff320"/>
          <p:cNvSpPr/>
          <p:nvPr/>
        </p:nvSpPr>
        <p:spPr>
          <a:xfrm>
            <a:off x="828995" y="5186111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2000" y="20000"/>
                </a:moveTo>
                <a:lnTo>
                  <a:pt x="80000" y="48000"/>
                </a:lnTo>
                <a:lnTo>
                  <a:pt x="70000" y="58000"/>
                </a:lnTo>
                <a:lnTo>
                  <a:pt x="42000" y="3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1" name="ff321"/>
          <p:cNvSpPr/>
          <p:nvPr/>
        </p:nvSpPr>
        <p:spPr>
          <a:xfrm>
            <a:off x="828995" y="5186111"/>
            <a:ext cx="243961" cy="24396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84000"/>
                </a:moveTo>
                <a:lnTo>
                  <a:pt x="64000" y="84000"/>
                </a:lnTo>
                <a:lnTo>
                  <a:pt x="64000" y="90000"/>
                </a:lnTo>
                <a:lnTo>
                  <a:pt x="24000" y="9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2" name="t322"/>
          <p:cNvSpPr txBox="1"/>
          <p:nvPr/>
        </p:nvSpPr>
        <p:spPr>
          <a:xfrm>
            <a:off x="1316736" y="5024628"/>
            <a:ext cx="24688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Legal / Jurisdiction</a:t>
            </a:r>
          </a:p>
        </p:txBody>
      </p:sp>
      <p:sp>
        <p:nvSpPr>
          <p:cNvPr id="323" name="r323"/>
          <p:cNvSpPr/>
          <p:nvPr/>
        </p:nvSpPr>
        <p:spPr>
          <a:xfrm>
            <a:off x="4114800" y="5024628"/>
            <a:ext cx="3977639" cy="566928"/>
          </a:xfrm>
          <a:prstGeom prst="roundRect">
            <a:avLst>
              <a:gd name="adj" fmla="val 9000"/>
            </a:avLst>
          </a:prstGeom>
          <a:solidFill>
            <a:srgbClr val="0C2138"/>
          </a:solidFill>
          <a:ln w="12700" cap="rnd">
            <a:solidFill>
              <a:srgbClr val="2E9BFF">
                <a:alpha val="45000"/>
              </a:srgbClr>
            </a:solidFill>
          </a:ln>
        </p:spPr>
        <p:txBody>
          <a:bodyPr/>
          <a:p/>
        </p:txBody>
      </p:sp>
      <p:sp>
        <p:nvSpPr>
          <p:cNvPr id="324" name="r324"/>
          <p:cNvSpPr/>
          <p:nvPr/>
        </p:nvSpPr>
        <p:spPr>
          <a:xfrm>
            <a:off x="4114800" y="5024628"/>
            <a:ext cx="54864" cy="566928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/>
          <a:p/>
        </p:txBody>
      </p:sp>
      <p:sp>
        <p:nvSpPr>
          <p:cNvPr id="325" name="t325"/>
          <p:cNvSpPr txBox="1"/>
          <p:nvPr/>
        </p:nvSpPr>
        <p:spPr>
          <a:xfrm>
            <a:off x="4352544" y="5024628"/>
            <a:ext cx="3593591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Local &amp; straightforward</a:t>
            </a:r>
          </a:p>
        </p:txBody>
      </p:sp>
      <p:sp>
        <p:nvSpPr>
          <p:cNvPr id="326" name="r326"/>
          <p:cNvSpPr/>
          <p:nvPr/>
        </p:nvSpPr>
        <p:spPr>
          <a:xfrm>
            <a:off x="8257031" y="5024628"/>
            <a:ext cx="3367735" cy="566928"/>
          </a:xfrm>
          <a:prstGeom prst="roundRect">
            <a:avLst>
              <a:gd name="adj" fmla="val 9000"/>
            </a:avLst>
          </a:prstGeom>
          <a:solidFill>
            <a:srgbClr val="092A2E"/>
          </a:solidFill>
          <a:ln w="12700" cap="rnd">
            <a:solidFill>
              <a:srgbClr val="24E0D8">
                <a:alpha val="45000"/>
              </a:srgbClr>
            </a:solidFill>
          </a:ln>
        </p:spPr>
        <p:txBody>
          <a:bodyPr/>
          <a:p/>
        </p:txBody>
      </p:sp>
      <p:sp>
        <p:nvSpPr>
          <p:cNvPr id="327" name="r327"/>
          <p:cNvSpPr/>
          <p:nvPr/>
        </p:nvSpPr>
        <p:spPr>
          <a:xfrm>
            <a:off x="8257031" y="5024628"/>
            <a:ext cx="54864" cy="566928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328" name="t328"/>
          <p:cNvSpPr txBox="1"/>
          <p:nvPr/>
        </p:nvSpPr>
        <p:spPr>
          <a:xfrm>
            <a:off x="8494776" y="5024628"/>
            <a:ext cx="2983687" cy="566928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E7F0FA"/>
                </a:solidFill>
                <a:latin typeface="Segoe UI"/>
                <a:cs typeface="Segoe UI"/>
              </a:rPr>
              <a:t>Cross-border &amp; complex</a:t>
            </a:r>
          </a:p>
        </p:txBody>
      </p:sp>
      <p:sp>
        <p:nvSpPr>
          <p:cNvPr id="329" name="r329"/>
          <p:cNvSpPr/>
          <p:nvPr/>
        </p:nvSpPr>
        <p:spPr>
          <a:xfrm>
            <a:off x="566928" y="5733288"/>
            <a:ext cx="11057839" cy="5120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C10"/>
              </a:gs>
              <a:gs pos="100000">
                <a:srgbClr val="14302E"/>
              </a:gs>
            </a:gsLst>
            <a:lin ang="5400000" scaled="1"/>
          </a:gradFill>
          <a:ln w="13970" cap="rnd">
            <a:solidFill>
              <a:srgbClr val="FFB020">
                <a:alpha val="80000"/>
              </a:srgbClr>
            </a:solidFill>
          </a:ln>
        </p:spPr>
        <p:txBody>
          <a:bodyPr/>
          <a:p/>
        </p:txBody>
      </p:sp>
      <p:cxnSp>
        <p:nvCxnSpPr>
          <p:cNvPr id="330" name="l330"/>
          <p:cNvCxnSpPr/>
          <p:nvPr/>
        </p:nvCxnSpPr>
        <p:spPr>
          <a:xfrm>
            <a:off x="894283" y="5894222"/>
            <a:ext cx="0" cy="208483"/>
          </a:xfrm>
          <a:prstGeom prst="line">
            <a:avLst/>
          </a:prstGeom>
          <a:ln w="43180" cap="rnd">
            <a:solidFill>
              <a:srgbClr val="FFB020"/>
            </a:solidFill>
          </a:ln>
        </p:spPr>
      </p:cxnSp>
      <p:sp>
        <p:nvSpPr>
          <p:cNvPr id="331" name="ff331"/>
          <p:cNvSpPr/>
          <p:nvPr/>
        </p:nvSpPr>
        <p:spPr>
          <a:xfrm>
            <a:off x="822960" y="5861304"/>
            <a:ext cx="274320" cy="27432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000" y="16000"/>
                </a:moveTo>
                <a:lnTo>
                  <a:pt x="78000" y="16000"/>
                </a:lnTo>
                <a:lnTo>
                  <a:pt x="66000" y="32000"/>
                </a:lnTo>
                <a:lnTo>
                  <a:pt x="78000" y="48000"/>
                </a:lnTo>
                <a:lnTo>
                  <a:pt x="28000" y="48000"/>
                </a:lnTo>
                <a:close/>
              </a:path>
            </a:pathLst>
          </a:custGeom>
          <a:solidFill>
            <a:srgbClr val="FFB020"/>
          </a:solidFill>
          <a:ln>
            <a:noFill/>
          </a:ln>
        </p:spPr>
        <p:txBody>
          <a:bodyPr/>
          <a:p/>
        </p:txBody>
      </p:sp>
      <p:sp>
        <p:nvSpPr>
          <p:cNvPr id="332" name="t332"/>
          <p:cNvSpPr txBox="1"/>
          <p:nvPr/>
        </p:nvSpPr>
        <p:spPr>
          <a:xfrm>
            <a:off x="1298448" y="5733288"/>
            <a:ext cx="10143439" cy="51206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/>
                <a:cs typeface="Segoe UI"/>
              </a:rPr>
              <a:t>Cloud forensics is more complex — investigators have no direct physical control over the infrastructure.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WHAT MAKES EACH CASE HARD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  <a:cs typeface="Poppins"/>
              </a:rPr>
              <a:t>Investigation Challenges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06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r244"/>
          <p:cNvSpPr/>
          <p:nvPr/>
        </p:nvSpPr>
        <p:spPr>
          <a:xfrm>
            <a:off x="566928" y="1700784"/>
            <a:ext cx="5300319" cy="406908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24E0D8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45" name="r245"/>
          <p:cNvSpPr/>
          <p:nvPr/>
        </p:nvSpPr>
        <p:spPr>
          <a:xfrm>
            <a:off x="566928" y="1700784"/>
            <a:ext cx="5300319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6" name="r246"/>
          <p:cNvSpPr/>
          <p:nvPr/>
        </p:nvSpPr>
        <p:spPr>
          <a:xfrm>
            <a:off x="566928" y="2212848"/>
            <a:ext cx="5300319" cy="347472"/>
          </a:xfrm>
          <a:prstGeom prst="rect">
            <a:avLst/>
          </a:prstGeom>
          <a:solidFill>
            <a:srgbClr val="0C6E77"/>
          </a:solidFill>
          <a:ln>
            <a:noFill/>
          </a:ln>
        </p:spPr>
        <p:txBody>
          <a:bodyPr/>
          <a:p/>
        </p:txBody>
      </p:sp>
      <p:sp>
        <p:nvSpPr>
          <p:cNvPr id="247" name="o247"/>
          <p:cNvSpPr/>
          <p:nvPr/>
        </p:nvSpPr>
        <p:spPr>
          <a:xfrm>
            <a:off x="777239" y="1773936"/>
            <a:ext cx="713232" cy="713232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48" name="o248"/>
          <p:cNvSpPr/>
          <p:nvPr/>
        </p:nvSpPr>
        <p:spPr>
          <a:xfrm>
            <a:off x="822959" y="1819656"/>
            <a:ext cx="621792" cy="62179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4E0D8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49" name="ff249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72000"/>
                </a:moveTo>
                <a:cubicBezTo>
                  <a:pt x="12000" y="72000"/>
                  <a:pt x="10000" y="52000"/>
                  <a:pt x="28000" y="50000"/>
                </a:cubicBezTo>
                <a:cubicBezTo>
                  <a:pt x="28000" y="30000"/>
                  <a:pt x="58000" y="26000"/>
                  <a:pt x="62000" y="46000"/>
                </a:cubicBezTo>
                <a:cubicBezTo>
                  <a:pt x="84000" y="42000"/>
                  <a:pt x="92000" y="70000"/>
                  <a:pt x="74000" y="72000"/>
                </a:cubicBezTo>
                <a:lnTo>
                  <a:pt x="26000" y="7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0" name="t250"/>
          <p:cNvSpPr txBox="1"/>
          <p:nvPr/>
        </p:nvSpPr>
        <p:spPr>
          <a:xfrm>
            <a:off x="1591056" y="1938528"/>
            <a:ext cx="4111599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Cloud Forensic Challenges</a:t>
            </a:r>
          </a:p>
        </p:txBody>
      </p:sp>
      <p:sp>
        <p:nvSpPr>
          <p:cNvPr id="251" name="r251"/>
          <p:cNvSpPr/>
          <p:nvPr/>
        </p:nvSpPr>
        <p:spPr>
          <a:xfrm>
            <a:off x="822960" y="2761488"/>
            <a:ext cx="4788255" cy="437083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52" name="o252"/>
          <p:cNvSpPr/>
          <p:nvPr/>
        </p:nvSpPr>
        <p:spPr>
          <a:xfrm>
            <a:off x="905256" y="2742285"/>
            <a:ext cx="475488" cy="47548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3" name="o253"/>
          <p:cNvSpPr/>
          <p:nvPr/>
        </p:nvSpPr>
        <p:spPr>
          <a:xfrm>
            <a:off x="950976" y="2788005"/>
            <a:ext cx="384048" cy="38404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4" name="o254"/>
          <p:cNvSpPr/>
          <p:nvPr/>
        </p:nvSpPr>
        <p:spPr>
          <a:xfrm>
            <a:off x="1060045" y="2920118"/>
            <a:ext cx="46085" cy="460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5" name="o255"/>
          <p:cNvSpPr/>
          <p:nvPr/>
        </p:nvSpPr>
        <p:spPr>
          <a:xfrm>
            <a:off x="1119957" y="2920118"/>
            <a:ext cx="46085" cy="460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6" name="o256"/>
          <p:cNvSpPr/>
          <p:nvPr/>
        </p:nvSpPr>
        <p:spPr>
          <a:xfrm>
            <a:off x="1179868" y="2920118"/>
            <a:ext cx="46085" cy="460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7" name="ff257"/>
          <p:cNvSpPr/>
          <p:nvPr/>
        </p:nvSpPr>
        <p:spPr>
          <a:xfrm>
            <a:off x="1027785" y="2864815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000" y="86000"/>
                </a:moveTo>
                <a:cubicBezTo>
                  <a:pt x="14000" y="60000"/>
                  <a:pt x="86000" y="60000"/>
                  <a:pt x="86000" y="860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8" name="t258"/>
          <p:cNvSpPr txBox="1"/>
          <p:nvPr/>
        </p:nvSpPr>
        <p:spPr>
          <a:xfrm>
            <a:off x="1499616" y="2761488"/>
            <a:ext cx="4111599" cy="437083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Multi-tenancy — shared infrastructure</a:t>
            </a:r>
          </a:p>
        </p:txBody>
      </p:sp>
      <p:sp>
        <p:nvSpPr>
          <p:cNvPr id="259" name="r259"/>
          <p:cNvSpPr/>
          <p:nvPr/>
        </p:nvSpPr>
        <p:spPr>
          <a:xfrm>
            <a:off x="822960" y="3326587"/>
            <a:ext cx="4788255" cy="437083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0" name="o260"/>
          <p:cNvSpPr/>
          <p:nvPr/>
        </p:nvSpPr>
        <p:spPr>
          <a:xfrm>
            <a:off x="905256" y="3307384"/>
            <a:ext cx="475488" cy="47548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1" name="o261"/>
          <p:cNvSpPr/>
          <p:nvPr/>
        </p:nvSpPr>
        <p:spPr>
          <a:xfrm>
            <a:off x="950976" y="3353104"/>
            <a:ext cx="384048" cy="38404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cxnSp>
        <p:nvCxnSpPr>
          <p:cNvPr id="262" name="l262"/>
          <p:cNvCxnSpPr/>
          <p:nvPr/>
        </p:nvCxnSpPr>
        <p:spPr>
          <a:xfrm>
            <a:off x="1060045" y="3512868"/>
            <a:ext cx="165909" cy="0"/>
          </a:xfrm>
          <a:prstGeom prst="line">
            <a:avLst/>
          </a:prstGeom>
          <a:ln w="30480" cap="rnd">
            <a:solidFill>
              <a:srgbClr val="FFFFFF"/>
            </a:solidFill>
          </a:ln>
        </p:spPr>
      </p:cxnSp>
      <p:cxnSp>
        <p:nvCxnSpPr>
          <p:cNvPr id="263" name="l263"/>
          <p:cNvCxnSpPr/>
          <p:nvPr/>
        </p:nvCxnSpPr>
        <p:spPr>
          <a:xfrm>
            <a:off x="1060045" y="3554345"/>
            <a:ext cx="165909" cy="0"/>
          </a:xfrm>
          <a:prstGeom prst="line">
            <a:avLst/>
          </a:prstGeom>
          <a:ln w="30480" cap="rnd">
            <a:solidFill>
              <a:srgbClr val="FFFFFF"/>
            </a:solidFill>
          </a:ln>
        </p:spPr>
      </p:cxnSp>
      <p:cxnSp>
        <p:nvCxnSpPr>
          <p:cNvPr id="264" name="l264"/>
          <p:cNvCxnSpPr/>
          <p:nvPr/>
        </p:nvCxnSpPr>
        <p:spPr>
          <a:xfrm>
            <a:off x="1060045" y="3595823"/>
            <a:ext cx="165909" cy="0"/>
          </a:xfrm>
          <a:prstGeom prst="line">
            <a:avLst/>
          </a:prstGeom>
          <a:ln w="30480" cap="rnd">
            <a:solidFill>
              <a:srgbClr val="FFFFFF"/>
            </a:solidFill>
          </a:ln>
        </p:spPr>
      </p:cxnSp>
      <p:sp>
        <p:nvSpPr>
          <p:cNvPr id="265" name="t265"/>
          <p:cNvSpPr txBox="1"/>
          <p:nvPr/>
        </p:nvSpPr>
        <p:spPr>
          <a:xfrm>
            <a:off x="1499616" y="3326587"/>
            <a:ext cx="4111599" cy="437083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Data volatility — evidence changes fast</a:t>
            </a:r>
          </a:p>
        </p:txBody>
      </p:sp>
      <p:sp>
        <p:nvSpPr>
          <p:cNvPr id="266" name="r266"/>
          <p:cNvSpPr/>
          <p:nvPr/>
        </p:nvSpPr>
        <p:spPr>
          <a:xfrm>
            <a:off x="822960" y="3891686"/>
            <a:ext cx="4788255" cy="437083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7" name="o267"/>
          <p:cNvSpPr/>
          <p:nvPr/>
        </p:nvSpPr>
        <p:spPr>
          <a:xfrm>
            <a:off x="905256" y="3872484"/>
            <a:ext cx="475488" cy="47548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8" name="o268"/>
          <p:cNvSpPr/>
          <p:nvPr/>
        </p:nvSpPr>
        <p:spPr>
          <a:xfrm>
            <a:off x="950976" y="3918204"/>
            <a:ext cx="384048" cy="38404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69" name="ff269"/>
          <p:cNvSpPr/>
          <p:nvPr/>
        </p:nvSpPr>
        <p:spPr>
          <a:xfrm>
            <a:off x="1027785" y="3995013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0000" y="66000"/>
                </a:moveTo>
                <a:lnTo>
                  <a:pt x="48000" y="38000"/>
                </a:lnTo>
                <a:lnTo>
                  <a:pt x="62000" y="52000"/>
                </a:lnTo>
                <a:lnTo>
                  <a:pt x="34000" y="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0" name="ff270"/>
          <p:cNvSpPr/>
          <p:nvPr/>
        </p:nvSpPr>
        <p:spPr>
          <a:xfrm>
            <a:off x="1027785" y="3995013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2000" y="20000"/>
                </a:moveTo>
                <a:lnTo>
                  <a:pt x="80000" y="48000"/>
                </a:lnTo>
                <a:lnTo>
                  <a:pt x="70000" y="58000"/>
                </a:lnTo>
                <a:lnTo>
                  <a:pt x="42000" y="3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1" name="ff271"/>
          <p:cNvSpPr/>
          <p:nvPr/>
        </p:nvSpPr>
        <p:spPr>
          <a:xfrm>
            <a:off x="1027785" y="3995013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84000"/>
                </a:moveTo>
                <a:lnTo>
                  <a:pt x="64000" y="84000"/>
                </a:lnTo>
                <a:lnTo>
                  <a:pt x="64000" y="90000"/>
                </a:lnTo>
                <a:lnTo>
                  <a:pt x="24000" y="9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2" name="t272"/>
          <p:cNvSpPr txBox="1"/>
          <p:nvPr/>
        </p:nvSpPr>
        <p:spPr>
          <a:xfrm>
            <a:off x="1499616" y="3891686"/>
            <a:ext cx="4111599" cy="437083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Jurisdiction &amp; legal complexity</a:t>
            </a:r>
          </a:p>
        </p:txBody>
      </p:sp>
      <p:sp>
        <p:nvSpPr>
          <p:cNvPr id="273" name="r273"/>
          <p:cNvSpPr/>
          <p:nvPr/>
        </p:nvSpPr>
        <p:spPr>
          <a:xfrm>
            <a:off x="822960" y="4456785"/>
            <a:ext cx="4788255" cy="437083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4" name="o274"/>
          <p:cNvSpPr/>
          <p:nvPr/>
        </p:nvSpPr>
        <p:spPr>
          <a:xfrm>
            <a:off x="905256" y="4437583"/>
            <a:ext cx="475488" cy="47548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75" name="o275"/>
          <p:cNvSpPr/>
          <p:nvPr/>
        </p:nvSpPr>
        <p:spPr>
          <a:xfrm>
            <a:off x="950976" y="4483303"/>
            <a:ext cx="384048" cy="38404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76" name="r276"/>
          <p:cNvSpPr/>
          <p:nvPr/>
        </p:nvSpPr>
        <p:spPr>
          <a:xfrm>
            <a:off x="1060045" y="4652284"/>
            <a:ext cx="82954" cy="46085"/>
          </a:xfrm>
          <a:prstGeom prst="roundRect">
            <a:avLst>
              <a:gd name="adj" fmla="val 50000"/>
            </a:avLst>
          </a:prstGeom>
          <a:noFill/>
          <a:ln w="3810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77" name="r277"/>
          <p:cNvSpPr/>
          <p:nvPr/>
        </p:nvSpPr>
        <p:spPr>
          <a:xfrm>
            <a:off x="1143000" y="4652284"/>
            <a:ext cx="82954" cy="46085"/>
          </a:xfrm>
          <a:prstGeom prst="roundRect">
            <a:avLst>
              <a:gd name="adj" fmla="val 50000"/>
            </a:avLst>
          </a:prstGeom>
          <a:noFill/>
          <a:ln w="3810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78" name="ff278"/>
          <p:cNvSpPr/>
          <p:nvPr/>
        </p:nvSpPr>
        <p:spPr>
          <a:xfrm>
            <a:off x="1027785" y="4560112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0000" y="48000"/>
                </a:moveTo>
                <a:lnTo>
                  <a:pt x="60000" y="48000"/>
                </a:lnTo>
                <a:lnTo>
                  <a:pt x="60000" y="52000"/>
                </a:lnTo>
                <a:lnTo>
                  <a:pt x="40000" y="5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9" name="t279"/>
          <p:cNvSpPr txBox="1"/>
          <p:nvPr/>
        </p:nvSpPr>
        <p:spPr>
          <a:xfrm>
            <a:off x="1499616" y="4456785"/>
            <a:ext cx="4111599" cy="437083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Dependency on CSP cooperation</a:t>
            </a:r>
          </a:p>
        </p:txBody>
      </p:sp>
      <p:sp>
        <p:nvSpPr>
          <p:cNvPr id="280" name="r280"/>
          <p:cNvSpPr/>
          <p:nvPr/>
        </p:nvSpPr>
        <p:spPr>
          <a:xfrm>
            <a:off x="822960" y="5021884"/>
            <a:ext cx="4788255" cy="437083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81" name="o281"/>
          <p:cNvSpPr/>
          <p:nvPr/>
        </p:nvSpPr>
        <p:spPr>
          <a:xfrm>
            <a:off x="905256" y="5002682"/>
            <a:ext cx="475488" cy="47548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2" name="o282"/>
          <p:cNvSpPr/>
          <p:nvPr/>
        </p:nvSpPr>
        <p:spPr>
          <a:xfrm>
            <a:off x="950976" y="5048402"/>
            <a:ext cx="384048" cy="38404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83" name="o283"/>
          <p:cNvSpPr/>
          <p:nvPr/>
        </p:nvSpPr>
        <p:spPr>
          <a:xfrm>
            <a:off x="1078479" y="5175906"/>
            <a:ext cx="129040" cy="129040"/>
          </a:xfrm>
          <a:prstGeom prst="ellipse">
            <a:avLst/>
          </a:prstGeom>
          <a:noFill/>
          <a:ln w="40640" cap="rnd">
            <a:solidFill>
              <a:srgbClr val="FFFFFF"/>
            </a:solidFill>
          </a:ln>
        </p:spPr>
        <p:txBody>
          <a:bodyPr/>
          <a:p/>
        </p:txBody>
      </p:sp>
      <p:sp>
        <p:nvSpPr>
          <p:cNvPr id="284" name="o284"/>
          <p:cNvSpPr/>
          <p:nvPr/>
        </p:nvSpPr>
        <p:spPr>
          <a:xfrm>
            <a:off x="1219041" y="5228904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5" name="o285"/>
          <p:cNvSpPr/>
          <p:nvPr/>
        </p:nvSpPr>
        <p:spPr>
          <a:xfrm>
            <a:off x="1193394" y="5290821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6" name="o286"/>
          <p:cNvSpPr/>
          <p:nvPr/>
        </p:nvSpPr>
        <p:spPr>
          <a:xfrm>
            <a:off x="1131478" y="5316467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7" name="o287"/>
          <p:cNvSpPr/>
          <p:nvPr/>
        </p:nvSpPr>
        <p:spPr>
          <a:xfrm>
            <a:off x="1069562" y="5290821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8" name="o288"/>
          <p:cNvSpPr/>
          <p:nvPr/>
        </p:nvSpPr>
        <p:spPr>
          <a:xfrm>
            <a:off x="1043915" y="5228904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9" name="o289"/>
          <p:cNvSpPr/>
          <p:nvPr/>
        </p:nvSpPr>
        <p:spPr>
          <a:xfrm>
            <a:off x="1069562" y="5166988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0" name="o290"/>
          <p:cNvSpPr/>
          <p:nvPr/>
        </p:nvSpPr>
        <p:spPr>
          <a:xfrm>
            <a:off x="1131478" y="5141342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1" name="o291"/>
          <p:cNvSpPr/>
          <p:nvPr/>
        </p:nvSpPr>
        <p:spPr>
          <a:xfrm>
            <a:off x="1193394" y="5166988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2" name="o292"/>
          <p:cNvSpPr/>
          <p:nvPr/>
        </p:nvSpPr>
        <p:spPr>
          <a:xfrm>
            <a:off x="1119957" y="5217383"/>
            <a:ext cx="46085" cy="460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3" name="t293"/>
          <p:cNvSpPr txBox="1"/>
          <p:nvPr/>
        </p:nvSpPr>
        <p:spPr>
          <a:xfrm>
            <a:off x="1499616" y="5021884"/>
            <a:ext cx="4111599" cy="437083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Lack of standardised tools / procedures</a:t>
            </a:r>
          </a:p>
        </p:txBody>
      </p:sp>
      <p:sp>
        <p:nvSpPr>
          <p:cNvPr id="294" name="r294"/>
          <p:cNvSpPr/>
          <p:nvPr/>
        </p:nvSpPr>
        <p:spPr>
          <a:xfrm>
            <a:off x="6324447" y="1700784"/>
            <a:ext cx="5300319" cy="406908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2E9BFF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95" name="r295"/>
          <p:cNvSpPr/>
          <p:nvPr/>
        </p:nvSpPr>
        <p:spPr>
          <a:xfrm>
            <a:off x="6324447" y="1700784"/>
            <a:ext cx="5300319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96" name="r296"/>
          <p:cNvSpPr/>
          <p:nvPr/>
        </p:nvSpPr>
        <p:spPr>
          <a:xfrm>
            <a:off x="6324447" y="2212848"/>
            <a:ext cx="5300319" cy="347472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txBody>
          <a:bodyPr/>
          <a:p/>
        </p:txBody>
      </p:sp>
      <p:sp>
        <p:nvSpPr>
          <p:cNvPr id="297" name="o297"/>
          <p:cNvSpPr/>
          <p:nvPr/>
        </p:nvSpPr>
        <p:spPr>
          <a:xfrm>
            <a:off x="6534759" y="1773936"/>
            <a:ext cx="713232" cy="713232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98" name="o298"/>
          <p:cNvSpPr/>
          <p:nvPr/>
        </p:nvSpPr>
        <p:spPr>
          <a:xfrm>
            <a:off x="6580479" y="1819656"/>
            <a:ext cx="621792" cy="62179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E9BF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99" name="ff299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2000" y="16000"/>
                </a:moveTo>
                <a:lnTo>
                  <a:pt x="88000" y="16000"/>
                </a:lnTo>
                <a:lnTo>
                  <a:pt x="88000" y="62000"/>
                </a:lnTo>
                <a:lnTo>
                  <a:pt x="12000" y="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0" name="ff300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000" y="22000"/>
                </a:moveTo>
                <a:lnTo>
                  <a:pt x="82000" y="22000"/>
                </a:lnTo>
                <a:lnTo>
                  <a:pt x="82000" y="56000"/>
                </a:lnTo>
                <a:lnTo>
                  <a:pt x="18000" y="56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1" name="ff301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2000" y="62000"/>
                </a:moveTo>
                <a:lnTo>
                  <a:pt x="58000" y="62000"/>
                </a:lnTo>
                <a:lnTo>
                  <a:pt x="62000" y="78000"/>
                </a:lnTo>
                <a:lnTo>
                  <a:pt x="38000" y="7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2" name="ff302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0000" y="78000"/>
                </a:moveTo>
                <a:lnTo>
                  <a:pt x="70000" y="78000"/>
                </a:lnTo>
                <a:lnTo>
                  <a:pt x="70000" y="86000"/>
                </a:lnTo>
                <a:lnTo>
                  <a:pt x="3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3" name="ff303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28000"/>
                </a:moveTo>
                <a:lnTo>
                  <a:pt x="64000" y="28000"/>
                </a:lnTo>
                <a:lnTo>
                  <a:pt x="64000" y="33000"/>
                </a:lnTo>
                <a:lnTo>
                  <a:pt x="24000" y="33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4" name="ff304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38000"/>
                </a:moveTo>
                <a:lnTo>
                  <a:pt x="52000" y="38000"/>
                </a:lnTo>
                <a:lnTo>
                  <a:pt x="52000" y="42000"/>
                </a:lnTo>
                <a:lnTo>
                  <a:pt x="24000" y="4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5" name="t305"/>
          <p:cNvSpPr txBox="1"/>
          <p:nvPr/>
        </p:nvSpPr>
        <p:spPr>
          <a:xfrm>
            <a:off x="7348575" y="1938528"/>
            <a:ext cx="4111599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Traditional Forensic Challenges</a:t>
            </a:r>
          </a:p>
        </p:txBody>
      </p:sp>
      <p:sp>
        <p:nvSpPr>
          <p:cNvPr id="306" name="r306"/>
          <p:cNvSpPr/>
          <p:nvPr/>
        </p:nvSpPr>
        <p:spPr>
          <a:xfrm>
            <a:off x="6580479" y="2761488"/>
            <a:ext cx="4788255" cy="813816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07" name="o307"/>
          <p:cNvSpPr/>
          <p:nvPr/>
        </p:nvSpPr>
        <p:spPr>
          <a:xfrm>
            <a:off x="6662775" y="2930652"/>
            <a:ext cx="475488" cy="47548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08" name="o308"/>
          <p:cNvSpPr/>
          <p:nvPr/>
        </p:nvSpPr>
        <p:spPr>
          <a:xfrm>
            <a:off x="6708495" y="2976372"/>
            <a:ext cx="384048" cy="38404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09" name="ff309"/>
          <p:cNvSpPr/>
          <p:nvPr/>
        </p:nvSpPr>
        <p:spPr>
          <a:xfrm>
            <a:off x="6785305" y="3053181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46000"/>
                </a:moveTo>
                <a:lnTo>
                  <a:pt x="74000" y="46000"/>
                </a:lnTo>
                <a:lnTo>
                  <a:pt x="74000" y="84000"/>
                </a:lnTo>
                <a:lnTo>
                  <a:pt x="26000" y="8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0" name="ff310"/>
          <p:cNvSpPr/>
          <p:nvPr/>
        </p:nvSpPr>
        <p:spPr>
          <a:xfrm>
            <a:off x="6785305" y="3053181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6000" y="46000"/>
                </a:moveTo>
                <a:lnTo>
                  <a:pt x="36000" y="36000"/>
                </a:lnTo>
                <a:cubicBezTo>
                  <a:pt x="36000" y="18000"/>
                  <a:pt x="64000" y="18000"/>
                  <a:pt x="64000" y="36000"/>
                </a:cubicBezTo>
                <a:lnTo>
                  <a:pt x="64000" y="46000"/>
                </a:lnTo>
                <a:lnTo>
                  <a:pt x="56000" y="46000"/>
                </a:lnTo>
                <a:lnTo>
                  <a:pt x="56000" y="36000"/>
                </a:lnTo>
                <a:cubicBezTo>
                  <a:pt x="56000" y="28000"/>
                  <a:pt x="44000" y="28000"/>
                  <a:pt x="44000" y="36000"/>
                </a:cubicBezTo>
                <a:lnTo>
                  <a:pt x="44000" y="4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1" name="o311"/>
          <p:cNvSpPr/>
          <p:nvPr/>
        </p:nvSpPr>
        <p:spPr>
          <a:xfrm>
            <a:off x="6886693" y="3186830"/>
            <a:ext cx="27651" cy="27651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12" name="t312"/>
          <p:cNvSpPr txBox="1"/>
          <p:nvPr/>
        </p:nvSpPr>
        <p:spPr>
          <a:xfrm>
            <a:off x="7257135" y="2761488"/>
            <a:ext cx="4111599" cy="81381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Full-disk &amp; file encryption</a:t>
            </a:r>
          </a:p>
        </p:txBody>
      </p:sp>
      <p:sp>
        <p:nvSpPr>
          <p:cNvPr id="313" name="r313"/>
          <p:cNvSpPr/>
          <p:nvPr/>
        </p:nvSpPr>
        <p:spPr>
          <a:xfrm>
            <a:off x="6580479" y="3703320"/>
            <a:ext cx="4788255" cy="813816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14" name="o314"/>
          <p:cNvSpPr/>
          <p:nvPr/>
        </p:nvSpPr>
        <p:spPr>
          <a:xfrm>
            <a:off x="6662775" y="3872484"/>
            <a:ext cx="475488" cy="47548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15" name="o315"/>
          <p:cNvSpPr/>
          <p:nvPr/>
        </p:nvSpPr>
        <p:spPr>
          <a:xfrm>
            <a:off x="6708495" y="3918204"/>
            <a:ext cx="384048" cy="38404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16" name="ff316"/>
          <p:cNvSpPr/>
          <p:nvPr/>
        </p:nvSpPr>
        <p:spPr>
          <a:xfrm>
            <a:off x="6785305" y="3995013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10000"/>
                </a:moveTo>
                <a:lnTo>
                  <a:pt x="84000" y="24000"/>
                </a:lnTo>
                <a:lnTo>
                  <a:pt x="84000" y="52000"/>
                </a:lnTo>
                <a:cubicBezTo>
                  <a:pt x="84000" y="74000"/>
                  <a:pt x="68000" y="86000"/>
                  <a:pt x="50000" y="92000"/>
                </a:cubicBezTo>
                <a:cubicBezTo>
                  <a:pt x="32000" y="86000"/>
                  <a:pt x="16000" y="74000"/>
                  <a:pt x="16000" y="52000"/>
                </a:cubicBezTo>
                <a:lnTo>
                  <a:pt x="16000" y="2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7" name="ff317"/>
          <p:cNvSpPr/>
          <p:nvPr/>
        </p:nvSpPr>
        <p:spPr>
          <a:xfrm>
            <a:off x="6785305" y="3995013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6000" y="50000"/>
                </a:moveTo>
                <a:lnTo>
                  <a:pt x="46000" y="60000"/>
                </a:lnTo>
                <a:lnTo>
                  <a:pt x="66000" y="36000"/>
                </a:lnTo>
                <a:lnTo>
                  <a:pt x="70000" y="42000"/>
                </a:lnTo>
                <a:lnTo>
                  <a:pt x="46000" y="70000"/>
                </a:lnTo>
                <a:lnTo>
                  <a:pt x="32000" y="55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18" name="t318"/>
          <p:cNvSpPr txBox="1"/>
          <p:nvPr/>
        </p:nvSpPr>
        <p:spPr>
          <a:xfrm>
            <a:off x="7257135" y="3703320"/>
            <a:ext cx="4111599" cy="81381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Anti-forensic techniques</a:t>
            </a:r>
          </a:p>
        </p:txBody>
      </p:sp>
      <p:sp>
        <p:nvSpPr>
          <p:cNvPr id="319" name="r319"/>
          <p:cNvSpPr/>
          <p:nvPr/>
        </p:nvSpPr>
        <p:spPr>
          <a:xfrm>
            <a:off x="6580479" y="4645152"/>
            <a:ext cx="4788255" cy="813816"/>
          </a:xfrm>
          <a:prstGeom prst="roundRect">
            <a:avLst>
              <a:gd name="adj" fmla="val 12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20" name="o320"/>
          <p:cNvSpPr/>
          <p:nvPr/>
        </p:nvSpPr>
        <p:spPr>
          <a:xfrm>
            <a:off x="6662775" y="4814316"/>
            <a:ext cx="475488" cy="47548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21" name="o321"/>
          <p:cNvSpPr/>
          <p:nvPr/>
        </p:nvSpPr>
        <p:spPr>
          <a:xfrm>
            <a:off x="6708495" y="4860036"/>
            <a:ext cx="384048" cy="38404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22" name="ff322"/>
          <p:cNvSpPr/>
          <p:nvPr/>
        </p:nvSpPr>
        <p:spPr>
          <a:xfrm>
            <a:off x="6785305" y="4936845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6000" y="26000"/>
                </a:moveTo>
                <a:lnTo>
                  <a:pt x="84000" y="26000"/>
                </a:lnTo>
                <a:lnTo>
                  <a:pt x="84000" y="74000"/>
                </a:lnTo>
                <a:lnTo>
                  <a:pt x="16000" y="7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3" name="o323"/>
          <p:cNvSpPr/>
          <p:nvPr/>
        </p:nvSpPr>
        <p:spPr>
          <a:xfrm>
            <a:off x="6907432" y="5029017"/>
            <a:ext cx="55302" cy="55302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24" name="o324"/>
          <p:cNvSpPr/>
          <p:nvPr/>
        </p:nvSpPr>
        <p:spPr>
          <a:xfrm>
            <a:off x="6923562" y="5045147"/>
            <a:ext cx="23042" cy="230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5" name="ff325"/>
          <p:cNvSpPr/>
          <p:nvPr/>
        </p:nvSpPr>
        <p:spPr>
          <a:xfrm>
            <a:off x="6785305" y="4936845"/>
            <a:ext cx="230428" cy="2304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2000" y="32000"/>
                </a:moveTo>
                <a:lnTo>
                  <a:pt x="44000" y="32000"/>
                </a:lnTo>
                <a:lnTo>
                  <a:pt x="44000" y="38000"/>
                </a:lnTo>
                <a:lnTo>
                  <a:pt x="22000" y="38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26" name="t326"/>
          <p:cNvSpPr txBox="1"/>
          <p:nvPr/>
        </p:nvSpPr>
        <p:spPr>
          <a:xfrm>
            <a:off x="7257135" y="4645152"/>
            <a:ext cx="4111599" cy="81381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E7F0FA"/>
                </a:solidFill>
                <a:latin typeface="Segoe UI"/>
                <a:cs typeface="Segoe UI"/>
              </a:rPr>
              <a:t>Large volumes of data to process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THE INVESTIGATOR'S TOOLKIT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  <a:cs typeface="Poppins"/>
              </a:rPr>
              <a:t>Forensic Tools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07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r244"/>
          <p:cNvSpPr/>
          <p:nvPr/>
        </p:nvSpPr>
        <p:spPr>
          <a:xfrm>
            <a:off x="566928" y="1700784"/>
            <a:ext cx="5300319" cy="406908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2E9BFF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45" name="r245"/>
          <p:cNvSpPr/>
          <p:nvPr/>
        </p:nvSpPr>
        <p:spPr>
          <a:xfrm>
            <a:off x="566928" y="1700784"/>
            <a:ext cx="5300319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6" name="r246"/>
          <p:cNvSpPr/>
          <p:nvPr/>
        </p:nvSpPr>
        <p:spPr>
          <a:xfrm>
            <a:off x="566928" y="2212848"/>
            <a:ext cx="5300319" cy="347472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txBody>
          <a:bodyPr/>
          <a:p/>
        </p:txBody>
      </p:sp>
      <p:sp>
        <p:nvSpPr>
          <p:cNvPr id="247" name="o247"/>
          <p:cNvSpPr/>
          <p:nvPr/>
        </p:nvSpPr>
        <p:spPr>
          <a:xfrm>
            <a:off x="777239" y="1773936"/>
            <a:ext cx="713232" cy="713232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48" name="o248"/>
          <p:cNvSpPr/>
          <p:nvPr/>
        </p:nvSpPr>
        <p:spPr>
          <a:xfrm>
            <a:off x="822959" y="1819656"/>
            <a:ext cx="621792" cy="62179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E9BFF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49" name="ff249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2000" y="16000"/>
                </a:moveTo>
                <a:lnTo>
                  <a:pt x="88000" y="16000"/>
                </a:lnTo>
                <a:lnTo>
                  <a:pt x="88000" y="62000"/>
                </a:lnTo>
                <a:lnTo>
                  <a:pt x="12000" y="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0" name="ff250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8000" y="22000"/>
                </a:moveTo>
                <a:lnTo>
                  <a:pt x="82000" y="22000"/>
                </a:lnTo>
                <a:lnTo>
                  <a:pt x="82000" y="56000"/>
                </a:lnTo>
                <a:lnTo>
                  <a:pt x="18000" y="56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51" name="ff251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2000" y="62000"/>
                </a:moveTo>
                <a:lnTo>
                  <a:pt x="58000" y="62000"/>
                </a:lnTo>
                <a:lnTo>
                  <a:pt x="62000" y="78000"/>
                </a:lnTo>
                <a:lnTo>
                  <a:pt x="38000" y="7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2" name="ff252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0000" y="78000"/>
                </a:moveTo>
                <a:lnTo>
                  <a:pt x="70000" y="78000"/>
                </a:lnTo>
                <a:lnTo>
                  <a:pt x="70000" y="86000"/>
                </a:lnTo>
                <a:lnTo>
                  <a:pt x="3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3" name="ff253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28000"/>
                </a:moveTo>
                <a:lnTo>
                  <a:pt x="64000" y="28000"/>
                </a:lnTo>
                <a:lnTo>
                  <a:pt x="64000" y="33000"/>
                </a:lnTo>
                <a:lnTo>
                  <a:pt x="24000" y="33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4" name="ff254"/>
          <p:cNvSpPr/>
          <p:nvPr/>
        </p:nvSpPr>
        <p:spPr>
          <a:xfrm>
            <a:off x="959754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000" y="38000"/>
                </a:moveTo>
                <a:lnTo>
                  <a:pt x="52000" y="38000"/>
                </a:lnTo>
                <a:lnTo>
                  <a:pt x="52000" y="42000"/>
                </a:lnTo>
                <a:lnTo>
                  <a:pt x="24000" y="4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5" name="t255"/>
          <p:cNvSpPr txBox="1"/>
          <p:nvPr/>
        </p:nvSpPr>
        <p:spPr>
          <a:xfrm>
            <a:off x="1591056" y="1938528"/>
            <a:ext cx="4111599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Desktop Incident</a:t>
            </a:r>
          </a:p>
        </p:txBody>
      </p:sp>
      <p:sp>
        <p:nvSpPr>
          <p:cNvPr id="256" name="r256"/>
          <p:cNvSpPr/>
          <p:nvPr/>
        </p:nvSpPr>
        <p:spPr>
          <a:xfrm>
            <a:off x="822960" y="2743200"/>
            <a:ext cx="4788255" cy="582930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57" name="o257"/>
          <p:cNvSpPr/>
          <p:nvPr/>
        </p:nvSpPr>
        <p:spPr>
          <a:xfrm>
            <a:off x="905256" y="2751201"/>
            <a:ext cx="566928" cy="56692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58" name="o258"/>
          <p:cNvSpPr/>
          <p:nvPr/>
        </p:nvSpPr>
        <p:spPr>
          <a:xfrm>
            <a:off x="950976" y="2796921"/>
            <a:ext cx="475488" cy="47548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59" name="ff259"/>
          <p:cNvSpPr/>
          <p:nvPr/>
        </p:nvSpPr>
        <p:spPr>
          <a:xfrm>
            <a:off x="1050828" y="2896773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6000" y="26000"/>
                </a:moveTo>
                <a:lnTo>
                  <a:pt x="84000" y="26000"/>
                </a:lnTo>
                <a:lnTo>
                  <a:pt x="84000" y="74000"/>
                </a:lnTo>
                <a:lnTo>
                  <a:pt x="16000" y="7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0" name="o260"/>
          <p:cNvSpPr/>
          <p:nvPr/>
        </p:nvSpPr>
        <p:spPr>
          <a:xfrm>
            <a:off x="1196993" y="3007086"/>
            <a:ext cx="66187" cy="66187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61" name="o261"/>
          <p:cNvSpPr/>
          <p:nvPr/>
        </p:nvSpPr>
        <p:spPr>
          <a:xfrm>
            <a:off x="1216298" y="3026391"/>
            <a:ext cx="27578" cy="275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2" name="ff262"/>
          <p:cNvSpPr/>
          <p:nvPr/>
        </p:nvSpPr>
        <p:spPr>
          <a:xfrm>
            <a:off x="1050828" y="2896773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2000" y="32000"/>
                </a:moveTo>
                <a:lnTo>
                  <a:pt x="44000" y="32000"/>
                </a:lnTo>
                <a:lnTo>
                  <a:pt x="44000" y="38000"/>
                </a:lnTo>
                <a:lnTo>
                  <a:pt x="22000" y="38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63" name="t263"/>
          <p:cNvSpPr txBox="1"/>
          <p:nvPr/>
        </p:nvSpPr>
        <p:spPr>
          <a:xfrm>
            <a:off x="1609343" y="2862072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EnCase</a:t>
            </a:r>
          </a:p>
        </p:txBody>
      </p:sp>
      <p:sp>
        <p:nvSpPr>
          <p:cNvPr id="264" name="t264"/>
          <p:cNvSpPr txBox="1"/>
          <p:nvPr/>
        </p:nvSpPr>
        <p:spPr>
          <a:xfrm>
            <a:off x="1609343" y="3145536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Disk imaging &amp; deep forensic analysis</a:t>
            </a:r>
          </a:p>
        </p:txBody>
      </p:sp>
      <p:sp>
        <p:nvSpPr>
          <p:cNvPr id="265" name="r265"/>
          <p:cNvSpPr/>
          <p:nvPr/>
        </p:nvSpPr>
        <p:spPr>
          <a:xfrm>
            <a:off x="822960" y="3454146"/>
            <a:ext cx="4788255" cy="582930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66" name="o266"/>
          <p:cNvSpPr/>
          <p:nvPr/>
        </p:nvSpPr>
        <p:spPr>
          <a:xfrm>
            <a:off x="905256" y="3462147"/>
            <a:ext cx="566928" cy="56692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67" name="o267"/>
          <p:cNvSpPr/>
          <p:nvPr/>
        </p:nvSpPr>
        <p:spPr>
          <a:xfrm>
            <a:off x="950976" y="3507866"/>
            <a:ext cx="475488" cy="47548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68" name="ff268"/>
          <p:cNvSpPr/>
          <p:nvPr/>
        </p:nvSpPr>
        <p:spPr>
          <a:xfrm>
            <a:off x="1050828" y="3607719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2000" y="14000"/>
                </a:moveTo>
                <a:lnTo>
                  <a:pt x="60000" y="14000"/>
                </a:lnTo>
                <a:lnTo>
                  <a:pt x="78000" y="32000"/>
                </a:lnTo>
                <a:lnTo>
                  <a:pt x="78000" y="86000"/>
                </a:lnTo>
                <a:lnTo>
                  <a:pt x="22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9" name="o269"/>
          <p:cNvSpPr/>
          <p:nvPr/>
        </p:nvSpPr>
        <p:spPr>
          <a:xfrm>
            <a:off x="1161141" y="3718032"/>
            <a:ext cx="82734" cy="82734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70" name="o270"/>
          <p:cNvSpPr/>
          <p:nvPr/>
        </p:nvSpPr>
        <p:spPr>
          <a:xfrm>
            <a:off x="1177688" y="3734579"/>
            <a:ext cx="49640" cy="49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71" name="t271"/>
          <p:cNvSpPr txBox="1"/>
          <p:nvPr/>
        </p:nvSpPr>
        <p:spPr>
          <a:xfrm>
            <a:off x="1609343" y="3573018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FTK</a:t>
            </a:r>
          </a:p>
        </p:txBody>
      </p:sp>
      <p:sp>
        <p:nvSpPr>
          <p:cNvPr id="272" name="t272"/>
          <p:cNvSpPr txBox="1"/>
          <p:nvPr/>
        </p:nvSpPr>
        <p:spPr>
          <a:xfrm>
            <a:off x="1609343" y="3856482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Indexing, searching &amp; evidence processing</a:t>
            </a:r>
          </a:p>
        </p:txBody>
      </p:sp>
      <p:sp>
        <p:nvSpPr>
          <p:cNvPr id="273" name="r273"/>
          <p:cNvSpPr/>
          <p:nvPr/>
        </p:nvSpPr>
        <p:spPr>
          <a:xfrm>
            <a:off x="822960" y="4165091"/>
            <a:ext cx="4788255" cy="582930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74" name="o274"/>
          <p:cNvSpPr/>
          <p:nvPr/>
        </p:nvSpPr>
        <p:spPr>
          <a:xfrm>
            <a:off x="905256" y="4173093"/>
            <a:ext cx="566928" cy="56692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75" name="o275"/>
          <p:cNvSpPr/>
          <p:nvPr/>
        </p:nvSpPr>
        <p:spPr>
          <a:xfrm>
            <a:off x="950976" y="4218813"/>
            <a:ext cx="475488" cy="47548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76" name="o276"/>
          <p:cNvSpPr/>
          <p:nvPr/>
        </p:nvSpPr>
        <p:spPr>
          <a:xfrm>
            <a:off x="1089438" y="4357275"/>
            <a:ext cx="126860" cy="126860"/>
          </a:xfrm>
          <a:prstGeom prst="ellipse">
            <a:avLst/>
          </a:prstGeom>
          <a:noFill/>
          <a:ln w="43180" cap="rnd">
            <a:solidFill>
              <a:srgbClr val="FFFFFF"/>
            </a:solidFill>
          </a:ln>
        </p:spPr>
        <p:txBody>
          <a:bodyPr/>
          <a:p/>
        </p:txBody>
      </p:sp>
      <p:cxnSp>
        <p:nvCxnSpPr>
          <p:cNvPr id="277" name="l277"/>
          <p:cNvCxnSpPr/>
          <p:nvPr/>
        </p:nvCxnSpPr>
        <p:spPr>
          <a:xfrm>
            <a:off x="1205266" y="4473103"/>
            <a:ext cx="82735" cy="82735"/>
          </a:xfrm>
          <a:prstGeom prst="line">
            <a:avLst/>
          </a:prstGeom>
          <a:ln w="45720" cap="rnd">
            <a:solidFill>
              <a:srgbClr val="FFFFFF"/>
            </a:solidFill>
          </a:ln>
        </p:spPr>
      </p:cxnSp>
      <p:sp>
        <p:nvSpPr>
          <p:cNvPr id="278" name="t278"/>
          <p:cNvSpPr txBox="1"/>
          <p:nvPr/>
        </p:nvSpPr>
        <p:spPr>
          <a:xfrm>
            <a:off x="1609343" y="4283964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Autopsy</a:t>
            </a:r>
          </a:p>
        </p:txBody>
      </p:sp>
      <p:sp>
        <p:nvSpPr>
          <p:cNvPr id="279" name="t279"/>
          <p:cNvSpPr txBox="1"/>
          <p:nvPr/>
        </p:nvSpPr>
        <p:spPr>
          <a:xfrm>
            <a:off x="1609343" y="4567428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Open-source disk &amp; file investigation</a:t>
            </a:r>
          </a:p>
        </p:txBody>
      </p:sp>
      <p:sp>
        <p:nvSpPr>
          <p:cNvPr id="280" name="r280"/>
          <p:cNvSpPr/>
          <p:nvPr/>
        </p:nvSpPr>
        <p:spPr>
          <a:xfrm>
            <a:off x="822960" y="4876038"/>
            <a:ext cx="4788255" cy="582930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81" name="o281"/>
          <p:cNvSpPr/>
          <p:nvPr/>
        </p:nvSpPr>
        <p:spPr>
          <a:xfrm>
            <a:off x="905256" y="4884039"/>
            <a:ext cx="566928" cy="566928"/>
          </a:xfrm>
          <a:prstGeom prst="ellipse">
            <a:avLst/>
          </a:prstGeom>
          <a:noFill/>
          <a:ln w="17780" cap="rnd">
            <a:solidFill>
              <a:srgbClr val="2E9B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2" name="o282"/>
          <p:cNvSpPr/>
          <p:nvPr/>
        </p:nvSpPr>
        <p:spPr>
          <a:xfrm>
            <a:off x="950976" y="4929758"/>
            <a:ext cx="475488" cy="475488"/>
          </a:xfrm>
          <a:prstGeom prst="ellipse">
            <a:avLst/>
          </a:prstGeom>
          <a:gradFill rotWithShape="1">
            <a:gsLst>
              <a:gs pos="0">
                <a:srgbClr val="2E9BFF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cxnSp>
        <p:nvCxnSpPr>
          <p:cNvPr id="283" name="l283"/>
          <p:cNvCxnSpPr/>
          <p:nvPr/>
        </p:nvCxnSpPr>
        <p:spPr>
          <a:xfrm flipH="1">
            <a:off x="1111500" y="5090283"/>
            <a:ext cx="77220" cy="132376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cxnSp>
        <p:nvCxnSpPr>
          <p:cNvPr id="284" name="l284"/>
          <p:cNvCxnSpPr/>
          <p:nvPr/>
        </p:nvCxnSpPr>
        <p:spPr>
          <a:xfrm>
            <a:off x="1188720" y="5090283"/>
            <a:ext cx="77219" cy="132376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cxnSp>
        <p:nvCxnSpPr>
          <p:cNvPr id="285" name="l285"/>
          <p:cNvCxnSpPr/>
          <p:nvPr/>
        </p:nvCxnSpPr>
        <p:spPr>
          <a:xfrm>
            <a:off x="1111500" y="5228175"/>
            <a:ext cx="154439" cy="0"/>
          </a:xfrm>
          <a:prstGeom prst="line">
            <a:avLst/>
          </a:prstGeom>
          <a:ln w="27940" cap="rnd">
            <a:solidFill>
              <a:srgbClr val="FFFFFF"/>
            </a:solidFill>
          </a:ln>
        </p:spPr>
      </p:cxnSp>
      <p:sp>
        <p:nvSpPr>
          <p:cNvPr id="286" name="o286"/>
          <p:cNvSpPr/>
          <p:nvPr/>
        </p:nvSpPr>
        <p:spPr>
          <a:xfrm>
            <a:off x="1166657" y="5057189"/>
            <a:ext cx="44125" cy="441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7" name="o287"/>
          <p:cNvSpPr/>
          <p:nvPr/>
        </p:nvSpPr>
        <p:spPr>
          <a:xfrm>
            <a:off x="1083922" y="5206112"/>
            <a:ext cx="44125" cy="441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8" name="o288"/>
          <p:cNvSpPr/>
          <p:nvPr/>
        </p:nvSpPr>
        <p:spPr>
          <a:xfrm>
            <a:off x="1249392" y="5206112"/>
            <a:ext cx="44125" cy="441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9" name="t289"/>
          <p:cNvSpPr txBox="1"/>
          <p:nvPr/>
        </p:nvSpPr>
        <p:spPr>
          <a:xfrm>
            <a:off x="1609343" y="4994909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Wireshark</a:t>
            </a:r>
          </a:p>
        </p:txBody>
      </p:sp>
      <p:sp>
        <p:nvSpPr>
          <p:cNvPr id="290" name="t290"/>
          <p:cNvSpPr txBox="1"/>
          <p:nvPr/>
        </p:nvSpPr>
        <p:spPr>
          <a:xfrm>
            <a:off x="1609343" y="5278374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Network traffic capture &amp; inspection</a:t>
            </a:r>
          </a:p>
        </p:txBody>
      </p:sp>
      <p:sp>
        <p:nvSpPr>
          <p:cNvPr id="291" name="r291"/>
          <p:cNvSpPr/>
          <p:nvPr/>
        </p:nvSpPr>
        <p:spPr>
          <a:xfrm>
            <a:off x="6324447" y="1700784"/>
            <a:ext cx="5300319" cy="4069080"/>
          </a:xfrm>
          <a:prstGeom prst="roundRect">
            <a:avLst>
              <a:gd name="adj" fmla="val 5000"/>
            </a:avLst>
          </a:prstGeom>
          <a:solidFill>
            <a:srgbClr val="0E2038">
              <a:alpha val="95000"/>
            </a:srgbClr>
          </a:solidFill>
          <a:ln w="16510" cap="rnd">
            <a:solidFill>
              <a:srgbClr val="24E0D8"/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92" name="r292"/>
          <p:cNvSpPr/>
          <p:nvPr/>
        </p:nvSpPr>
        <p:spPr>
          <a:xfrm>
            <a:off x="6324447" y="1700784"/>
            <a:ext cx="5300319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93" name="r293"/>
          <p:cNvSpPr/>
          <p:nvPr/>
        </p:nvSpPr>
        <p:spPr>
          <a:xfrm>
            <a:off x="6324447" y="2212848"/>
            <a:ext cx="5300319" cy="347472"/>
          </a:xfrm>
          <a:prstGeom prst="rect">
            <a:avLst/>
          </a:prstGeom>
          <a:solidFill>
            <a:srgbClr val="0C6E77"/>
          </a:solidFill>
          <a:ln>
            <a:noFill/>
          </a:ln>
        </p:spPr>
        <p:txBody>
          <a:bodyPr/>
          <a:p/>
        </p:txBody>
      </p:sp>
      <p:sp>
        <p:nvSpPr>
          <p:cNvPr id="294" name="o294"/>
          <p:cNvSpPr/>
          <p:nvPr/>
        </p:nvSpPr>
        <p:spPr>
          <a:xfrm>
            <a:off x="6534759" y="1773936"/>
            <a:ext cx="713232" cy="713232"/>
          </a:xfrm>
          <a:prstGeom prst="ellipse">
            <a:avLst/>
          </a:prstGeom>
          <a:noFill/>
          <a:ln w="17780" cap="rnd">
            <a:solidFill>
              <a:srgbClr val="FFFF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95" name="o295"/>
          <p:cNvSpPr/>
          <p:nvPr/>
        </p:nvSpPr>
        <p:spPr>
          <a:xfrm>
            <a:off x="6580479" y="1819656"/>
            <a:ext cx="621792" cy="62179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4E0D8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96" name="ff296"/>
          <p:cNvSpPr/>
          <p:nvPr/>
        </p:nvSpPr>
        <p:spPr>
          <a:xfrm>
            <a:off x="6717273" y="1956450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000" y="72000"/>
                </a:moveTo>
                <a:cubicBezTo>
                  <a:pt x="12000" y="72000"/>
                  <a:pt x="10000" y="52000"/>
                  <a:pt x="28000" y="50000"/>
                </a:cubicBezTo>
                <a:cubicBezTo>
                  <a:pt x="28000" y="30000"/>
                  <a:pt x="58000" y="26000"/>
                  <a:pt x="62000" y="46000"/>
                </a:cubicBezTo>
                <a:cubicBezTo>
                  <a:pt x="84000" y="42000"/>
                  <a:pt x="92000" y="70000"/>
                  <a:pt x="74000" y="72000"/>
                </a:cubicBezTo>
                <a:lnTo>
                  <a:pt x="26000" y="7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97" name="t297"/>
          <p:cNvSpPr txBox="1"/>
          <p:nvPr/>
        </p:nvSpPr>
        <p:spPr>
          <a:xfrm>
            <a:off x="7348575" y="1938528"/>
            <a:ext cx="4111599" cy="40233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FFFFF"/>
                </a:solidFill>
                <a:latin typeface="Segoe UI"/>
                <a:cs typeface="Segoe UI"/>
              </a:rPr>
              <a:t>Cloud Incident</a:t>
            </a:r>
          </a:p>
        </p:txBody>
      </p:sp>
      <p:sp>
        <p:nvSpPr>
          <p:cNvPr id="298" name="r298"/>
          <p:cNvSpPr/>
          <p:nvPr/>
        </p:nvSpPr>
        <p:spPr>
          <a:xfrm>
            <a:off x="6580479" y="2743200"/>
            <a:ext cx="4788255" cy="819912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299" name="o299"/>
          <p:cNvSpPr/>
          <p:nvPr/>
        </p:nvSpPr>
        <p:spPr>
          <a:xfrm>
            <a:off x="6662775" y="2869692"/>
            <a:ext cx="566928" cy="56692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00" name="o300"/>
          <p:cNvSpPr/>
          <p:nvPr/>
        </p:nvSpPr>
        <p:spPr>
          <a:xfrm>
            <a:off x="6708495" y="2915412"/>
            <a:ext cx="475488" cy="47548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01" name="ff301"/>
          <p:cNvSpPr/>
          <p:nvPr/>
        </p:nvSpPr>
        <p:spPr>
          <a:xfrm>
            <a:off x="6808348" y="3015264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0000" y="14000"/>
                </a:moveTo>
                <a:lnTo>
                  <a:pt x="64000" y="14000"/>
                </a:lnTo>
                <a:lnTo>
                  <a:pt x="80000" y="30000"/>
                </a:lnTo>
                <a:lnTo>
                  <a:pt x="80000" y="86000"/>
                </a:lnTo>
                <a:lnTo>
                  <a:pt x="20000" y="8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02" name="ff302"/>
          <p:cNvSpPr/>
          <p:nvPr/>
        </p:nvSpPr>
        <p:spPr>
          <a:xfrm>
            <a:off x="6808348" y="3015264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000" y="40000"/>
                </a:moveTo>
                <a:lnTo>
                  <a:pt x="72000" y="40000"/>
                </a:lnTo>
                <a:lnTo>
                  <a:pt x="72000" y="45000"/>
                </a:lnTo>
                <a:lnTo>
                  <a:pt x="28000" y="45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3" name="ff303"/>
          <p:cNvSpPr/>
          <p:nvPr/>
        </p:nvSpPr>
        <p:spPr>
          <a:xfrm>
            <a:off x="6808348" y="3015264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000" y="52000"/>
                </a:moveTo>
                <a:lnTo>
                  <a:pt x="72000" y="52000"/>
                </a:lnTo>
                <a:lnTo>
                  <a:pt x="72000" y="57000"/>
                </a:lnTo>
                <a:lnTo>
                  <a:pt x="28000" y="57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4" name="ff304"/>
          <p:cNvSpPr/>
          <p:nvPr/>
        </p:nvSpPr>
        <p:spPr>
          <a:xfrm>
            <a:off x="6808348" y="3015264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8000" y="64000"/>
                </a:moveTo>
                <a:lnTo>
                  <a:pt x="56000" y="64000"/>
                </a:lnTo>
                <a:lnTo>
                  <a:pt x="56000" y="69000"/>
                </a:lnTo>
                <a:lnTo>
                  <a:pt x="28000" y="69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05" name="t305"/>
          <p:cNvSpPr txBox="1"/>
          <p:nvPr/>
        </p:nvSpPr>
        <p:spPr>
          <a:xfrm>
            <a:off x="7366863" y="2862072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Native CSP Audit Logs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7366863" y="3145536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Provider activity &amp; API trails</a:t>
            </a:r>
          </a:p>
        </p:txBody>
      </p:sp>
      <p:sp>
        <p:nvSpPr>
          <p:cNvPr id="307" name="r307"/>
          <p:cNvSpPr/>
          <p:nvPr/>
        </p:nvSpPr>
        <p:spPr>
          <a:xfrm>
            <a:off x="6580479" y="3691128"/>
            <a:ext cx="4788255" cy="819912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08" name="o308"/>
          <p:cNvSpPr/>
          <p:nvPr/>
        </p:nvSpPr>
        <p:spPr>
          <a:xfrm>
            <a:off x="6662775" y="3817620"/>
            <a:ext cx="566928" cy="56692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09" name="o309"/>
          <p:cNvSpPr/>
          <p:nvPr/>
        </p:nvSpPr>
        <p:spPr>
          <a:xfrm>
            <a:off x="6708495" y="3863340"/>
            <a:ext cx="475488" cy="47548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10" name="ff310"/>
          <p:cNvSpPr/>
          <p:nvPr/>
        </p:nvSpPr>
        <p:spPr>
          <a:xfrm>
            <a:off x="6808348" y="3963192"/>
            <a:ext cx="275783" cy="27578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4000" y="30000"/>
                </a:moveTo>
                <a:lnTo>
                  <a:pt x="30000" y="30000"/>
                </a:lnTo>
                <a:lnTo>
                  <a:pt x="38000" y="22000"/>
                </a:lnTo>
                <a:lnTo>
                  <a:pt x="62000" y="22000"/>
                </a:lnTo>
                <a:lnTo>
                  <a:pt x="70000" y="30000"/>
                </a:lnTo>
                <a:lnTo>
                  <a:pt x="86000" y="30000"/>
                </a:lnTo>
                <a:lnTo>
                  <a:pt x="86000" y="80000"/>
                </a:lnTo>
                <a:lnTo>
                  <a:pt x="14000" y="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1" name="o311"/>
          <p:cNvSpPr/>
          <p:nvPr/>
        </p:nvSpPr>
        <p:spPr>
          <a:xfrm>
            <a:off x="6896598" y="4062474"/>
            <a:ext cx="99281" cy="99281"/>
          </a:xfrm>
          <a:prstGeom prst="ellipse">
            <a:avLst/>
          </a:pr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312" name="o312"/>
          <p:cNvSpPr/>
          <p:nvPr/>
        </p:nvSpPr>
        <p:spPr>
          <a:xfrm>
            <a:off x="6913145" y="4079021"/>
            <a:ext cx="66187" cy="6618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3" name="t313"/>
          <p:cNvSpPr txBox="1"/>
          <p:nvPr/>
        </p:nvSpPr>
        <p:spPr>
          <a:xfrm>
            <a:off x="7366863" y="3810000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Magnet AXIOM Cloud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7366863" y="4093464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Acquire &amp; analyse cloud data</a:t>
            </a:r>
          </a:p>
        </p:txBody>
      </p:sp>
      <p:sp>
        <p:nvSpPr>
          <p:cNvPr id="315" name="r315"/>
          <p:cNvSpPr/>
          <p:nvPr/>
        </p:nvSpPr>
        <p:spPr>
          <a:xfrm>
            <a:off x="6580479" y="4639056"/>
            <a:ext cx="4788255" cy="819912"/>
          </a:xfrm>
          <a:prstGeom prst="roundRect">
            <a:avLst>
              <a:gd name="adj" fmla="val 10000"/>
            </a:avLst>
          </a:prstGeom>
          <a:solidFill>
            <a:srgbClr val="12263F"/>
          </a:solidFill>
          <a:ln w="11430" cap="rnd">
            <a:solidFill>
              <a:srgbClr val="2A4E76"/>
            </a:solidFill>
          </a:ln>
        </p:spPr>
        <p:txBody>
          <a:bodyPr/>
          <a:p/>
        </p:txBody>
      </p:sp>
      <p:sp>
        <p:nvSpPr>
          <p:cNvPr id="316" name="o316"/>
          <p:cNvSpPr/>
          <p:nvPr/>
        </p:nvSpPr>
        <p:spPr>
          <a:xfrm>
            <a:off x="6662775" y="4765548"/>
            <a:ext cx="566928" cy="566928"/>
          </a:xfrm>
          <a:prstGeom prst="ellipse">
            <a:avLst/>
          </a:prstGeom>
          <a:noFill/>
          <a:ln w="17780" cap="rnd">
            <a:solidFill>
              <a:srgbClr val="24E0D8">
                <a:alpha val="55000"/>
              </a:srgbClr>
            </a:solidFill>
          </a:ln>
        </p:spPr>
        <p:txBody>
          <a:bodyPr/>
          <a:p/>
        </p:txBody>
      </p:sp>
      <p:sp>
        <p:nvSpPr>
          <p:cNvPr id="317" name="o317"/>
          <p:cNvSpPr/>
          <p:nvPr/>
        </p:nvSpPr>
        <p:spPr>
          <a:xfrm>
            <a:off x="6708495" y="4811268"/>
            <a:ext cx="475488" cy="475488"/>
          </a:xfrm>
          <a:prstGeom prst="ellipse">
            <a:avLst/>
          </a:prstGeom>
          <a:gradFill rotWithShape="1">
            <a:gsLst>
              <a:gs pos="0">
                <a:srgbClr val="24E0D8"/>
              </a:gs>
              <a:gs pos="100000">
                <a:srgbClr val="0D1B3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18" name="o318"/>
          <p:cNvSpPr/>
          <p:nvPr/>
        </p:nvSpPr>
        <p:spPr>
          <a:xfrm>
            <a:off x="6841442" y="4960761"/>
            <a:ext cx="99281" cy="99281"/>
          </a:xfrm>
          <a:prstGeom prst="ellipse">
            <a:avLst/>
          </a:prstGeom>
          <a:noFill/>
          <a:ln w="50800" cap="rnd">
            <a:solidFill>
              <a:srgbClr val="FFFFFF"/>
            </a:solidFill>
          </a:ln>
        </p:spPr>
        <p:txBody>
          <a:bodyPr/>
          <a:p/>
        </p:txBody>
      </p:sp>
      <p:cxnSp>
        <p:nvCxnSpPr>
          <p:cNvPr id="319" name="l319"/>
          <p:cNvCxnSpPr/>
          <p:nvPr/>
        </p:nvCxnSpPr>
        <p:spPr>
          <a:xfrm>
            <a:off x="6924176" y="5043496"/>
            <a:ext cx="121345" cy="104797"/>
          </a:xfrm>
          <a:prstGeom prst="line">
            <a:avLst/>
          </a:prstGeom>
          <a:ln w="50800" cap="rnd">
            <a:solidFill>
              <a:srgbClr val="FFFFFF"/>
            </a:solidFill>
          </a:ln>
        </p:spPr>
      </p:cxnSp>
      <p:cxnSp>
        <p:nvCxnSpPr>
          <p:cNvPr id="320" name="l320"/>
          <p:cNvCxnSpPr/>
          <p:nvPr/>
        </p:nvCxnSpPr>
        <p:spPr>
          <a:xfrm flipV="1">
            <a:off x="6990364" y="5054527"/>
            <a:ext cx="44126" cy="38610"/>
          </a:xfrm>
          <a:prstGeom prst="line">
            <a:avLst/>
          </a:prstGeom>
          <a:ln w="50800" cap="rnd">
            <a:solidFill>
              <a:srgbClr val="FFFFFF"/>
            </a:solidFill>
          </a:ln>
        </p:spPr>
      </p:cxnSp>
      <p:sp>
        <p:nvSpPr>
          <p:cNvPr id="321" name="t321"/>
          <p:cNvSpPr txBox="1"/>
          <p:nvPr/>
        </p:nvSpPr>
        <p:spPr>
          <a:xfrm>
            <a:off x="7366863" y="4757928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Cellebrite Cloud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7366863" y="5041392"/>
            <a:ext cx="4001871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9DB4CC"/>
                </a:solidFill>
                <a:latin typeface="Segoe UI"/>
                <a:cs typeface="Segoe UI"/>
              </a:rPr>
              <a:t>Cloud account &amp; app data extraction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55000">
                <a:srgbClr val="0A1526"/>
              </a:gs>
              <a:gs pos="100000">
                <a:srgbClr val="070F1C"/>
              </a:gs>
            </a:gsLst>
            <a:lin ang="3200000" scaled="1"/>
          </a:gradFill>
          <a:ln>
            <a:noFill/>
          </a:ln>
        </p:spPr>
        <p:txBody>
          <a:bodyPr/>
          <a:p/>
        </p:txBody>
      </p:sp>
      <p:sp>
        <p:nvSpPr>
          <p:cNvPr id="3" name="o3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2E9B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o4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E0D8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" name="o5"/>
          <p:cNvSpPr/>
          <p:nvPr/>
        </p:nvSpPr>
        <p:spPr>
          <a:xfrm>
            <a:off x="64008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o6"/>
          <p:cNvSpPr/>
          <p:nvPr/>
        </p:nvSpPr>
        <p:spPr>
          <a:xfrm>
            <a:off x="64008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o7"/>
          <p:cNvSpPr/>
          <p:nvPr/>
        </p:nvSpPr>
        <p:spPr>
          <a:xfrm>
            <a:off x="64008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o8"/>
          <p:cNvSpPr/>
          <p:nvPr/>
        </p:nvSpPr>
        <p:spPr>
          <a:xfrm>
            <a:off x="64008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o9"/>
          <p:cNvSpPr/>
          <p:nvPr/>
        </p:nvSpPr>
        <p:spPr>
          <a:xfrm>
            <a:off x="64008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o10"/>
          <p:cNvSpPr/>
          <p:nvPr/>
        </p:nvSpPr>
        <p:spPr>
          <a:xfrm>
            <a:off x="64008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o11"/>
          <p:cNvSpPr/>
          <p:nvPr/>
        </p:nvSpPr>
        <p:spPr>
          <a:xfrm>
            <a:off x="64008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o12"/>
          <p:cNvSpPr/>
          <p:nvPr/>
        </p:nvSpPr>
        <p:spPr>
          <a:xfrm>
            <a:off x="64008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o13"/>
          <p:cNvSpPr/>
          <p:nvPr/>
        </p:nvSpPr>
        <p:spPr>
          <a:xfrm>
            <a:off x="64008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o14"/>
          <p:cNvSpPr/>
          <p:nvPr/>
        </p:nvSpPr>
        <p:spPr>
          <a:xfrm>
            <a:off x="64008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" name="o15"/>
          <p:cNvSpPr/>
          <p:nvPr/>
        </p:nvSpPr>
        <p:spPr>
          <a:xfrm>
            <a:off x="64008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" name="o16"/>
          <p:cNvSpPr/>
          <p:nvPr/>
        </p:nvSpPr>
        <p:spPr>
          <a:xfrm>
            <a:off x="120700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o17"/>
          <p:cNvSpPr/>
          <p:nvPr/>
        </p:nvSpPr>
        <p:spPr>
          <a:xfrm>
            <a:off x="120700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o18"/>
          <p:cNvSpPr/>
          <p:nvPr/>
        </p:nvSpPr>
        <p:spPr>
          <a:xfrm>
            <a:off x="120700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o19"/>
          <p:cNvSpPr/>
          <p:nvPr/>
        </p:nvSpPr>
        <p:spPr>
          <a:xfrm>
            <a:off x="120700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o20"/>
          <p:cNvSpPr/>
          <p:nvPr/>
        </p:nvSpPr>
        <p:spPr>
          <a:xfrm>
            <a:off x="120700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o21"/>
          <p:cNvSpPr/>
          <p:nvPr/>
        </p:nvSpPr>
        <p:spPr>
          <a:xfrm>
            <a:off x="120700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o22"/>
          <p:cNvSpPr/>
          <p:nvPr/>
        </p:nvSpPr>
        <p:spPr>
          <a:xfrm>
            <a:off x="120700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o23"/>
          <p:cNvSpPr/>
          <p:nvPr/>
        </p:nvSpPr>
        <p:spPr>
          <a:xfrm>
            <a:off x="120700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" name="o24"/>
          <p:cNvSpPr/>
          <p:nvPr/>
        </p:nvSpPr>
        <p:spPr>
          <a:xfrm>
            <a:off x="120700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o25"/>
          <p:cNvSpPr/>
          <p:nvPr/>
        </p:nvSpPr>
        <p:spPr>
          <a:xfrm>
            <a:off x="120700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o26"/>
          <p:cNvSpPr/>
          <p:nvPr/>
        </p:nvSpPr>
        <p:spPr>
          <a:xfrm>
            <a:off x="120700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o27"/>
          <p:cNvSpPr/>
          <p:nvPr/>
        </p:nvSpPr>
        <p:spPr>
          <a:xfrm>
            <a:off x="177393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8" name="o28"/>
          <p:cNvSpPr/>
          <p:nvPr/>
        </p:nvSpPr>
        <p:spPr>
          <a:xfrm>
            <a:off x="177393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o29"/>
          <p:cNvSpPr/>
          <p:nvPr/>
        </p:nvSpPr>
        <p:spPr>
          <a:xfrm>
            <a:off x="177393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o30"/>
          <p:cNvSpPr/>
          <p:nvPr/>
        </p:nvSpPr>
        <p:spPr>
          <a:xfrm>
            <a:off x="177393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" name="o31"/>
          <p:cNvSpPr/>
          <p:nvPr/>
        </p:nvSpPr>
        <p:spPr>
          <a:xfrm>
            <a:off x="177393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o32"/>
          <p:cNvSpPr/>
          <p:nvPr/>
        </p:nvSpPr>
        <p:spPr>
          <a:xfrm>
            <a:off x="177393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o33"/>
          <p:cNvSpPr/>
          <p:nvPr/>
        </p:nvSpPr>
        <p:spPr>
          <a:xfrm>
            <a:off x="177393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o34"/>
          <p:cNvSpPr/>
          <p:nvPr/>
        </p:nvSpPr>
        <p:spPr>
          <a:xfrm>
            <a:off x="177393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o35"/>
          <p:cNvSpPr/>
          <p:nvPr/>
        </p:nvSpPr>
        <p:spPr>
          <a:xfrm>
            <a:off x="177393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6" name="o36"/>
          <p:cNvSpPr/>
          <p:nvPr/>
        </p:nvSpPr>
        <p:spPr>
          <a:xfrm>
            <a:off x="177393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o37"/>
          <p:cNvSpPr/>
          <p:nvPr/>
        </p:nvSpPr>
        <p:spPr>
          <a:xfrm>
            <a:off x="177393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o38"/>
          <p:cNvSpPr/>
          <p:nvPr/>
        </p:nvSpPr>
        <p:spPr>
          <a:xfrm>
            <a:off x="234086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o39"/>
          <p:cNvSpPr/>
          <p:nvPr/>
        </p:nvSpPr>
        <p:spPr>
          <a:xfrm>
            <a:off x="234086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0" name="o40"/>
          <p:cNvSpPr/>
          <p:nvPr/>
        </p:nvSpPr>
        <p:spPr>
          <a:xfrm>
            <a:off x="234086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o41"/>
          <p:cNvSpPr/>
          <p:nvPr/>
        </p:nvSpPr>
        <p:spPr>
          <a:xfrm>
            <a:off x="234086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o42"/>
          <p:cNvSpPr/>
          <p:nvPr/>
        </p:nvSpPr>
        <p:spPr>
          <a:xfrm>
            <a:off x="234086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3" name="o43"/>
          <p:cNvSpPr/>
          <p:nvPr/>
        </p:nvSpPr>
        <p:spPr>
          <a:xfrm>
            <a:off x="234086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o44"/>
          <p:cNvSpPr/>
          <p:nvPr/>
        </p:nvSpPr>
        <p:spPr>
          <a:xfrm>
            <a:off x="234086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o45"/>
          <p:cNvSpPr/>
          <p:nvPr/>
        </p:nvSpPr>
        <p:spPr>
          <a:xfrm>
            <a:off x="234086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o46"/>
          <p:cNvSpPr/>
          <p:nvPr/>
        </p:nvSpPr>
        <p:spPr>
          <a:xfrm>
            <a:off x="234086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o47"/>
          <p:cNvSpPr/>
          <p:nvPr/>
        </p:nvSpPr>
        <p:spPr>
          <a:xfrm>
            <a:off x="234086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8" name="o48"/>
          <p:cNvSpPr/>
          <p:nvPr/>
        </p:nvSpPr>
        <p:spPr>
          <a:xfrm>
            <a:off x="234086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o49"/>
          <p:cNvSpPr/>
          <p:nvPr/>
        </p:nvSpPr>
        <p:spPr>
          <a:xfrm>
            <a:off x="290779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o50"/>
          <p:cNvSpPr/>
          <p:nvPr/>
        </p:nvSpPr>
        <p:spPr>
          <a:xfrm>
            <a:off x="290779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1" name="o51"/>
          <p:cNvSpPr/>
          <p:nvPr/>
        </p:nvSpPr>
        <p:spPr>
          <a:xfrm>
            <a:off x="290779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o52"/>
          <p:cNvSpPr/>
          <p:nvPr/>
        </p:nvSpPr>
        <p:spPr>
          <a:xfrm>
            <a:off x="290779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o53"/>
          <p:cNvSpPr/>
          <p:nvPr/>
        </p:nvSpPr>
        <p:spPr>
          <a:xfrm>
            <a:off x="290779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o54"/>
          <p:cNvSpPr/>
          <p:nvPr/>
        </p:nvSpPr>
        <p:spPr>
          <a:xfrm>
            <a:off x="290779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5" name="o55"/>
          <p:cNvSpPr/>
          <p:nvPr/>
        </p:nvSpPr>
        <p:spPr>
          <a:xfrm>
            <a:off x="290779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o56"/>
          <p:cNvSpPr/>
          <p:nvPr/>
        </p:nvSpPr>
        <p:spPr>
          <a:xfrm>
            <a:off x="290779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o57"/>
          <p:cNvSpPr/>
          <p:nvPr/>
        </p:nvSpPr>
        <p:spPr>
          <a:xfrm>
            <a:off x="290779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o58"/>
          <p:cNvSpPr/>
          <p:nvPr/>
        </p:nvSpPr>
        <p:spPr>
          <a:xfrm>
            <a:off x="290779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9" name="o59"/>
          <p:cNvSpPr/>
          <p:nvPr/>
        </p:nvSpPr>
        <p:spPr>
          <a:xfrm>
            <a:off x="290779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o60"/>
          <p:cNvSpPr/>
          <p:nvPr/>
        </p:nvSpPr>
        <p:spPr>
          <a:xfrm>
            <a:off x="347472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o61"/>
          <p:cNvSpPr/>
          <p:nvPr/>
        </p:nvSpPr>
        <p:spPr>
          <a:xfrm>
            <a:off x="347472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o62"/>
          <p:cNvSpPr/>
          <p:nvPr/>
        </p:nvSpPr>
        <p:spPr>
          <a:xfrm>
            <a:off x="347472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o63"/>
          <p:cNvSpPr/>
          <p:nvPr/>
        </p:nvSpPr>
        <p:spPr>
          <a:xfrm>
            <a:off x="347472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o64"/>
          <p:cNvSpPr/>
          <p:nvPr/>
        </p:nvSpPr>
        <p:spPr>
          <a:xfrm>
            <a:off x="347472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o65"/>
          <p:cNvSpPr/>
          <p:nvPr/>
        </p:nvSpPr>
        <p:spPr>
          <a:xfrm>
            <a:off x="347472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o66"/>
          <p:cNvSpPr/>
          <p:nvPr/>
        </p:nvSpPr>
        <p:spPr>
          <a:xfrm>
            <a:off x="347472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7" name="o67"/>
          <p:cNvSpPr/>
          <p:nvPr/>
        </p:nvSpPr>
        <p:spPr>
          <a:xfrm>
            <a:off x="347472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8" name="o68"/>
          <p:cNvSpPr/>
          <p:nvPr/>
        </p:nvSpPr>
        <p:spPr>
          <a:xfrm>
            <a:off x="347472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9" name="o69"/>
          <p:cNvSpPr/>
          <p:nvPr/>
        </p:nvSpPr>
        <p:spPr>
          <a:xfrm>
            <a:off x="347472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o70"/>
          <p:cNvSpPr/>
          <p:nvPr/>
        </p:nvSpPr>
        <p:spPr>
          <a:xfrm>
            <a:off x="347472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o71"/>
          <p:cNvSpPr/>
          <p:nvPr/>
        </p:nvSpPr>
        <p:spPr>
          <a:xfrm>
            <a:off x="404164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2" name="o72"/>
          <p:cNvSpPr/>
          <p:nvPr/>
        </p:nvSpPr>
        <p:spPr>
          <a:xfrm>
            <a:off x="404164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o73"/>
          <p:cNvSpPr/>
          <p:nvPr/>
        </p:nvSpPr>
        <p:spPr>
          <a:xfrm>
            <a:off x="404164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4" name="o74"/>
          <p:cNvSpPr/>
          <p:nvPr/>
        </p:nvSpPr>
        <p:spPr>
          <a:xfrm>
            <a:off x="404164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o75"/>
          <p:cNvSpPr/>
          <p:nvPr/>
        </p:nvSpPr>
        <p:spPr>
          <a:xfrm>
            <a:off x="404164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6" name="o76"/>
          <p:cNvSpPr/>
          <p:nvPr/>
        </p:nvSpPr>
        <p:spPr>
          <a:xfrm>
            <a:off x="404164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7" name="o77"/>
          <p:cNvSpPr/>
          <p:nvPr/>
        </p:nvSpPr>
        <p:spPr>
          <a:xfrm>
            <a:off x="404164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8" name="o78"/>
          <p:cNvSpPr/>
          <p:nvPr/>
        </p:nvSpPr>
        <p:spPr>
          <a:xfrm>
            <a:off x="404164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9" name="o79"/>
          <p:cNvSpPr/>
          <p:nvPr/>
        </p:nvSpPr>
        <p:spPr>
          <a:xfrm>
            <a:off x="404164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0" name="o80"/>
          <p:cNvSpPr/>
          <p:nvPr/>
        </p:nvSpPr>
        <p:spPr>
          <a:xfrm>
            <a:off x="404164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1" name="o81"/>
          <p:cNvSpPr/>
          <p:nvPr/>
        </p:nvSpPr>
        <p:spPr>
          <a:xfrm>
            <a:off x="404164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o82"/>
          <p:cNvSpPr/>
          <p:nvPr/>
        </p:nvSpPr>
        <p:spPr>
          <a:xfrm>
            <a:off x="460857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o83"/>
          <p:cNvSpPr/>
          <p:nvPr/>
        </p:nvSpPr>
        <p:spPr>
          <a:xfrm>
            <a:off x="460857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o84"/>
          <p:cNvSpPr/>
          <p:nvPr/>
        </p:nvSpPr>
        <p:spPr>
          <a:xfrm>
            <a:off x="460857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5" name="o85"/>
          <p:cNvSpPr/>
          <p:nvPr/>
        </p:nvSpPr>
        <p:spPr>
          <a:xfrm>
            <a:off x="460857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o86"/>
          <p:cNvSpPr/>
          <p:nvPr/>
        </p:nvSpPr>
        <p:spPr>
          <a:xfrm>
            <a:off x="460857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o87"/>
          <p:cNvSpPr/>
          <p:nvPr/>
        </p:nvSpPr>
        <p:spPr>
          <a:xfrm>
            <a:off x="460857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o88"/>
          <p:cNvSpPr/>
          <p:nvPr/>
        </p:nvSpPr>
        <p:spPr>
          <a:xfrm>
            <a:off x="460857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o89"/>
          <p:cNvSpPr/>
          <p:nvPr/>
        </p:nvSpPr>
        <p:spPr>
          <a:xfrm>
            <a:off x="460857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o90"/>
          <p:cNvSpPr/>
          <p:nvPr/>
        </p:nvSpPr>
        <p:spPr>
          <a:xfrm>
            <a:off x="460857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o91"/>
          <p:cNvSpPr/>
          <p:nvPr/>
        </p:nvSpPr>
        <p:spPr>
          <a:xfrm>
            <a:off x="460857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2" name="o92"/>
          <p:cNvSpPr/>
          <p:nvPr/>
        </p:nvSpPr>
        <p:spPr>
          <a:xfrm>
            <a:off x="460857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o93"/>
          <p:cNvSpPr/>
          <p:nvPr/>
        </p:nvSpPr>
        <p:spPr>
          <a:xfrm>
            <a:off x="517550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4" name="o94"/>
          <p:cNvSpPr/>
          <p:nvPr/>
        </p:nvSpPr>
        <p:spPr>
          <a:xfrm>
            <a:off x="517550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o95"/>
          <p:cNvSpPr/>
          <p:nvPr/>
        </p:nvSpPr>
        <p:spPr>
          <a:xfrm>
            <a:off x="517550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6" name="o96"/>
          <p:cNvSpPr/>
          <p:nvPr/>
        </p:nvSpPr>
        <p:spPr>
          <a:xfrm>
            <a:off x="517550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o97"/>
          <p:cNvSpPr/>
          <p:nvPr/>
        </p:nvSpPr>
        <p:spPr>
          <a:xfrm>
            <a:off x="517550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8" name="o98"/>
          <p:cNvSpPr/>
          <p:nvPr/>
        </p:nvSpPr>
        <p:spPr>
          <a:xfrm>
            <a:off x="517550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o99"/>
          <p:cNvSpPr/>
          <p:nvPr/>
        </p:nvSpPr>
        <p:spPr>
          <a:xfrm>
            <a:off x="517550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0" name="o100"/>
          <p:cNvSpPr/>
          <p:nvPr/>
        </p:nvSpPr>
        <p:spPr>
          <a:xfrm>
            <a:off x="517550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o101"/>
          <p:cNvSpPr/>
          <p:nvPr/>
        </p:nvSpPr>
        <p:spPr>
          <a:xfrm>
            <a:off x="517550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2" name="o102"/>
          <p:cNvSpPr/>
          <p:nvPr/>
        </p:nvSpPr>
        <p:spPr>
          <a:xfrm>
            <a:off x="517550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o103"/>
          <p:cNvSpPr/>
          <p:nvPr/>
        </p:nvSpPr>
        <p:spPr>
          <a:xfrm>
            <a:off x="517550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4" name="o104"/>
          <p:cNvSpPr/>
          <p:nvPr/>
        </p:nvSpPr>
        <p:spPr>
          <a:xfrm>
            <a:off x="574243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o105"/>
          <p:cNvSpPr/>
          <p:nvPr/>
        </p:nvSpPr>
        <p:spPr>
          <a:xfrm>
            <a:off x="574243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6" name="o106"/>
          <p:cNvSpPr/>
          <p:nvPr/>
        </p:nvSpPr>
        <p:spPr>
          <a:xfrm>
            <a:off x="574243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o107"/>
          <p:cNvSpPr/>
          <p:nvPr/>
        </p:nvSpPr>
        <p:spPr>
          <a:xfrm>
            <a:off x="574243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8" name="o108"/>
          <p:cNvSpPr/>
          <p:nvPr/>
        </p:nvSpPr>
        <p:spPr>
          <a:xfrm>
            <a:off x="574243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o109"/>
          <p:cNvSpPr/>
          <p:nvPr/>
        </p:nvSpPr>
        <p:spPr>
          <a:xfrm>
            <a:off x="574243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0" name="o110"/>
          <p:cNvSpPr/>
          <p:nvPr/>
        </p:nvSpPr>
        <p:spPr>
          <a:xfrm>
            <a:off x="574243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o111"/>
          <p:cNvSpPr/>
          <p:nvPr/>
        </p:nvSpPr>
        <p:spPr>
          <a:xfrm>
            <a:off x="574243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2" name="o112"/>
          <p:cNvSpPr/>
          <p:nvPr/>
        </p:nvSpPr>
        <p:spPr>
          <a:xfrm>
            <a:off x="574243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o113"/>
          <p:cNvSpPr/>
          <p:nvPr/>
        </p:nvSpPr>
        <p:spPr>
          <a:xfrm>
            <a:off x="574243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o114"/>
          <p:cNvSpPr/>
          <p:nvPr/>
        </p:nvSpPr>
        <p:spPr>
          <a:xfrm>
            <a:off x="574243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5" name="o115"/>
          <p:cNvSpPr/>
          <p:nvPr/>
        </p:nvSpPr>
        <p:spPr>
          <a:xfrm>
            <a:off x="6309360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6" name="o116"/>
          <p:cNvSpPr/>
          <p:nvPr/>
        </p:nvSpPr>
        <p:spPr>
          <a:xfrm>
            <a:off x="6309360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o117"/>
          <p:cNvSpPr/>
          <p:nvPr/>
        </p:nvSpPr>
        <p:spPr>
          <a:xfrm>
            <a:off x="6309360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8" name="o118"/>
          <p:cNvSpPr/>
          <p:nvPr/>
        </p:nvSpPr>
        <p:spPr>
          <a:xfrm>
            <a:off x="6309360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9" name="o119"/>
          <p:cNvSpPr/>
          <p:nvPr/>
        </p:nvSpPr>
        <p:spPr>
          <a:xfrm>
            <a:off x="6309360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0" name="o120"/>
          <p:cNvSpPr/>
          <p:nvPr/>
        </p:nvSpPr>
        <p:spPr>
          <a:xfrm>
            <a:off x="6309360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1" name="o121"/>
          <p:cNvSpPr/>
          <p:nvPr/>
        </p:nvSpPr>
        <p:spPr>
          <a:xfrm>
            <a:off x="6309360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2" name="o122"/>
          <p:cNvSpPr/>
          <p:nvPr/>
        </p:nvSpPr>
        <p:spPr>
          <a:xfrm>
            <a:off x="6309360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3" name="o123"/>
          <p:cNvSpPr/>
          <p:nvPr/>
        </p:nvSpPr>
        <p:spPr>
          <a:xfrm>
            <a:off x="6309360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4" name="o124"/>
          <p:cNvSpPr/>
          <p:nvPr/>
        </p:nvSpPr>
        <p:spPr>
          <a:xfrm>
            <a:off x="6309360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5" name="o125"/>
          <p:cNvSpPr/>
          <p:nvPr/>
        </p:nvSpPr>
        <p:spPr>
          <a:xfrm>
            <a:off x="6309360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6" name="o126"/>
          <p:cNvSpPr/>
          <p:nvPr/>
        </p:nvSpPr>
        <p:spPr>
          <a:xfrm>
            <a:off x="6876288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7" name="o127"/>
          <p:cNvSpPr/>
          <p:nvPr/>
        </p:nvSpPr>
        <p:spPr>
          <a:xfrm>
            <a:off x="6876288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8" name="o128"/>
          <p:cNvSpPr/>
          <p:nvPr/>
        </p:nvSpPr>
        <p:spPr>
          <a:xfrm>
            <a:off x="6876288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9" name="o129"/>
          <p:cNvSpPr/>
          <p:nvPr/>
        </p:nvSpPr>
        <p:spPr>
          <a:xfrm>
            <a:off x="6876288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0" name="o130"/>
          <p:cNvSpPr/>
          <p:nvPr/>
        </p:nvSpPr>
        <p:spPr>
          <a:xfrm>
            <a:off x="6876288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1" name="o131"/>
          <p:cNvSpPr/>
          <p:nvPr/>
        </p:nvSpPr>
        <p:spPr>
          <a:xfrm>
            <a:off x="6876288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2" name="o132"/>
          <p:cNvSpPr/>
          <p:nvPr/>
        </p:nvSpPr>
        <p:spPr>
          <a:xfrm>
            <a:off x="6876288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3" name="o133"/>
          <p:cNvSpPr/>
          <p:nvPr/>
        </p:nvSpPr>
        <p:spPr>
          <a:xfrm>
            <a:off x="6876288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4" name="o134"/>
          <p:cNvSpPr/>
          <p:nvPr/>
        </p:nvSpPr>
        <p:spPr>
          <a:xfrm>
            <a:off x="6876288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5" name="o135"/>
          <p:cNvSpPr/>
          <p:nvPr/>
        </p:nvSpPr>
        <p:spPr>
          <a:xfrm>
            <a:off x="6876288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6" name="o136"/>
          <p:cNvSpPr/>
          <p:nvPr/>
        </p:nvSpPr>
        <p:spPr>
          <a:xfrm>
            <a:off x="6876288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7" name="o137"/>
          <p:cNvSpPr/>
          <p:nvPr/>
        </p:nvSpPr>
        <p:spPr>
          <a:xfrm>
            <a:off x="7443216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8" name="o138"/>
          <p:cNvSpPr/>
          <p:nvPr/>
        </p:nvSpPr>
        <p:spPr>
          <a:xfrm>
            <a:off x="7443216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9" name="o139"/>
          <p:cNvSpPr/>
          <p:nvPr/>
        </p:nvSpPr>
        <p:spPr>
          <a:xfrm>
            <a:off x="7443216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0" name="o140"/>
          <p:cNvSpPr/>
          <p:nvPr/>
        </p:nvSpPr>
        <p:spPr>
          <a:xfrm>
            <a:off x="7443216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1" name="o141"/>
          <p:cNvSpPr/>
          <p:nvPr/>
        </p:nvSpPr>
        <p:spPr>
          <a:xfrm>
            <a:off x="7443216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2" name="o142"/>
          <p:cNvSpPr/>
          <p:nvPr/>
        </p:nvSpPr>
        <p:spPr>
          <a:xfrm>
            <a:off x="7443216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3" name="o143"/>
          <p:cNvSpPr/>
          <p:nvPr/>
        </p:nvSpPr>
        <p:spPr>
          <a:xfrm>
            <a:off x="7443216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4" name="o144"/>
          <p:cNvSpPr/>
          <p:nvPr/>
        </p:nvSpPr>
        <p:spPr>
          <a:xfrm>
            <a:off x="7443216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5" name="o145"/>
          <p:cNvSpPr/>
          <p:nvPr/>
        </p:nvSpPr>
        <p:spPr>
          <a:xfrm>
            <a:off x="7443216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6" name="o146"/>
          <p:cNvSpPr/>
          <p:nvPr/>
        </p:nvSpPr>
        <p:spPr>
          <a:xfrm>
            <a:off x="7443216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7" name="o147"/>
          <p:cNvSpPr/>
          <p:nvPr/>
        </p:nvSpPr>
        <p:spPr>
          <a:xfrm>
            <a:off x="7443216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8" name="o148"/>
          <p:cNvSpPr/>
          <p:nvPr/>
        </p:nvSpPr>
        <p:spPr>
          <a:xfrm>
            <a:off x="8010144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9" name="o149"/>
          <p:cNvSpPr/>
          <p:nvPr/>
        </p:nvSpPr>
        <p:spPr>
          <a:xfrm>
            <a:off x="8010144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0" name="o150"/>
          <p:cNvSpPr/>
          <p:nvPr/>
        </p:nvSpPr>
        <p:spPr>
          <a:xfrm>
            <a:off x="8010144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1" name="o151"/>
          <p:cNvSpPr/>
          <p:nvPr/>
        </p:nvSpPr>
        <p:spPr>
          <a:xfrm>
            <a:off x="8010144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2" name="o152"/>
          <p:cNvSpPr/>
          <p:nvPr/>
        </p:nvSpPr>
        <p:spPr>
          <a:xfrm>
            <a:off x="8010144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3" name="o153"/>
          <p:cNvSpPr/>
          <p:nvPr/>
        </p:nvSpPr>
        <p:spPr>
          <a:xfrm>
            <a:off x="8010144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4" name="o154"/>
          <p:cNvSpPr/>
          <p:nvPr/>
        </p:nvSpPr>
        <p:spPr>
          <a:xfrm>
            <a:off x="8010144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5" name="o155"/>
          <p:cNvSpPr/>
          <p:nvPr/>
        </p:nvSpPr>
        <p:spPr>
          <a:xfrm>
            <a:off x="8010144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6" name="o156"/>
          <p:cNvSpPr/>
          <p:nvPr/>
        </p:nvSpPr>
        <p:spPr>
          <a:xfrm>
            <a:off x="8010144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7" name="o157"/>
          <p:cNvSpPr/>
          <p:nvPr/>
        </p:nvSpPr>
        <p:spPr>
          <a:xfrm>
            <a:off x="8010144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8" name="o158"/>
          <p:cNvSpPr/>
          <p:nvPr/>
        </p:nvSpPr>
        <p:spPr>
          <a:xfrm>
            <a:off x="8010144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59" name="o159"/>
          <p:cNvSpPr/>
          <p:nvPr/>
        </p:nvSpPr>
        <p:spPr>
          <a:xfrm>
            <a:off x="8577072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0" name="o160"/>
          <p:cNvSpPr/>
          <p:nvPr/>
        </p:nvSpPr>
        <p:spPr>
          <a:xfrm>
            <a:off x="8577072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1" name="o161"/>
          <p:cNvSpPr/>
          <p:nvPr/>
        </p:nvSpPr>
        <p:spPr>
          <a:xfrm>
            <a:off x="8577072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2" name="o162"/>
          <p:cNvSpPr/>
          <p:nvPr/>
        </p:nvSpPr>
        <p:spPr>
          <a:xfrm>
            <a:off x="8577072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3" name="o163"/>
          <p:cNvSpPr/>
          <p:nvPr/>
        </p:nvSpPr>
        <p:spPr>
          <a:xfrm>
            <a:off x="8577072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4" name="o164"/>
          <p:cNvSpPr/>
          <p:nvPr/>
        </p:nvSpPr>
        <p:spPr>
          <a:xfrm>
            <a:off x="8577072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5" name="o165"/>
          <p:cNvSpPr/>
          <p:nvPr/>
        </p:nvSpPr>
        <p:spPr>
          <a:xfrm>
            <a:off x="8577072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6" name="o166"/>
          <p:cNvSpPr/>
          <p:nvPr/>
        </p:nvSpPr>
        <p:spPr>
          <a:xfrm>
            <a:off x="8577072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7" name="o167"/>
          <p:cNvSpPr/>
          <p:nvPr/>
        </p:nvSpPr>
        <p:spPr>
          <a:xfrm>
            <a:off x="8577072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8" name="o168"/>
          <p:cNvSpPr/>
          <p:nvPr/>
        </p:nvSpPr>
        <p:spPr>
          <a:xfrm>
            <a:off x="8577072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69" name="o169"/>
          <p:cNvSpPr/>
          <p:nvPr/>
        </p:nvSpPr>
        <p:spPr>
          <a:xfrm>
            <a:off x="8577072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0" name="o170"/>
          <p:cNvSpPr/>
          <p:nvPr/>
        </p:nvSpPr>
        <p:spPr>
          <a:xfrm>
            <a:off x="914399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1" name="o171"/>
          <p:cNvSpPr/>
          <p:nvPr/>
        </p:nvSpPr>
        <p:spPr>
          <a:xfrm>
            <a:off x="914399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2" name="o172"/>
          <p:cNvSpPr/>
          <p:nvPr/>
        </p:nvSpPr>
        <p:spPr>
          <a:xfrm>
            <a:off x="914399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3" name="o173"/>
          <p:cNvSpPr/>
          <p:nvPr/>
        </p:nvSpPr>
        <p:spPr>
          <a:xfrm>
            <a:off x="914399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4" name="o174"/>
          <p:cNvSpPr/>
          <p:nvPr/>
        </p:nvSpPr>
        <p:spPr>
          <a:xfrm>
            <a:off x="914399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5" name="o175"/>
          <p:cNvSpPr/>
          <p:nvPr/>
        </p:nvSpPr>
        <p:spPr>
          <a:xfrm>
            <a:off x="914399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6" name="o176"/>
          <p:cNvSpPr/>
          <p:nvPr/>
        </p:nvSpPr>
        <p:spPr>
          <a:xfrm>
            <a:off x="914399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7" name="o177"/>
          <p:cNvSpPr/>
          <p:nvPr/>
        </p:nvSpPr>
        <p:spPr>
          <a:xfrm>
            <a:off x="914399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8" name="o178"/>
          <p:cNvSpPr/>
          <p:nvPr/>
        </p:nvSpPr>
        <p:spPr>
          <a:xfrm>
            <a:off x="914399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9" name="o179"/>
          <p:cNvSpPr/>
          <p:nvPr/>
        </p:nvSpPr>
        <p:spPr>
          <a:xfrm>
            <a:off x="914399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0" name="o180"/>
          <p:cNvSpPr/>
          <p:nvPr/>
        </p:nvSpPr>
        <p:spPr>
          <a:xfrm>
            <a:off x="914399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1" name="o181"/>
          <p:cNvSpPr/>
          <p:nvPr/>
        </p:nvSpPr>
        <p:spPr>
          <a:xfrm>
            <a:off x="9710927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2" name="o182"/>
          <p:cNvSpPr/>
          <p:nvPr/>
        </p:nvSpPr>
        <p:spPr>
          <a:xfrm>
            <a:off x="9710927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3" name="o183"/>
          <p:cNvSpPr/>
          <p:nvPr/>
        </p:nvSpPr>
        <p:spPr>
          <a:xfrm>
            <a:off x="9710927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4" name="o184"/>
          <p:cNvSpPr/>
          <p:nvPr/>
        </p:nvSpPr>
        <p:spPr>
          <a:xfrm>
            <a:off x="9710927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5" name="o185"/>
          <p:cNvSpPr/>
          <p:nvPr/>
        </p:nvSpPr>
        <p:spPr>
          <a:xfrm>
            <a:off x="9710927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o186"/>
          <p:cNvSpPr/>
          <p:nvPr/>
        </p:nvSpPr>
        <p:spPr>
          <a:xfrm>
            <a:off x="9710927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o187"/>
          <p:cNvSpPr/>
          <p:nvPr/>
        </p:nvSpPr>
        <p:spPr>
          <a:xfrm>
            <a:off x="9710927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8" name="o188"/>
          <p:cNvSpPr/>
          <p:nvPr/>
        </p:nvSpPr>
        <p:spPr>
          <a:xfrm>
            <a:off x="9710927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o189"/>
          <p:cNvSpPr/>
          <p:nvPr/>
        </p:nvSpPr>
        <p:spPr>
          <a:xfrm>
            <a:off x="9710927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0" name="o190"/>
          <p:cNvSpPr/>
          <p:nvPr/>
        </p:nvSpPr>
        <p:spPr>
          <a:xfrm>
            <a:off x="9710927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1" name="o191"/>
          <p:cNvSpPr/>
          <p:nvPr/>
        </p:nvSpPr>
        <p:spPr>
          <a:xfrm>
            <a:off x="9710927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2" name="o192"/>
          <p:cNvSpPr/>
          <p:nvPr/>
        </p:nvSpPr>
        <p:spPr>
          <a:xfrm>
            <a:off x="10277855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3" name="o193"/>
          <p:cNvSpPr/>
          <p:nvPr/>
        </p:nvSpPr>
        <p:spPr>
          <a:xfrm>
            <a:off x="10277855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4" name="o194"/>
          <p:cNvSpPr/>
          <p:nvPr/>
        </p:nvSpPr>
        <p:spPr>
          <a:xfrm>
            <a:off x="10277855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10277855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o196"/>
          <p:cNvSpPr/>
          <p:nvPr/>
        </p:nvSpPr>
        <p:spPr>
          <a:xfrm>
            <a:off x="10277855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7" name="o197"/>
          <p:cNvSpPr/>
          <p:nvPr/>
        </p:nvSpPr>
        <p:spPr>
          <a:xfrm>
            <a:off x="10277855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o198"/>
          <p:cNvSpPr/>
          <p:nvPr/>
        </p:nvSpPr>
        <p:spPr>
          <a:xfrm>
            <a:off x="10277855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9" name="o199"/>
          <p:cNvSpPr/>
          <p:nvPr/>
        </p:nvSpPr>
        <p:spPr>
          <a:xfrm>
            <a:off x="10277855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0" name="o200"/>
          <p:cNvSpPr/>
          <p:nvPr/>
        </p:nvSpPr>
        <p:spPr>
          <a:xfrm>
            <a:off x="10277855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1" name="o201"/>
          <p:cNvSpPr/>
          <p:nvPr/>
        </p:nvSpPr>
        <p:spPr>
          <a:xfrm>
            <a:off x="10277855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o202"/>
          <p:cNvSpPr/>
          <p:nvPr/>
        </p:nvSpPr>
        <p:spPr>
          <a:xfrm>
            <a:off x="10277855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10844783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4" name="o204"/>
          <p:cNvSpPr/>
          <p:nvPr/>
        </p:nvSpPr>
        <p:spPr>
          <a:xfrm>
            <a:off x="10844783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5" name="o205"/>
          <p:cNvSpPr/>
          <p:nvPr/>
        </p:nvSpPr>
        <p:spPr>
          <a:xfrm>
            <a:off x="10844783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6" name="o206"/>
          <p:cNvSpPr/>
          <p:nvPr/>
        </p:nvSpPr>
        <p:spPr>
          <a:xfrm>
            <a:off x="10844783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7" name="o207"/>
          <p:cNvSpPr/>
          <p:nvPr/>
        </p:nvSpPr>
        <p:spPr>
          <a:xfrm>
            <a:off x="10844783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8" name="o208"/>
          <p:cNvSpPr/>
          <p:nvPr/>
        </p:nvSpPr>
        <p:spPr>
          <a:xfrm>
            <a:off x="10844783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9" name="o209"/>
          <p:cNvSpPr/>
          <p:nvPr/>
        </p:nvSpPr>
        <p:spPr>
          <a:xfrm>
            <a:off x="10844783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0" name="o210"/>
          <p:cNvSpPr/>
          <p:nvPr/>
        </p:nvSpPr>
        <p:spPr>
          <a:xfrm>
            <a:off x="10844783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1" name="o211"/>
          <p:cNvSpPr/>
          <p:nvPr/>
        </p:nvSpPr>
        <p:spPr>
          <a:xfrm>
            <a:off x="10844783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10844783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3" name="o213"/>
          <p:cNvSpPr/>
          <p:nvPr/>
        </p:nvSpPr>
        <p:spPr>
          <a:xfrm>
            <a:off x="10844783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4" name="o214"/>
          <p:cNvSpPr/>
          <p:nvPr/>
        </p:nvSpPr>
        <p:spPr>
          <a:xfrm>
            <a:off x="11411711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5" name="o215"/>
          <p:cNvSpPr/>
          <p:nvPr/>
        </p:nvSpPr>
        <p:spPr>
          <a:xfrm>
            <a:off x="11411711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6" name="o216"/>
          <p:cNvSpPr/>
          <p:nvPr/>
        </p:nvSpPr>
        <p:spPr>
          <a:xfrm>
            <a:off x="11411711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7" name="o217"/>
          <p:cNvSpPr/>
          <p:nvPr/>
        </p:nvSpPr>
        <p:spPr>
          <a:xfrm>
            <a:off x="11411711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8" name="o218"/>
          <p:cNvSpPr/>
          <p:nvPr/>
        </p:nvSpPr>
        <p:spPr>
          <a:xfrm>
            <a:off x="11411711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9" name="o219"/>
          <p:cNvSpPr/>
          <p:nvPr/>
        </p:nvSpPr>
        <p:spPr>
          <a:xfrm>
            <a:off x="11411711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0" name="o220"/>
          <p:cNvSpPr/>
          <p:nvPr/>
        </p:nvSpPr>
        <p:spPr>
          <a:xfrm>
            <a:off x="11411711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1" name="o221"/>
          <p:cNvSpPr/>
          <p:nvPr/>
        </p:nvSpPr>
        <p:spPr>
          <a:xfrm>
            <a:off x="11411711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2" name="o222"/>
          <p:cNvSpPr/>
          <p:nvPr/>
        </p:nvSpPr>
        <p:spPr>
          <a:xfrm>
            <a:off x="11411711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3" name="o223"/>
          <p:cNvSpPr/>
          <p:nvPr/>
        </p:nvSpPr>
        <p:spPr>
          <a:xfrm>
            <a:off x="11411711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4" name="o224"/>
          <p:cNvSpPr/>
          <p:nvPr/>
        </p:nvSpPr>
        <p:spPr>
          <a:xfrm>
            <a:off x="11411711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5" name="o225"/>
          <p:cNvSpPr/>
          <p:nvPr/>
        </p:nvSpPr>
        <p:spPr>
          <a:xfrm>
            <a:off x="11978639" y="64008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6" name="o226"/>
          <p:cNvSpPr/>
          <p:nvPr/>
        </p:nvSpPr>
        <p:spPr>
          <a:xfrm>
            <a:off x="11978639" y="1207007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7" name="o227"/>
          <p:cNvSpPr/>
          <p:nvPr/>
        </p:nvSpPr>
        <p:spPr>
          <a:xfrm>
            <a:off x="11978639" y="177393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8" name="o228"/>
          <p:cNvSpPr/>
          <p:nvPr/>
        </p:nvSpPr>
        <p:spPr>
          <a:xfrm>
            <a:off x="11978639" y="234086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9" name="o229"/>
          <p:cNvSpPr/>
          <p:nvPr/>
        </p:nvSpPr>
        <p:spPr>
          <a:xfrm>
            <a:off x="11978639" y="290779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0" name="o230"/>
          <p:cNvSpPr/>
          <p:nvPr/>
        </p:nvSpPr>
        <p:spPr>
          <a:xfrm>
            <a:off x="11978639" y="347472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1" name="o231"/>
          <p:cNvSpPr/>
          <p:nvPr/>
        </p:nvSpPr>
        <p:spPr>
          <a:xfrm>
            <a:off x="11978639" y="4041648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o232"/>
          <p:cNvSpPr/>
          <p:nvPr/>
        </p:nvSpPr>
        <p:spPr>
          <a:xfrm>
            <a:off x="11978639" y="4608576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3" name="o233"/>
          <p:cNvSpPr/>
          <p:nvPr/>
        </p:nvSpPr>
        <p:spPr>
          <a:xfrm>
            <a:off x="11978639" y="5175504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4" name="o234"/>
          <p:cNvSpPr/>
          <p:nvPr/>
        </p:nvSpPr>
        <p:spPr>
          <a:xfrm>
            <a:off x="11978639" y="5742432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5" name="o235"/>
          <p:cNvSpPr/>
          <p:nvPr/>
        </p:nvSpPr>
        <p:spPr>
          <a:xfrm>
            <a:off x="11978639" y="6309360"/>
            <a:ext cx="25603" cy="25603"/>
          </a:xfrm>
          <a:prstGeom prst="ellipse">
            <a:avLst/>
          </a:prstGeom>
          <a:solidFill>
            <a:srgbClr val="21456B">
              <a:alpha val="4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6" name="r23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37" name="r237"/>
          <p:cNvSpPr/>
          <p:nvPr/>
        </p:nvSpPr>
        <p:spPr>
          <a:xfrm>
            <a:off x="566928" y="429768"/>
            <a:ext cx="274320" cy="50292"/>
          </a:xfrm>
          <a:prstGeom prst="rect">
            <a:avLst/>
          </a:prstGeom>
          <a:solidFill>
            <a:srgbClr val="24E0D8"/>
          </a:solidFill>
          <a:ln>
            <a:noFill/>
          </a:ln>
        </p:spPr>
        <p:txBody>
          <a:bodyPr/>
          <a:p/>
        </p:txBody>
      </p:sp>
      <p:sp>
        <p:nvSpPr>
          <p:cNvPr id="238" name="t238"/>
          <p:cNvSpPr txBox="1"/>
          <p:nvPr/>
        </p:nvSpPr>
        <p:spPr>
          <a:xfrm>
            <a:off x="969264" y="338328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1250" b="1" spc="300" dirty="0">
                <a:solidFill>
                  <a:srgbClr val="24E0D8"/>
                </a:solidFill>
                <a:latin typeface="Segoe UI"/>
                <a:cs typeface="Segoe UI"/>
              </a:rPr>
              <a:t>FROM INCIDENT TO REPORT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566928" y="676656"/>
            <a:ext cx="10607040" cy="84124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/>
                <a:cs typeface="Poppins"/>
              </a:rPr>
              <a:t>Investigation Flow &amp; Conclusion</a:t>
            </a:r>
          </a:p>
        </p:txBody>
      </p:sp>
      <p:cxnSp>
        <p:nvCxnSpPr>
          <p:cNvPr id="240" name="l240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13970" cap="rnd">
            <a:solidFill>
              <a:srgbClr val="2A4E76">
                <a:alpha val="70000"/>
              </a:srgbClr>
            </a:solidFill>
          </a:ln>
        </p:spPr>
      </p:cxnSp>
      <p:cxnSp>
        <p:nvCxnSpPr>
          <p:cNvPr id="241" name="l241"/>
          <p:cNvCxnSpPr/>
          <p:nvPr/>
        </p:nvCxnSpPr>
        <p:spPr>
          <a:xfrm>
            <a:off x="566928" y="6437376"/>
            <a:ext cx="11057839" cy="0"/>
          </a:xfrm>
          <a:prstGeom prst="line">
            <a:avLst/>
          </a:prstGeom>
          <a:ln w="12700" cap="rnd">
            <a:solidFill>
              <a:srgbClr val="1C3A5C">
                <a:alpha val="55000"/>
              </a:srgbClr>
            </a:solidFill>
          </a:ln>
        </p:spPr>
      </p:cxnSp>
      <p:sp>
        <p:nvSpPr>
          <p:cNvPr id="242" name="t242"/>
          <p:cNvSpPr txBox="1"/>
          <p:nvPr/>
        </p:nvSpPr>
        <p:spPr>
          <a:xfrm>
            <a:off x="566928" y="6483096"/>
            <a:ext cx="73152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50" spc="120" dirty="0">
                <a:solidFill>
                  <a:srgbClr val="9DB4CC"/>
                </a:solidFill>
                <a:latin typeface="Segoe UI"/>
                <a:cs typeface="Segoe UI"/>
              </a:rPr>
              <a:t>Digital Forensics vs Cloud Forensics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9338767" y="6483096"/>
            <a:ext cx="2286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24E0D8"/>
                </a:solidFill>
                <a:latin typeface="Segoe UI"/>
                <a:cs typeface="Segoe UI"/>
              </a:rPr>
              <a:t>08</a:t>
            </a:r>
            <a:r>
              <a:rPr lang="en-US" sz="1000" dirty="0">
                <a:solidFill>
                  <a:srgbClr val="9DB4CC"/>
                </a:solidFill>
                <a:latin typeface="Segoe UI"/>
                <a:cs typeface="Segoe UI"/>
              </a:rPr>
              <a:t> / 08</a:t>
            </a:r>
          </a:p>
        </p:txBody>
      </p:sp>
      <p:sp>
        <p:nvSpPr>
          <p:cNvPr id="244" name="r244"/>
          <p:cNvSpPr/>
          <p:nvPr/>
        </p:nvSpPr>
        <p:spPr>
          <a:xfrm>
            <a:off x="566928" y="1801368"/>
            <a:ext cx="1371600" cy="603504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2E9BFF"/>
              </a:gs>
              <a:gs pos="100000">
                <a:srgbClr val="123F73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45" name="t245"/>
          <p:cNvSpPr txBox="1"/>
          <p:nvPr/>
        </p:nvSpPr>
        <p:spPr>
          <a:xfrm>
            <a:off x="566928" y="1801368"/>
            <a:ext cx="1371600" cy="60350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</a:p>
        </p:txBody>
      </p:sp>
      <p:sp>
        <p:nvSpPr>
          <p:cNvPr id="246" name="r246"/>
          <p:cNvSpPr/>
          <p:nvPr/>
        </p:nvSpPr>
        <p:spPr>
          <a:xfrm>
            <a:off x="2194560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47" name="t247"/>
          <p:cNvSpPr txBox="1"/>
          <p:nvPr/>
        </p:nvSpPr>
        <p:spPr>
          <a:xfrm>
            <a:off x="2267712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Incident</a:t>
            </a:r>
          </a:p>
        </p:txBody>
      </p:sp>
      <p:cxnSp>
        <p:nvCxnSpPr>
          <p:cNvPr id="248" name="l248"/>
          <p:cNvCxnSpPr/>
          <p:nvPr/>
        </p:nvCxnSpPr>
        <p:spPr>
          <a:xfrm>
            <a:off x="3674821" y="2103120"/>
            <a:ext cx="91440" cy="0"/>
          </a:xfrm>
          <a:prstGeom prst="line">
            <a:avLst/>
          </a:prstGeom>
          <a:ln w="25400" cap="rnd">
            <a:solidFill>
              <a:srgbClr val="2E9BFF"/>
            </a:solidFill>
            <a:tailEnd type="triangle" w="med" len="med"/>
          </a:ln>
        </p:spPr>
      </p:cxnSp>
      <p:sp>
        <p:nvSpPr>
          <p:cNvPr id="249" name="r249"/>
          <p:cNvSpPr/>
          <p:nvPr/>
        </p:nvSpPr>
        <p:spPr>
          <a:xfrm>
            <a:off x="3789121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50" name="t250"/>
          <p:cNvSpPr txBox="1"/>
          <p:nvPr/>
        </p:nvSpPr>
        <p:spPr>
          <a:xfrm>
            <a:off x="3862273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Device
Seizure</a:t>
            </a:r>
          </a:p>
        </p:txBody>
      </p:sp>
      <p:cxnSp>
        <p:nvCxnSpPr>
          <p:cNvPr id="251" name="l251"/>
          <p:cNvCxnSpPr/>
          <p:nvPr/>
        </p:nvCxnSpPr>
        <p:spPr>
          <a:xfrm>
            <a:off x="5269382" y="2103120"/>
            <a:ext cx="91440" cy="0"/>
          </a:xfrm>
          <a:prstGeom prst="line">
            <a:avLst/>
          </a:prstGeom>
          <a:ln w="25400" cap="rnd">
            <a:solidFill>
              <a:srgbClr val="2E9BFF"/>
            </a:solidFill>
            <a:tailEnd type="triangle" w="med" len="med"/>
          </a:ln>
        </p:spPr>
      </p:cxnSp>
      <p:sp>
        <p:nvSpPr>
          <p:cNvPr id="252" name="r252"/>
          <p:cNvSpPr/>
          <p:nvPr/>
        </p:nvSpPr>
        <p:spPr>
          <a:xfrm>
            <a:off x="5383682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53" name="t253"/>
          <p:cNvSpPr txBox="1"/>
          <p:nvPr/>
        </p:nvSpPr>
        <p:spPr>
          <a:xfrm>
            <a:off x="5456834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Imaging</a:t>
            </a:r>
          </a:p>
        </p:txBody>
      </p:sp>
      <p:cxnSp>
        <p:nvCxnSpPr>
          <p:cNvPr id="254" name="l254"/>
          <p:cNvCxnSpPr/>
          <p:nvPr/>
        </p:nvCxnSpPr>
        <p:spPr>
          <a:xfrm>
            <a:off x="6863943" y="2103120"/>
            <a:ext cx="91440" cy="0"/>
          </a:xfrm>
          <a:prstGeom prst="line">
            <a:avLst/>
          </a:prstGeom>
          <a:ln w="25400" cap="rnd">
            <a:solidFill>
              <a:srgbClr val="2E9BFF"/>
            </a:solidFill>
            <a:tailEnd type="triangle" w="med" len="med"/>
          </a:ln>
        </p:spPr>
      </p:cxnSp>
      <p:sp>
        <p:nvSpPr>
          <p:cNvPr id="255" name="r255"/>
          <p:cNvSpPr/>
          <p:nvPr/>
        </p:nvSpPr>
        <p:spPr>
          <a:xfrm>
            <a:off x="6978243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56" name="t256"/>
          <p:cNvSpPr txBox="1"/>
          <p:nvPr/>
        </p:nvSpPr>
        <p:spPr>
          <a:xfrm>
            <a:off x="7051395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Examination</a:t>
            </a:r>
          </a:p>
        </p:txBody>
      </p:sp>
      <p:cxnSp>
        <p:nvCxnSpPr>
          <p:cNvPr id="257" name="l257"/>
          <p:cNvCxnSpPr/>
          <p:nvPr/>
        </p:nvCxnSpPr>
        <p:spPr>
          <a:xfrm>
            <a:off x="8458504" y="2103120"/>
            <a:ext cx="91440" cy="0"/>
          </a:xfrm>
          <a:prstGeom prst="line">
            <a:avLst/>
          </a:prstGeom>
          <a:ln w="25400" cap="rnd">
            <a:solidFill>
              <a:srgbClr val="2E9BFF"/>
            </a:solidFill>
            <a:tailEnd type="triangle" w="med" len="med"/>
          </a:ln>
        </p:spPr>
      </p:cxnSp>
      <p:sp>
        <p:nvSpPr>
          <p:cNvPr id="258" name="r258"/>
          <p:cNvSpPr/>
          <p:nvPr/>
        </p:nvSpPr>
        <p:spPr>
          <a:xfrm>
            <a:off x="8572804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59" name="t259"/>
          <p:cNvSpPr txBox="1"/>
          <p:nvPr/>
        </p:nvSpPr>
        <p:spPr>
          <a:xfrm>
            <a:off x="8645956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Analysis</a:t>
            </a:r>
          </a:p>
        </p:txBody>
      </p:sp>
      <p:cxnSp>
        <p:nvCxnSpPr>
          <p:cNvPr id="260" name="l260"/>
          <p:cNvCxnSpPr/>
          <p:nvPr/>
        </p:nvCxnSpPr>
        <p:spPr>
          <a:xfrm>
            <a:off x="10053065" y="2103120"/>
            <a:ext cx="91441" cy="0"/>
          </a:xfrm>
          <a:prstGeom prst="line">
            <a:avLst/>
          </a:prstGeom>
          <a:ln w="25400" cap="rnd">
            <a:solidFill>
              <a:srgbClr val="2E9BFF"/>
            </a:solidFill>
            <a:tailEnd type="triangle" w="med" len="med"/>
          </a:ln>
        </p:spPr>
      </p:cxnSp>
      <p:sp>
        <p:nvSpPr>
          <p:cNvPr id="261" name="r261"/>
          <p:cNvSpPr/>
          <p:nvPr/>
        </p:nvSpPr>
        <p:spPr>
          <a:xfrm>
            <a:off x="10167366" y="169164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E9BFF"/>
            </a:solidFill>
          </a:ln>
        </p:spPr>
        <p:txBody>
          <a:bodyPr/>
          <a:p/>
        </p:txBody>
      </p:sp>
      <p:sp>
        <p:nvSpPr>
          <p:cNvPr id="262" name="t262"/>
          <p:cNvSpPr txBox="1"/>
          <p:nvPr/>
        </p:nvSpPr>
        <p:spPr>
          <a:xfrm>
            <a:off x="10240518" y="169164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Report</a:t>
            </a:r>
          </a:p>
        </p:txBody>
      </p:sp>
      <p:sp>
        <p:nvSpPr>
          <p:cNvPr id="263" name="r263"/>
          <p:cNvSpPr/>
          <p:nvPr/>
        </p:nvSpPr>
        <p:spPr>
          <a:xfrm>
            <a:off x="566928" y="2852928"/>
            <a:ext cx="1371600" cy="603504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24E0D8"/>
              </a:gs>
              <a:gs pos="100000">
                <a:srgbClr val="0C6E77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64" name="t264"/>
          <p:cNvSpPr txBox="1"/>
          <p:nvPr/>
        </p:nvSpPr>
        <p:spPr>
          <a:xfrm>
            <a:off x="566928" y="2852928"/>
            <a:ext cx="1371600" cy="603504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/>
                <a:cs typeface="Segoe UI"/>
              </a:rPr>
              <a:t>CLOUD</a:t>
            </a:r>
          </a:p>
        </p:txBody>
      </p:sp>
      <p:sp>
        <p:nvSpPr>
          <p:cNvPr id="265" name="r265"/>
          <p:cNvSpPr/>
          <p:nvPr/>
        </p:nvSpPr>
        <p:spPr>
          <a:xfrm>
            <a:off x="2194560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66" name="t266"/>
          <p:cNvSpPr txBox="1"/>
          <p:nvPr/>
        </p:nvSpPr>
        <p:spPr>
          <a:xfrm>
            <a:off x="2267712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Incident</a:t>
            </a:r>
          </a:p>
        </p:txBody>
      </p:sp>
      <p:cxnSp>
        <p:nvCxnSpPr>
          <p:cNvPr id="267" name="l267"/>
          <p:cNvCxnSpPr/>
          <p:nvPr/>
        </p:nvCxnSpPr>
        <p:spPr>
          <a:xfrm>
            <a:off x="3674821" y="3154680"/>
            <a:ext cx="91440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68" name="r268"/>
          <p:cNvSpPr/>
          <p:nvPr/>
        </p:nvSpPr>
        <p:spPr>
          <a:xfrm>
            <a:off x="3789121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69" name="t269"/>
          <p:cNvSpPr txBox="1"/>
          <p:nvPr/>
        </p:nvSpPr>
        <p:spPr>
          <a:xfrm>
            <a:off x="3862273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CSP
Identification</a:t>
            </a:r>
          </a:p>
        </p:txBody>
      </p:sp>
      <p:cxnSp>
        <p:nvCxnSpPr>
          <p:cNvPr id="270" name="l270"/>
          <p:cNvCxnSpPr/>
          <p:nvPr/>
        </p:nvCxnSpPr>
        <p:spPr>
          <a:xfrm>
            <a:off x="5269382" y="3154680"/>
            <a:ext cx="91440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71" name="r271"/>
          <p:cNvSpPr/>
          <p:nvPr/>
        </p:nvSpPr>
        <p:spPr>
          <a:xfrm>
            <a:off x="5383682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72" name="t272"/>
          <p:cNvSpPr txBox="1"/>
          <p:nvPr/>
        </p:nvSpPr>
        <p:spPr>
          <a:xfrm>
            <a:off x="5456834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Log / Snapshot
Preservation</a:t>
            </a:r>
          </a:p>
        </p:txBody>
      </p:sp>
      <p:cxnSp>
        <p:nvCxnSpPr>
          <p:cNvPr id="273" name="l273"/>
          <p:cNvCxnSpPr/>
          <p:nvPr/>
        </p:nvCxnSpPr>
        <p:spPr>
          <a:xfrm>
            <a:off x="6863943" y="3154680"/>
            <a:ext cx="91440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74" name="r274"/>
          <p:cNvSpPr/>
          <p:nvPr/>
        </p:nvSpPr>
        <p:spPr>
          <a:xfrm>
            <a:off x="6978243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75" name="t275"/>
          <p:cNvSpPr txBox="1"/>
          <p:nvPr/>
        </p:nvSpPr>
        <p:spPr>
          <a:xfrm>
            <a:off x="7051395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CSP-Assisted
Acquisition</a:t>
            </a:r>
          </a:p>
        </p:txBody>
      </p:sp>
      <p:cxnSp>
        <p:nvCxnSpPr>
          <p:cNvPr id="276" name="l276"/>
          <p:cNvCxnSpPr/>
          <p:nvPr/>
        </p:nvCxnSpPr>
        <p:spPr>
          <a:xfrm>
            <a:off x="8458504" y="3154680"/>
            <a:ext cx="91440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77" name="r277"/>
          <p:cNvSpPr/>
          <p:nvPr/>
        </p:nvSpPr>
        <p:spPr>
          <a:xfrm>
            <a:off x="8572804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78" name="t278"/>
          <p:cNvSpPr txBox="1"/>
          <p:nvPr/>
        </p:nvSpPr>
        <p:spPr>
          <a:xfrm>
            <a:off x="8645956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Analysis</a:t>
            </a:r>
          </a:p>
        </p:txBody>
      </p:sp>
      <p:cxnSp>
        <p:nvCxnSpPr>
          <p:cNvPr id="279" name="l279"/>
          <p:cNvCxnSpPr/>
          <p:nvPr/>
        </p:nvCxnSpPr>
        <p:spPr>
          <a:xfrm>
            <a:off x="10053065" y="3154680"/>
            <a:ext cx="91441" cy="0"/>
          </a:xfrm>
          <a:prstGeom prst="line">
            <a:avLst/>
          </a:prstGeom>
          <a:ln w="25400" cap="rnd">
            <a:solidFill>
              <a:srgbClr val="24E0D8"/>
            </a:solidFill>
            <a:tailEnd type="triangle" w="med" len="med"/>
          </a:ln>
        </p:spPr>
      </p:cxnSp>
      <p:sp>
        <p:nvSpPr>
          <p:cNvPr id="280" name="r280"/>
          <p:cNvSpPr/>
          <p:nvPr/>
        </p:nvSpPr>
        <p:spPr>
          <a:xfrm>
            <a:off x="10167366" y="2743200"/>
            <a:ext cx="1457401" cy="822960"/>
          </a:xfrm>
          <a:prstGeom prst="roundRect">
            <a:avLst>
              <a:gd name="adj" fmla="val 9000"/>
            </a:avLst>
          </a:prstGeom>
          <a:solidFill>
            <a:srgbClr val="0E2038"/>
          </a:solidFill>
          <a:ln w="13970" cap="rnd">
            <a:solidFill>
              <a:srgbClr val="24E0D8"/>
            </a:solidFill>
          </a:ln>
        </p:spPr>
        <p:txBody>
          <a:bodyPr/>
          <a:p/>
        </p:txBody>
      </p:sp>
      <p:sp>
        <p:nvSpPr>
          <p:cNvPr id="281" name="t281"/>
          <p:cNvSpPr txBox="1"/>
          <p:nvPr/>
        </p:nvSpPr>
        <p:spPr>
          <a:xfrm>
            <a:off x="10240518" y="2743200"/>
            <a:ext cx="1311097" cy="82296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7F0FA"/>
                </a:solidFill>
                <a:latin typeface="Segoe UI"/>
                <a:cs typeface="Segoe UI"/>
              </a:rPr>
              <a:t>Report</a:t>
            </a:r>
          </a:p>
        </p:txBody>
      </p:sp>
      <p:sp>
        <p:nvSpPr>
          <p:cNvPr id="282" name="r282"/>
          <p:cNvSpPr/>
          <p:nvPr/>
        </p:nvSpPr>
        <p:spPr>
          <a:xfrm>
            <a:off x="566928" y="3913632"/>
            <a:ext cx="11057839" cy="15544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02A46"/>
              </a:gs>
              <a:gs pos="100000">
                <a:srgbClr val="0B1D31"/>
              </a:gs>
            </a:gsLst>
            <a:lin ang="5400000" scaled="1"/>
          </a:gradFill>
          <a:ln w="16510" cap="rnd">
            <a:solidFill>
              <a:srgbClr val="24E0D8">
                <a:alpha val="70000"/>
              </a:srgbClr>
            </a:solidFill>
          </a:ln>
          <a:effectLst>
            <a:outerShdw blurRad="120000" dist="46000" dir="5400000" rotWithShape="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83" name="r283"/>
          <p:cNvSpPr/>
          <p:nvPr/>
        </p:nvSpPr>
        <p:spPr>
          <a:xfrm>
            <a:off x="566928" y="3913632"/>
            <a:ext cx="73152" cy="1554480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sp>
        <p:nvSpPr>
          <p:cNvPr id="284" name="o284"/>
          <p:cNvSpPr/>
          <p:nvPr/>
        </p:nvSpPr>
        <p:spPr>
          <a:xfrm>
            <a:off x="868679" y="4069080"/>
            <a:ext cx="713232" cy="713232"/>
          </a:xfrm>
          <a:prstGeom prst="ellipse">
            <a:avLst/>
          </a:prstGeom>
          <a:noFill/>
          <a:ln w="17780" cap="rnd">
            <a:solidFill>
              <a:srgbClr val="8A63FF">
                <a:alpha val="55000"/>
              </a:srgbClr>
            </a:solidFill>
          </a:ln>
        </p:spPr>
        <p:txBody>
          <a:bodyPr/>
          <a:p/>
        </p:txBody>
      </p:sp>
      <p:sp>
        <p:nvSpPr>
          <p:cNvPr id="285" name="o285"/>
          <p:cNvSpPr/>
          <p:nvPr/>
        </p:nvSpPr>
        <p:spPr>
          <a:xfrm>
            <a:off x="914399" y="4114800"/>
            <a:ext cx="621792" cy="621792"/>
          </a:xfrm>
          <a:prstGeom prst="ellipse">
            <a:avLst/>
          </a:prstGeom>
          <a:gradFill rotWithShape="1">
            <a:gsLst>
              <a:gs pos="0">
                <a:srgbClr val="8A63FF"/>
              </a:gs>
              <a:gs pos="100000">
                <a:srgbClr val="2A1560"/>
              </a:gs>
            </a:gsLst>
            <a:lin ang="5400000" scaled="1"/>
          </a:gradFill>
          <a:ln>
            <a:noFill/>
          </a:ln>
          <a:effectLst>
            <a:outerShdw blurRad="90000" dist="28000" dir="5400000" rotWithShape="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286" name="ff286"/>
          <p:cNvSpPr/>
          <p:nvPr/>
        </p:nvSpPr>
        <p:spPr>
          <a:xfrm>
            <a:off x="1051194" y="4251594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10000"/>
                </a:moveTo>
                <a:lnTo>
                  <a:pt x="84000" y="24000"/>
                </a:lnTo>
                <a:lnTo>
                  <a:pt x="84000" y="52000"/>
                </a:lnTo>
                <a:cubicBezTo>
                  <a:pt x="84000" y="74000"/>
                  <a:pt x="68000" y="86000"/>
                  <a:pt x="50000" y="92000"/>
                </a:cubicBezTo>
                <a:cubicBezTo>
                  <a:pt x="32000" y="86000"/>
                  <a:pt x="16000" y="74000"/>
                  <a:pt x="16000" y="52000"/>
                </a:cubicBezTo>
                <a:lnTo>
                  <a:pt x="16000" y="2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7" name="ff287"/>
          <p:cNvSpPr/>
          <p:nvPr/>
        </p:nvSpPr>
        <p:spPr>
          <a:xfrm>
            <a:off x="1051194" y="4251594"/>
            <a:ext cx="348203" cy="34820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6000" y="50000"/>
                </a:moveTo>
                <a:lnTo>
                  <a:pt x="46000" y="60000"/>
                </a:lnTo>
                <a:lnTo>
                  <a:pt x="66000" y="36000"/>
                </a:lnTo>
                <a:lnTo>
                  <a:pt x="70000" y="42000"/>
                </a:lnTo>
                <a:lnTo>
                  <a:pt x="46000" y="70000"/>
                </a:lnTo>
                <a:lnTo>
                  <a:pt x="32000" y="55000"/>
                </a:lnTo>
                <a:close/>
              </a:path>
            </a:pathLst>
          </a:custGeom>
          <a:solidFill>
            <a:srgbClr val="0A1526"/>
          </a:solidFill>
          <a:ln>
            <a:noFill/>
          </a:ln>
        </p:spPr>
        <p:txBody>
          <a:bodyPr/>
          <a:p/>
        </p:txBody>
      </p:sp>
      <p:sp>
        <p:nvSpPr>
          <p:cNvPr id="288" name="t288"/>
          <p:cNvSpPr txBox="1"/>
          <p:nvPr/>
        </p:nvSpPr>
        <p:spPr>
          <a:xfrm>
            <a:off x="1700784" y="4096512"/>
            <a:ext cx="2743200" cy="36576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4E0D8"/>
                </a:solidFill>
                <a:latin typeface="Segoe UI"/>
                <a:cs typeface="Segoe UI"/>
              </a:rPr>
              <a:t>Conclusion</a:t>
            </a:r>
          </a:p>
        </p:txBody>
      </p:sp>
      <p:sp>
        <p:nvSpPr>
          <p:cNvPr id="289" name="t289"/>
          <p:cNvSpPr txBox="1"/>
          <p:nvPr/>
        </p:nvSpPr>
        <p:spPr>
          <a:xfrm>
            <a:off x="1700784" y="4517136"/>
            <a:ext cx="9503359" cy="86868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E7F0FA"/>
                </a:solidFill>
                <a:latin typeface="Segoe UI"/>
                <a:cs typeface="Segoe UI"/>
              </a:rPr>
              <a:t>Both investigations share the same principles — </a:t>
            </a: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chain of custody, integrity and admissibility</a:t>
            </a:r>
            <a:r>
              <a:rPr lang="en-US" sz="1350" dirty="0">
                <a:solidFill>
                  <a:srgbClr val="E7F0FA"/>
                </a:solidFill>
                <a:latin typeface="Segoe UI"/>
                <a:cs typeface="Segoe UI"/>
              </a:rPr>
              <a:t>. However, cloud forensics is more complex because investigators have less physical control and depend on the CSP for evidence.</a:t>
            </a:r>
          </a:p>
        </p:txBody>
      </p:sp>
      <p:sp>
        <p:nvSpPr>
          <p:cNvPr id="290" name="t290"/>
          <p:cNvSpPr txBox="1"/>
          <p:nvPr/>
        </p:nvSpPr>
        <p:spPr>
          <a:xfrm>
            <a:off x="566928" y="5632704"/>
            <a:ext cx="11057839" cy="54864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ctr">
              <a:buNone/>
            </a:pPr>
            <a:r>
              <a:rPr lang="en-US" sz="2900" b="1" dirty="0">
                <a:solidFill>
                  <a:srgbClr val="FFFFFF"/>
                </a:solidFill>
                <a:latin typeface="Poppins"/>
                <a:cs typeface="Poppins"/>
              </a:rPr>
              <a:t>Thank You</a:t>
            </a:r>
          </a:p>
        </p:txBody>
      </p:sp>
      <p:sp>
        <p:nvSpPr>
          <p:cNvPr id="291" name="r291"/>
          <p:cNvSpPr/>
          <p:nvPr/>
        </p:nvSpPr>
        <p:spPr>
          <a:xfrm>
            <a:off x="5272887" y="6144768"/>
            <a:ext cx="1645920" cy="45720"/>
          </a:xfrm>
          <a:prstGeom prst="rect">
            <a:avLst/>
          </a:prstGeom>
          <a:gradFill rotWithShape="1">
            <a:gsLst>
              <a:gs pos="0">
                <a:srgbClr val="24E0D8"/>
              </a:gs>
              <a:gs pos="100000">
                <a:srgbClr val="2E9BFF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292" name="t292"/>
          <p:cNvSpPr txBox="1"/>
          <p:nvPr/>
        </p:nvSpPr>
        <p:spPr>
          <a:xfrm>
            <a:off x="566928" y="6163056"/>
            <a:ext cx="11057839" cy="27432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/>
          <a:p>
            <a:pPr algn="l">
              <a:buNone/>
            </a:pPr>
            <a:r>
              <a:rPr lang="en-US" sz="900" b="1" spc="100" dirty="0">
                <a:solidFill>
                  <a:srgbClr val="24E0D8"/>
                </a:solidFill>
                <a:latin typeface="Segoe UI"/>
                <a:cs typeface="Segoe UI"/>
              </a:rPr>
              <a:t>References   </a:t>
            </a:r>
            <a:r>
              <a:rPr lang="en-US" sz="900" spc="40" dirty="0">
                <a:solidFill>
                  <a:srgbClr val="9DB4CC"/>
                </a:solidFill>
                <a:latin typeface="Segoe UI"/>
                <a:cs typeface="Segoe UI"/>
              </a:rPr>
              <a:t>NIST SP 800-86   •   NIST IR 8006   •   Zawoad &amp; Hasan (2013)</a:t>
            </a:r>
          </a:p>
        </p:txBody>
      </p:sp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orensics">
  <a:themeElements>
    <a:clrScheme name="Forensics">
      <a:dk1>
        <a:srgbClr val="0A1526"/>
      </a:dk1>
      <a:lt1>
        <a:srgbClr val="FFFFFF"/>
      </a:lt1>
      <a:dk2>
        <a:srgbClr val="0E1F33"/>
      </a:dk2>
      <a:lt2>
        <a:srgbClr val="E9F2FB"/>
      </a:lt2>
      <a:accent1>
        <a:srgbClr val="2E9BFF"/>
      </a:accent1>
      <a:accent2>
        <a:srgbClr val="24E0D8"/>
      </a:accent2>
      <a:accent3>
        <a:srgbClr val="7C4DFF"/>
      </a:accent3>
      <a:accent4>
        <a:srgbClr val="00D4FF"/>
      </a:accent4>
      <a:accent5>
        <a:srgbClr val="FF6B6B"/>
      </a:accent5>
      <a:accent6>
        <a:srgbClr val="FFB020"/>
      </a:accent6>
      <a:hlink>
        <a:srgbClr val="24E0D8"/>
      </a:hlink>
      <a:folHlink>
        <a:srgbClr val="7C4DFF"/>
      </a:folHlink>
    </a:clrScheme>
    <a:fontScheme name="Forensics">
      <a:majorFont>
        <a:latin typeface="Poppins"/>
        <a:ea typeface=""/>
        <a:cs typeface=""/>
      </a:majorFont>
      <a:minorFont>
        <a:latin typeface="Segoe UI"/>
        <a:ea typeface=""/>
        <a:cs typeface=""/>
      </a:minorFont>
    </a:fontScheme>
    <a:fmtScheme name="Forensic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