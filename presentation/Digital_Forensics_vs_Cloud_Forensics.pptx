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SM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</p:sldIdLst>
  <p:sldSz cx="12191695" cy="6858000"/>
  <p:notesSz cx="6858000" cy="1219169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SM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PP" Type="http://schemas.openxmlformats.org/officeDocument/2006/relationships/presProps" Target="presProp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/Relationships>
</file>

<file path=ppt/slideLayouts/_rels/slideLayout1.xml.rels><?xml version="1.0" encoding="UTF-8" standalone="yes"?><Relationships xmlns="http://schemas.openxmlformats.org/package/2006/relationships"><Relationship Id="rIdSM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L1" Type="http://schemas.openxmlformats.org/officeDocument/2006/relationships/slideLayout" Target="../slideLayouts/slideLayout1.xml"/><Relationship Id="rIdTh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L1"/>
  </p:sldLayoutIdLst>
</p:sldMaster>
</file>

<file path=ppt/slides/_rels/slide1.xml.rels><?xml version="1.0" encoding="UTF-8" standalone="yes"?><Relationships xmlns="http://schemas.openxmlformats.org/package/2006/relationships"><Relationship Id="rIdLay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Lay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Lay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Lay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Lay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Lay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Lay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Lay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A2E"/>
              </a:gs>
              <a:gs pos="55000">
                <a:srgbClr val="0A1526"/>
              </a:gs>
              <a:gs pos="100000">
                <a:srgbClr val="081120"/>
              </a:gs>
            </a:gsLst>
            <a:lin ang="3000000" scaled="1"/>
          </a:gradFill>
          <a:ln>
            <a:noFill/>
          </a:ln>
        </p:spPr>
        <p:txBody>
          <a:bodyPr/>
          <a:p/>
        </p:txBody>
      </p:sp>
      <p:cxnSp>
        <p:nvCxnSpPr>
          <p:cNvPr id="3" name="l3"/>
          <p:cNvCxnSpPr/>
          <p:nvPr/>
        </p:nvCxnSpPr>
        <p:spPr>
          <a:xfrm>
            <a:off x="-914400" y="-91440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4" name="l4"/>
          <p:cNvCxnSpPr/>
          <p:nvPr/>
        </p:nvCxnSpPr>
        <p:spPr>
          <a:xfrm>
            <a:off x="-914400" y="-34747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5" name="l5"/>
          <p:cNvCxnSpPr/>
          <p:nvPr/>
        </p:nvCxnSpPr>
        <p:spPr>
          <a:xfrm>
            <a:off x="-914400" y="21945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6" name="l6"/>
          <p:cNvCxnSpPr/>
          <p:nvPr/>
        </p:nvCxnSpPr>
        <p:spPr>
          <a:xfrm>
            <a:off x="-914400" y="78638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7" name="l7"/>
          <p:cNvCxnSpPr/>
          <p:nvPr/>
        </p:nvCxnSpPr>
        <p:spPr>
          <a:xfrm>
            <a:off x="-914400" y="135331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8" name="l8"/>
          <p:cNvCxnSpPr/>
          <p:nvPr/>
        </p:nvCxnSpPr>
        <p:spPr>
          <a:xfrm>
            <a:off x="-914400" y="192024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9" name="l9"/>
          <p:cNvCxnSpPr/>
          <p:nvPr/>
        </p:nvCxnSpPr>
        <p:spPr>
          <a:xfrm>
            <a:off x="-914400" y="248716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0" name="l10"/>
          <p:cNvCxnSpPr/>
          <p:nvPr/>
        </p:nvCxnSpPr>
        <p:spPr>
          <a:xfrm>
            <a:off x="-914400" y="305409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1" name="l11"/>
          <p:cNvCxnSpPr/>
          <p:nvPr/>
        </p:nvCxnSpPr>
        <p:spPr>
          <a:xfrm>
            <a:off x="-914400" y="362102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2" name="l12"/>
          <p:cNvCxnSpPr/>
          <p:nvPr/>
        </p:nvCxnSpPr>
        <p:spPr>
          <a:xfrm>
            <a:off x="-914400" y="418795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3" name="l13"/>
          <p:cNvCxnSpPr/>
          <p:nvPr/>
        </p:nvCxnSpPr>
        <p:spPr>
          <a:xfrm>
            <a:off x="-914400" y="475488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4" name="l14"/>
          <p:cNvCxnSpPr/>
          <p:nvPr/>
        </p:nvCxnSpPr>
        <p:spPr>
          <a:xfrm>
            <a:off x="-914400" y="532180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5" name="l15"/>
          <p:cNvCxnSpPr/>
          <p:nvPr/>
        </p:nvCxnSpPr>
        <p:spPr>
          <a:xfrm>
            <a:off x="-914400" y="588873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6" name="l16"/>
          <p:cNvCxnSpPr/>
          <p:nvPr/>
        </p:nvCxnSpPr>
        <p:spPr>
          <a:xfrm>
            <a:off x="-914400" y="645566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7" name="l17"/>
          <p:cNvCxnSpPr/>
          <p:nvPr/>
        </p:nvCxnSpPr>
        <p:spPr>
          <a:xfrm>
            <a:off x="-914400" y="702259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8" name="l18"/>
          <p:cNvCxnSpPr/>
          <p:nvPr/>
        </p:nvCxnSpPr>
        <p:spPr>
          <a:xfrm>
            <a:off x="-914400" y="758952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sp>
        <p:nvSpPr>
          <p:cNvPr id="19" name="o19"/>
          <p:cNvSpPr/>
          <p:nvPr/>
        </p:nvSpPr>
        <p:spPr>
          <a:xfrm>
            <a:off x="7680960" y="-2011680"/>
            <a:ext cx="6400800" cy="6400800"/>
          </a:xfrm>
          <a:prstGeom prst="ellipse">
            <a:avLst/>
          </a:prstGeom>
          <a:solidFill>
            <a:srgbClr val="2E9BFF">
              <a:alpha val="12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o20"/>
          <p:cNvSpPr/>
          <p:nvPr/>
        </p:nvSpPr>
        <p:spPr>
          <a:xfrm>
            <a:off x="-2194560" y="3291840"/>
            <a:ext cx="5486400" cy="5486400"/>
          </a:xfrm>
          <a:prstGeom prst="ellipse">
            <a:avLst/>
          </a:prstGeom>
          <a:solidFill>
            <a:srgbClr val="24E0D8">
              <a:alpha val="1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r2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22" name="o22"/>
          <p:cNvSpPr/>
          <p:nvPr/>
        </p:nvSpPr>
        <p:spPr>
          <a:xfrm>
            <a:off x="11292840" y="914400"/>
            <a:ext cx="164592" cy="164592"/>
          </a:xfrm>
          <a:prstGeom prst="ellipse">
            <a:avLst/>
          </a:prstGeom>
          <a:solidFill>
            <a:srgbClr val="24E0D8">
              <a:alpha val="7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3" name="o23"/>
          <p:cNvSpPr/>
          <p:nvPr/>
        </p:nvSpPr>
        <p:spPr>
          <a:xfrm>
            <a:off x="11292840" y="1920240"/>
            <a:ext cx="109728" cy="109728"/>
          </a:xfrm>
          <a:prstGeom prst="ellipse">
            <a:avLst/>
          </a:prstGeom>
          <a:solidFill>
            <a:srgbClr val="2E9BFF">
              <a:alpha val="6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4" name="o24"/>
          <p:cNvSpPr/>
          <p:nvPr/>
        </p:nvSpPr>
        <p:spPr>
          <a:xfrm>
            <a:off x="11292840" y="3108960"/>
            <a:ext cx="201168" cy="201168"/>
          </a:xfrm>
          <a:prstGeom prst="ellipse">
            <a:avLst/>
          </a:prstGeom>
          <a:solidFill>
            <a:srgbClr val="24E0D8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o25"/>
          <p:cNvSpPr/>
          <p:nvPr/>
        </p:nvSpPr>
        <p:spPr>
          <a:xfrm>
            <a:off x="11292840" y="4297680"/>
            <a:ext cx="109728" cy="109728"/>
          </a:xfrm>
          <a:prstGeom prst="ellipse">
            <a:avLst/>
          </a:prstGeom>
          <a:solidFill>
            <a:srgbClr val="7C4DFF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o26"/>
          <p:cNvSpPr/>
          <p:nvPr/>
        </p:nvSpPr>
        <p:spPr>
          <a:xfrm>
            <a:off x="11292840" y="5394960"/>
            <a:ext cx="146304" cy="146304"/>
          </a:xfrm>
          <a:prstGeom prst="ellipse">
            <a:avLst/>
          </a:prstGeom>
          <a:solidFill>
            <a:srgbClr val="2E9BFF">
              <a:alpha val="6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ff27"/>
          <p:cNvSpPr/>
          <p:nvPr/>
        </p:nvSpPr>
        <p:spPr>
          <a:xfrm>
            <a:off x="9052560" y="1234440"/>
            <a:ext cx="2468880" cy="246888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10000"/>
                </a:moveTo>
                <a:lnTo>
                  <a:pt x="84000" y="24000"/>
                </a:lnTo>
                <a:lnTo>
                  <a:pt x="84000" y="52000"/>
                </a:lnTo>
                <a:cubicBezTo>
                  <a:pt x="84" y="74"/>
                  <a:pt x="68" y="86"/>
                  <a:pt x="50" y="92"/>
                </a:cubicBezTo>
                <a:cubicBezTo>
                  <a:pt x="32" y="86"/>
                  <a:pt x="16" y="74"/>
                  <a:pt x="16" y="52"/>
                </a:cubicBezTo>
                <a:lnTo>
                  <a:pt x="16000" y="24000"/>
                </a:lnTo>
                <a:close/>
              </a:path>
            </a:pathLst>
          </a:cu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28" name="ff28"/>
          <p:cNvSpPr/>
          <p:nvPr/>
        </p:nvSpPr>
        <p:spPr>
          <a:xfrm>
            <a:off x="9052560" y="1234440"/>
            <a:ext cx="2468880" cy="246888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6000" y="50000"/>
                </a:moveTo>
                <a:lnTo>
                  <a:pt x="46000" y="60000"/>
                </a:lnTo>
                <a:lnTo>
                  <a:pt x="66000" y="36000"/>
                </a:lnTo>
                <a:lnTo>
                  <a:pt x="70000" y="42000"/>
                </a:lnTo>
                <a:lnTo>
                  <a:pt x="46000" y="70000"/>
                </a:lnTo>
                <a:lnTo>
                  <a:pt x="32000" y="55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29" name="r29"/>
          <p:cNvSpPr/>
          <p:nvPr/>
        </p:nvSpPr>
        <p:spPr>
          <a:xfrm>
            <a:off x="8778240" y="1051560"/>
            <a:ext cx="2834640" cy="2834640"/>
          </a:xfrm>
          <a:prstGeom prst="rect">
            <a:avLst/>
          </a:prstGeom>
          <a:solidFill>
            <a:srgbClr val="0A1526">
              <a:alpha val="62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o30"/>
          <p:cNvSpPr/>
          <p:nvPr/>
        </p:nvSpPr>
        <p:spPr>
          <a:xfrm>
            <a:off x="9034272" y="1536192"/>
            <a:ext cx="1225296" cy="1225296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31" name="o31"/>
          <p:cNvSpPr/>
          <p:nvPr/>
        </p:nvSpPr>
        <p:spPr>
          <a:xfrm>
            <a:off x="9079992" y="1581912"/>
            <a:ext cx="1133856" cy="1133856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32" name="ff32"/>
          <p:cNvSpPr/>
          <p:nvPr/>
        </p:nvSpPr>
        <p:spPr>
          <a:xfrm>
            <a:off x="9352118" y="1854038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2000" y="18000"/>
                </a:moveTo>
                <a:lnTo>
                  <a:pt x="88000" y="18000"/>
                </a:lnTo>
                <a:lnTo>
                  <a:pt x="88000" y="64000"/>
                </a:lnTo>
                <a:lnTo>
                  <a:pt x="12000" y="6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3" name="ff33"/>
          <p:cNvSpPr/>
          <p:nvPr/>
        </p:nvSpPr>
        <p:spPr>
          <a:xfrm>
            <a:off x="9352118" y="1854038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000" y="24000"/>
                </a:moveTo>
                <a:lnTo>
                  <a:pt x="82000" y="24000"/>
                </a:lnTo>
                <a:lnTo>
                  <a:pt x="82000" y="58000"/>
                </a:lnTo>
                <a:lnTo>
                  <a:pt x="18000" y="58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34" name="ff34"/>
          <p:cNvSpPr/>
          <p:nvPr/>
        </p:nvSpPr>
        <p:spPr>
          <a:xfrm>
            <a:off x="9352118" y="1854038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000" y="64000"/>
                </a:moveTo>
                <a:lnTo>
                  <a:pt x="58000" y="64000"/>
                </a:lnTo>
                <a:lnTo>
                  <a:pt x="62000" y="80000"/>
                </a:lnTo>
                <a:lnTo>
                  <a:pt x="38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5" name="ff35"/>
          <p:cNvSpPr/>
          <p:nvPr/>
        </p:nvSpPr>
        <p:spPr>
          <a:xfrm>
            <a:off x="9352118" y="1854038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0000" y="80000"/>
                </a:moveTo>
                <a:lnTo>
                  <a:pt x="70000" y="80000"/>
                </a:lnTo>
                <a:lnTo>
                  <a:pt x="70000" y="88000"/>
                </a:lnTo>
                <a:lnTo>
                  <a:pt x="30000" y="8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6" name="ff36"/>
          <p:cNvSpPr/>
          <p:nvPr/>
        </p:nvSpPr>
        <p:spPr>
          <a:xfrm>
            <a:off x="9352118" y="1854038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30000"/>
                </a:moveTo>
                <a:lnTo>
                  <a:pt x="64000" y="30000"/>
                </a:lnTo>
                <a:lnTo>
                  <a:pt x="64000" y="35000"/>
                </a:lnTo>
                <a:lnTo>
                  <a:pt x="24000" y="35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7" name="ff37"/>
          <p:cNvSpPr/>
          <p:nvPr/>
        </p:nvSpPr>
        <p:spPr>
          <a:xfrm>
            <a:off x="9352118" y="1854038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40000"/>
                </a:moveTo>
                <a:lnTo>
                  <a:pt x="52000" y="40000"/>
                </a:lnTo>
                <a:lnTo>
                  <a:pt x="52000" y="44000"/>
                </a:lnTo>
                <a:lnTo>
                  <a:pt x="24000" y="4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8" name="o38"/>
          <p:cNvSpPr/>
          <p:nvPr/>
        </p:nvSpPr>
        <p:spPr>
          <a:xfrm>
            <a:off x="10131552" y="2267712"/>
            <a:ext cx="1225296" cy="1225296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39" name="o39"/>
          <p:cNvSpPr/>
          <p:nvPr/>
        </p:nvSpPr>
        <p:spPr>
          <a:xfrm>
            <a:off x="10177272" y="2313432"/>
            <a:ext cx="1133856" cy="1133856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E7C86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40" name="ff40"/>
          <p:cNvSpPr/>
          <p:nvPr/>
        </p:nvSpPr>
        <p:spPr>
          <a:xfrm>
            <a:off x="10449398" y="2585558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000" y="72000"/>
                </a:moveTo>
                <a:cubicBezTo>
                  <a:pt x="12" y="72"/>
                  <a:pt x="10" y="52"/>
                  <a:pt x="28" y="50"/>
                </a:cubicBezTo>
                <a:cubicBezTo>
                  <a:pt x="28" y="30"/>
                  <a:pt x="58" y="26"/>
                  <a:pt x="62" y="46"/>
                </a:cubicBezTo>
                <a:cubicBezTo>
                  <a:pt x="84" y="42"/>
                  <a:pt x="92" y="70"/>
                  <a:pt x="74" y="72"/>
                </a:cubicBezTo>
                <a:lnTo>
                  <a:pt x="26000" y="72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1" name="o41"/>
          <p:cNvSpPr/>
          <p:nvPr/>
        </p:nvSpPr>
        <p:spPr>
          <a:xfrm>
            <a:off x="10195560" y="3520440"/>
            <a:ext cx="457200" cy="457200"/>
          </a:xfrm>
          <a:prstGeom prst="ellipse">
            <a:avLst/>
          </a:prstGeom>
          <a:gradFill rotWithShape="1">
            <a:gsLst>
              <a:gs pos="0">
                <a:srgbClr val="7C4DFF"/>
              </a:gs>
              <a:gs pos="100000">
                <a:srgbClr val="3A1E7A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42" name="o42"/>
          <p:cNvSpPr/>
          <p:nvPr/>
        </p:nvSpPr>
        <p:spPr>
          <a:xfrm>
            <a:off x="10324673" y="3649553"/>
            <a:ext cx="128747" cy="128747"/>
          </a:xfrm>
          <a:prstGeom prst="ellipse">
            <a:avLst/>
          </a:prstGeom>
          <a:noFill/>
          <a:ln w="40640" cap="rnd">
            <a:solidFill>
              <a:srgbClr val="FFFFFF"/>
            </a:solidFill>
          </a:ln>
        </p:spPr>
        <p:txBody>
          <a:bodyPr/>
          <a:p/>
        </p:txBody>
      </p:sp>
      <p:cxnSp>
        <p:nvCxnSpPr>
          <p:cNvPr id="43" name="l43"/>
          <p:cNvCxnSpPr/>
          <p:nvPr/>
        </p:nvCxnSpPr>
        <p:spPr>
          <a:xfrm>
            <a:off x="10441716" y="3766596"/>
            <a:ext cx="81930" cy="81930"/>
          </a:xfrm>
          <a:prstGeom prst="line">
            <a:avLst/>
          </a:prstGeom>
          <a:ln w="43180" cap="rnd">
            <a:solidFill>
              <a:srgbClr val="FFFFFF"/>
            </a:solidFill>
          </a:ln>
        </p:spPr>
      </p:cxnSp>
      <p:sp>
        <p:nvSpPr>
          <p:cNvPr id="44" name="r44"/>
          <p:cNvSpPr/>
          <p:nvPr/>
        </p:nvSpPr>
        <p:spPr>
          <a:xfrm>
            <a:off x="566928" y="1435608"/>
            <a:ext cx="274320" cy="50292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45" name="t45"/>
          <p:cNvSpPr txBox="1"/>
          <p:nvPr/>
        </p:nvSpPr>
        <p:spPr>
          <a:xfrm>
            <a:off x="950976" y="1335024"/>
            <a:ext cx="548640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b="1" spc="320" dirty="0">
                <a:solidFill>
                  <a:srgbClr val="24E0D8"/>
                </a:solidFill>
                <a:latin typeface="Segoe UI"/>
                <a:cs typeface="Segoe UI"/>
              </a:rPr>
              <a:t>M.SC. INFORMATION TECHNOLOGY  •  FORENSIC INVESTIGATION</a:t>
            </a:r>
          </a:p>
        </p:txBody>
      </p:sp>
      <p:sp>
        <p:nvSpPr>
          <p:cNvPr id="46" name="t46"/>
          <p:cNvSpPr txBox="1"/>
          <p:nvPr/>
        </p:nvSpPr>
        <p:spPr>
          <a:xfrm>
            <a:off x="566928" y="1874519"/>
            <a:ext cx="7863840" cy="20116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Poppins"/>
                <a:cs typeface="Poppins"/>
              </a:rPr>
              <a:t>Digital Forensics</a:t>
            </a:r>
          </a:p>
          <a:p>
            <a:pPr algn="l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24E0D8"/>
                </a:solidFill>
                <a:latin typeface="Poppins"/>
                <a:cs typeface="Poppins"/>
              </a:rPr>
              <a:t>vs </a:t>
            </a:r>
            <a:r>
              <a:rPr lang="en-US" sz="5200" b="1" dirty="0">
                <a:solidFill>
                  <a:srgbClr val="24E0D8"/>
                </a:solidFill>
                <a:latin typeface="Poppins"/>
                <a:cs typeface="Poppins"/>
              </a:rPr>
              <a:t>Cloud Forensics</a:t>
            </a:r>
          </a:p>
        </p:txBody>
      </p:sp>
      <p:sp>
        <p:nvSpPr>
          <p:cNvPr id="47" name="r47"/>
          <p:cNvSpPr/>
          <p:nvPr/>
        </p:nvSpPr>
        <p:spPr>
          <a:xfrm>
            <a:off x="566928" y="3639312"/>
            <a:ext cx="2194560" cy="54864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48" name="t48"/>
          <p:cNvSpPr txBox="1"/>
          <p:nvPr/>
        </p:nvSpPr>
        <p:spPr>
          <a:xfrm>
            <a:off x="566928" y="3840480"/>
            <a:ext cx="7589520" cy="8229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buNone/>
            </a:pPr>
            <a:r>
              <a:rPr lang="en-US" sz="1750" dirty="0">
                <a:solidFill>
                  <a:srgbClr val="E7F0FA"/>
                </a:solidFill>
                <a:latin typeface="Segoe UI"/>
                <a:cs typeface="Segoe UI"/>
              </a:rPr>
              <a:t>A Comparative Investigation of a Traditional Desktop Intrusion and a Cloud-Based Application Compromise</a:t>
            </a:r>
          </a:p>
        </p:txBody>
      </p:sp>
      <p:sp>
        <p:nvSpPr>
          <p:cNvPr id="49" name="r49"/>
          <p:cNvSpPr/>
          <p:nvPr/>
        </p:nvSpPr>
        <p:spPr>
          <a:xfrm>
            <a:off x="566928" y="5074920"/>
            <a:ext cx="3529584" cy="932688"/>
          </a:xfrm>
          <a:prstGeom prst="roundRect">
            <a:avLst>
              <a:gd name="adj" fmla="val 9000"/>
            </a:avLst>
          </a:prstGeom>
          <a:solidFill>
            <a:srgbClr val="0E2038">
              <a:alpha val="88000"/>
            </a:srgbClr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0" name="r50"/>
          <p:cNvSpPr/>
          <p:nvPr/>
        </p:nvSpPr>
        <p:spPr>
          <a:xfrm>
            <a:off x="566928" y="5074920"/>
            <a:ext cx="54864" cy="932688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51" name="t51"/>
          <p:cNvSpPr txBox="1"/>
          <p:nvPr/>
        </p:nvSpPr>
        <p:spPr>
          <a:xfrm>
            <a:off x="822960" y="5230368"/>
            <a:ext cx="3163824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050" b="1" spc="200" dirty="0">
                <a:solidFill>
                  <a:srgbClr val="24E0D8"/>
                </a:solidFill>
                <a:latin typeface="Segoe UI"/>
                <a:cs typeface="Segoe UI"/>
              </a:rPr>
              <a:t>PRESENTED BY</a:t>
            </a:r>
          </a:p>
        </p:txBody>
      </p:sp>
      <p:sp>
        <p:nvSpPr>
          <p:cNvPr id="52" name="t52"/>
          <p:cNvSpPr txBox="1"/>
          <p:nvPr/>
        </p:nvSpPr>
        <p:spPr>
          <a:xfrm>
            <a:off x="822960" y="5532120"/>
            <a:ext cx="3163824" cy="402336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450" b="1" dirty="0">
                <a:solidFill>
                  <a:srgbClr val="FFFFFF"/>
                </a:solidFill>
                <a:latin typeface="Segoe UI"/>
                <a:cs typeface="Segoe UI"/>
              </a:rPr>
              <a:t>Afiya Shahin S</a:t>
            </a:r>
          </a:p>
        </p:txBody>
      </p:sp>
      <p:sp>
        <p:nvSpPr>
          <p:cNvPr id="53" name="r53"/>
          <p:cNvSpPr/>
          <p:nvPr/>
        </p:nvSpPr>
        <p:spPr>
          <a:xfrm>
            <a:off x="4297680" y="5074920"/>
            <a:ext cx="3529584" cy="932688"/>
          </a:xfrm>
          <a:prstGeom prst="roundRect">
            <a:avLst>
              <a:gd name="adj" fmla="val 9000"/>
            </a:avLst>
          </a:prstGeom>
          <a:solidFill>
            <a:srgbClr val="0E2038">
              <a:alpha val="88000"/>
            </a:srgbClr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4" name="r54"/>
          <p:cNvSpPr/>
          <p:nvPr/>
        </p:nvSpPr>
        <p:spPr>
          <a:xfrm>
            <a:off x="4297680" y="5074920"/>
            <a:ext cx="54864" cy="932688"/>
          </a:xfrm>
          <a:prstGeom prst="rect">
            <a:avLst/>
          </a:prstGeom>
          <a:solidFill>
            <a:srgbClr val="63B8FF"/>
          </a:solidFill>
          <a:ln>
            <a:noFill/>
          </a:ln>
        </p:spPr>
        <p:txBody>
          <a:bodyPr/>
          <a:p/>
        </p:txBody>
      </p:sp>
      <p:sp>
        <p:nvSpPr>
          <p:cNvPr id="55" name="t55"/>
          <p:cNvSpPr txBox="1"/>
          <p:nvPr/>
        </p:nvSpPr>
        <p:spPr>
          <a:xfrm>
            <a:off x="4553712" y="5230368"/>
            <a:ext cx="3163824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050" b="1" spc="200" dirty="0">
                <a:solidFill>
                  <a:srgbClr val="63B8FF"/>
                </a:solidFill>
                <a:latin typeface="Segoe UI"/>
                <a:cs typeface="Segoe UI"/>
              </a:rPr>
              <a:t>PROGRAMME</a:t>
            </a:r>
          </a:p>
        </p:txBody>
      </p:sp>
      <p:sp>
        <p:nvSpPr>
          <p:cNvPr id="56" name="t56"/>
          <p:cNvSpPr txBox="1"/>
          <p:nvPr/>
        </p:nvSpPr>
        <p:spPr>
          <a:xfrm>
            <a:off x="4553712" y="5532120"/>
            <a:ext cx="3163824" cy="402336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450" b="1" dirty="0">
                <a:solidFill>
                  <a:srgbClr val="FFFFFF"/>
                </a:solidFill>
                <a:latin typeface="Segoe UI"/>
                <a:cs typeface="Segoe UI"/>
              </a:rPr>
              <a:t>II M.Sc. Information Technology</a:t>
            </a:r>
          </a:p>
        </p:txBody>
      </p:sp>
      <p:sp>
        <p:nvSpPr>
          <p:cNvPr id="57" name="r57"/>
          <p:cNvSpPr/>
          <p:nvPr/>
        </p:nvSpPr>
        <p:spPr>
          <a:xfrm>
            <a:off x="8028432" y="5074920"/>
            <a:ext cx="3529584" cy="932688"/>
          </a:xfrm>
          <a:prstGeom prst="roundRect">
            <a:avLst>
              <a:gd name="adj" fmla="val 9000"/>
            </a:avLst>
          </a:prstGeom>
          <a:solidFill>
            <a:srgbClr val="0E2038">
              <a:alpha val="88000"/>
            </a:srgbClr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8" name="r58"/>
          <p:cNvSpPr/>
          <p:nvPr/>
        </p:nvSpPr>
        <p:spPr>
          <a:xfrm>
            <a:off x="8028432" y="5074920"/>
            <a:ext cx="54864" cy="932688"/>
          </a:xfrm>
          <a:prstGeom prst="rect">
            <a:avLst/>
          </a:prstGeom>
          <a:solidFill>
            <a:srgbClr val="5FF3EC"/>
          </a:solidFill>
          <a:ln>
            <a:noFill/>
          </a:ln>
        </p:spPr>
        <p:txBody>
          <a:bodyPr/>
          <a:p/>
        </p:txBody>
      </p:sp>
      <p:sp>
        <p:nvSpPr>
          <p:cNvPr id="59" name="t59"/>
          <p:cNvSpPr txBox="1"/>
          <p:nvPr/>
        </p:nvSpPr>
        <p:spPr>
          <a:xfrm>
            <a:off x="8284464" y="5230368"/>
            <a:ext cx="3163824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050" b="1" spc="200" dirty="0">
                <a:solidFill>
                  <a:srgbClr val="5FF3EC"/>
                </a:solidFill>
                <a:latin typeface="Segoe UI"/>
                <a:cs typeface="Segoe UI"/>
              </a:rPr>
              <a:t>COURSE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8284464" y="5532120"/>
            <a:ext cx="3163824" cy="402336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450" b="1" dirty="0">
                <a:solidFill>
                  <a:srgbClr val="FFFFFF"/>
                </a:solidFill>
                <a:latin typeface="Segoe UI"/>
                <a:cs typeface="Segoe UI"/>
              </a:rPr>
              <a:t>Cloud Computing &amp; Digital Forensics</a:t>
            </a:r>
          </a:p>
        </p:txBody>
      </p:sp>
    </p:spTree>
  </p:cSld>
  <p:transition spd="med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A2E"/>
              </a:gs>
              <a:gs pos="55000">
                <a:srgbClr val="0A1526"/>
              </a:gs>
              <a:gs pos="100000">
                <a:srgbClr val="081120"/>
              </a:gs>
            </a:gsLst>
            <a:lin ang="3000000" scaled="1"/>
          </a:gradFill>
          <a:ln>
            <a:noFill/>
          </a:ln>
        </p:spPr>
        <p:txBody>
          <a:bodyPr/>
          <a:p/>
        </p:txBody>
      </p:sp>
      <p:cxnSp>
        <p:nvCxnSpPr>
          <p:cNvPr id="3" name="l3"/>
          <p:cNvCxnSpPr/>
          <p:nvPr/>
        </p:nvCxnSpPr>
        <p:spPr>
          <a:xfrm>
            <a:off x="-914400" y="-91440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4" name="l4"/>
          <p:cNvCxnSpPr/>
          <p:nvPr/>
        </p:nvCxnSpPr>
        <p:spPr>
          <a:xfrm>
            <a:off x="-914400" y="-34747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5" name="l5"/>
          <p:cNvCxnSpPr/>
          <p:nvPr/>
        </p:nvCxnSpPr>
        <p:spPr>
          <a:xfrm>
            <a:off x="-914400" y="21945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6" name="l6"/>
          <p:cNvCxnSpPr/>
          <p:nvPr/>
        </p:nvCxnSpPr>
        <p:spPr>
          <a:xfrm>
            <a:off x="-914400" y="78638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7" name="l7"/>
          <p:cNvCxnSpPr/>
          <p:nvPr/>
        </p:nvCxnSpPr>
        <p:spPr>
          <a:xfrm>
            <a:off x="-914400" y="135331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8" name="l8"/>
          <p:cNvCxnSpPr/>
          <p:nvPr/>
        </p:nvCxnSpPr>
        <p:spPr>
          <a:xfrm>
            <a:off x="-914400" y="192024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9" name="l9"/>
          <p:cNvCxnSpPr/>
          <p:nvPr/>
        </p:nvCxnSpPr>
        <p:spPr>
          <a:xfrm>
            <a:off x="-914400" y="248716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0" name="l10"/>
          <p:cNvCxnSpPr/>
          <p:nvPr/>
        </p:nvCxnSpPr>
        <p:spPr>
          <a:xfrm>
            <a:off x="-914400" y="305409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1" name="l11"/>
          <p:cNvCxnSpPr/>
          <p:nvPr/>
        </p:nvCxnSpPr>
        <p:spPr>
          <a:xfrm>
            <a:off x="-914400" y="362102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2" name="l12"/>
          <p:cNvCxnSpPr/>
          <p:nvPr/>
        </p:nvCxnSpPr>
        <p:spPr>
          <a:xfrm>
            <a:off x="-914400" y="418795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3" name="l13"/>
          <p:cNvCxnSpPr/>
          <p:nvPr/>
        </p:nvCxnSpPr>
        <p:spPr>
          <a:xfrm>
            <a:off x="-914400" y="475488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4" name="l14"/>
          <p:cNvCxnSpPr/>
          <p:nvPr/>
        </p:nvCxnSpPr>
        <p:spPr>
          <a:xfrm>
            <a:off x="-914400" y="532180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5" name="l15"/>
          <p:cNvCxnSpPr/>
          <p:nvPr/>
        </p:nvCxnSpPr>
        <p:spPr>
          <a:xfrm>
            <a:off x="-914400" y="588873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6" name="l16"/>
          <p:cNvCxnSpPr/>
          <p:nvPr/>
        </p:nvCxnSpPr>
        <p:spPr>
          <a:xfrm>
            <a:off x="-914400" y="645566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7" name="l17"/>
          <p:cNvCxnSpPr/>
          <p:nvPr/>
        </p:nvCxnSpPr>
        <p:spPr>
          <a:xfrm>
            <a:off x="-914400" y="702259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8" name="l18"/>
          <p:cNvCxnSpPr/>
          <p:nvPr/>
        </p:nvCxnSpPr>
        <p:spPr>
          <a:xfrm>
            <a:off x="-914400" y="758952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sp>
        <p:nvSpPr>
          <p:cNvPr id="19" name="o19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2E9BFF">
              <a:alpha val="8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o20"/>
          <p:cNvSpPr/>
          <p:nvPr/>
        </p:nvSpPr>
        <p:spPr>
          <a:xfrm>
            <a:off x="-1463040" y="4023360"/>
            <a:ext cx="3840480" cy="3840480"/>
          </a:xfrm>
          <a:prstGeom prst="ellipse">
            <a:avLst/>
          </a:prstGeom>
          <a:solidFill>
            <a:srgbClr val="24E0D8">
              <a:alpha val="7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r2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22" name="r22"/>
          <p:cNvSpPr/>
          <p:nvPr/>
        </p:nvSpPr>
        <p:spPr>
          <a:xfrm>
            <a:off x="566928" y="402336"/>
            <a:ext cx="274320" cy="50292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23" name="t23"/>
          <p:cNvSpPr txBox="1"/>
          <p:nvPr/>
        </p:nvSpPr>
        <p:spPr>
          <a:xfrm>
            <a:off x="950976" y="301752"/>
            <a:ext cx="548640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b="1" spc="320" dirty="0">
                <a:solidFill>
                  <a:srgbClr val="24E0D8"/>
                </a:solidFill>
                <a:latin typeface="Segoe UI"/>
                <a:cs typeface="Segoe UI"/>
              </a:rPr>
              <a:t>TWO INCIDENTS · ONE COMPANY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566928" y="658368"/>
            <a:ext cx="10424160" cy="8686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3000" b="1" dirty="0">
                <a:solidFill>
                  <a:srgbClr val="FFFFFF"/>
                </a:solidFill>
                <a:latin typeface="Poppins"/>
                <a:cs typeface="Poppins"/>
              </a:rPr>
              <a:t>The Case Scenario</a:t>
            </a:r>
          </a:p>
        </p:txBody>
      </p:sp>
      <p:cxnSp>
        <p:nvCxnSpPr>
          <p:cNvPr id="25" name="l25"/>
          <p:cNvCxnSpPr/>
          <p:nvPr/>
        </p:nvCxnSpPr>
        <p:spPr>
          <a:xfrm>
            <a:off x="566928" y="1481328"/>
            <a:ext cx="11055096" cy="0"/>
          </a:xfrm>
          <a:prstGeom prst="line">
            <a:avLst/>
          </a:prstGeom>
          <a:ln w="13970" cap="rnd">
            <a:solidFill>
              <a:srgbClr val="24476E">
                <a:alpha val="70000"/>
              </a:srgbClr>
            </a:solidFill>
          </a:ln>
        </p:spPr>
      </p:cxnSp>
      <p:cxnSp>
        <p:nvCxnSpPr>
          <p:cNvPr id="26" name="l26"/>
          <p:cNvCxnSpPr/>
          <p:nvPr/>
        </p:nvCxnSpPr>
        <p:spPr>
          <a:xfrm>
            <a:off x="566928" y="6428232"/>
            <a:ext cx="11055096" cy="0"/>
          </a:xfrm>
          <a:prstGeom prst="line">
            <a:avLst/>
          </a:prstGeom>
          <a:ln w="12700" cap="rnd">
            <a:solidFill>
              <a:srgbClr val="1C3A5C">
                <a:alpha val="60000"/>
              </a:srgbClr>
            </a:solidFill>
          </a:ln>
        </p:spPr>
      </p:cxnSp>
      <p:sp>
        <p:nvSpPr>
          <p:cNvPr id="27" name="t27"/>
          <p:cNvSpPr txBox="1"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950" spc="150" dirty="0">
                <a:solidFill>
                  <a:srgbClr val="9DB4CC"/>
                </a:solidFill>
                <a:latin typeface="Segoe UI"/>
                <a:cs typeface="Segoe UI"/>
              </a:rPr>
              <a:t>Digital Forensics vs Cloud Forensics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9326880" y="6455664"/>
            <a:ext cx="22860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r">
              <a:buNone/>
            </a:pPr>
            <a:r>
              <a:rPr lang="en-US" sz="1000" b="1" dirty="0">
                <a:solidFill>
                  <a:srgbClr val="24E0D8"/>
                </a:solidFill>
                <a:latin typeface="Segoe UI"/>
                <a:cs typeface="Segoe UI"/>
              </a:rPr>
              <a:t>02</a:t>
            </a:r>
            <a:r>
              <a:rPr lang="en-US" sz="1000" dirty="0">
                <a:solidFill>
                  <a:srgbClr val="9DB4CC"/>
                </a:solidFill>
                <a:latin typeface="Segoe UI"/>
                <a:cs typeface="Segoe UI"/>
              </a:rPr>
              <a:t> / 08</a:t>
            </a:r>
          </a:p>
        </p:txBody>
      </p:sp>
      <p:sp>
        <p:nvSpPr>
          <p:cNvPr id="29" name="t29"/>
          <p:cNvSpPr txBox="1"/>
          <p:nvPr/>
        </p:nvSpPr>
        <p:spPr>
          <a:xfrm>
            <a:off x="566928" y="1627632"/>
            <a:ext cx="11057839" cy="4572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6000"/>
              </a:lnSpc>
              <a:buNone/>
            </a:pPr>
            <a:r>
              <a:rPr lang="en-US" sz="1450" dirty="0">
                <a:solidFill>
                  <a:srgbClr val="9DB4CC"/>
                </a:solidFill>
                <a:latin typeface="Segoe UI"/>
                <a:cs typeface="Segoe UI"/>
              </a:rPr>
              <a:t>A single organisation faces two separate intrusions. The forensic goal is identical — but the path to the evidence is not.</a:t>
            </a:r>
          </a:p>
        </p:txBody>
      </p:sp>
      <p:sp>
        <p:nvSpPr>
          <p:cNvPr id="30" name="o30"/>
          <p:cNvSpPr/>
          <p:nvPr/>
        </p:nvSpPr>
        <p:spPr>
          <a:xfrm>
            <a:off x="731520" y="2382012.0"/>
            <a:ext cx="1225296" cy="1225296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31" name="o31"/>
          <p:cNvSpPr/>
          <p:nvPr/>
        </p:nvSpPr>
        <p:spPr>
          <a:xfrm>
            <a:off x="777240" y="2427732.0"/>
            <a:ext cx="1133856" cy="1133856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32" name="ff32"/>
          <p:cNvSpPr/>
          <p:nvPr/>
        </p:nvSpPr>
        <p:spPr>
          <a:xfrm>
            <a:off x="1049366" y="2699858.0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2000" y="18000"/>
                </a:moveTo>
                <a:lnTo>
                  <a:pt x="88000" y="18000"/>
                </a:lnTo>
                <a:lnTo>
                  <a:pt x="88000" y="64000"/>
                </a:lnTo>
                <a:lnTo>
                  <a:pt x="12000" y="6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3" name="ff33"/>
          <p:cNvSpPr/>
          <p:nvPr/>
        </p:nvSpPr>
        <p:spPr>
          <a:xfrm>
            <a:off x="1049366" y="2699858.0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000" y="24000"/>
                </a:moveTo>
                <a:lnTo>
                  <a:pt x="82000" y="24000"/>
                </a:lnTo>
                <a:lnTo>
                  <a:pt x="82000" y="58000"/>
                </a:lnTo>
                <a:lnTo>
                  <a:pt x="18000" y="58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34" name="ff34"/>
          <p:cNvSpPr/>
          <p:nvPr/>
        </p:nvSpPr>
        <p:spPr>
          <a:xfrm>
            <a:off x="1049366" y="2699858.0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000" y="64000"/>
                </a:moveTo>
                <a:lnTo>
                  <a:pt x="58000" y="64000"/>
                </a:lnTo>
                <a:lnTo>
                  <a:pt x="62000" y="80000"/>
                </a:lnTo>
                <a:lnTo>
                  <a:pt x="38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5" name="ff35"/>
          <p:cNvSpPr/>
          <p:nvPr/>
        </p:nvSpPr>
        <p:spPr>
          <a:xfrm>
            <a:off x="1049366" y="2699858.0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0000" y="80000"/>
                </a:moveTo>
                <a:lnTo>
                  <a:pt x="70000" y="80000"/>
                </a:lnTo>
                <a:lnTo>
                  <a:pt x="70000" y="88000"/>
                </a:lnTo>
                <a:lnTo>
                  <a:pt x="30000" y="8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6" name="ff36"/>
          <p:cNvSpPr/>
          <p:nvPr/>
        </p:nvSpPr>
        <p:spPr>
          <a:xfrm>
            <a:off x="1049366" y="2699858.0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30000"/>
                </a:moveTo>
                <a:lnTo>
                  <a:pt x="64000" y="30000"/>
                </a:lnTo>
                <a:lnTo>
                  <a:pt x="64000" y="35000"/>
                </a:lnTo>
                <a:lnTo>
                  <a:pt x="24000" y="35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7" name="ff37"/>
          <p:cNvSpPr/>
          <p:nvPr/>
        </p:nvSpPr>
        <p:spPr>
          <a:xfrm>
            <a:off x="1049366" y="2699858.0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40000"/>
                </a:moveTo>
                <a:lnTo>
                  <a:pt x="52000" y="40000"/>
                </a:lnTo>
                <a:lnTo>
                  <a:pt x="52000" y="44000"/>
                </a:lnTo>
                <a:lnTo>
                  <a:pt x="24000" y="4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8" name="ch38"/>
          <p:cNvSpPr/>
          <p:nvPr/>
        </p:nvSpPr>
        <p:spPr>
          <a:xfrm>
            <a:off x="2304288" y="2738628.0"/>
            <a:ext cx="1371600" cy="512064"/>
          </a:xfrm>
          <a:prstGeom prst="homePlate">
            <a:avLst/>
          </a:prstGeom>
          <a:gradFill rotWithShape="1">
            <a:gsLst>
              <a:gs pos="0">
                <a:srgbClr val="2E9BFF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39" name="t39"/>
          <p:cNvSpPr txBox="1"/>
          <p:nvPr/>
        </p:nvSpPr>
        <p:spPr>
          <a:xfrm>
            <a:off x="2304288" y="2848356.0"/>
            <a:ext cx="1170432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00" b="1" spc="150" dirty="0">
                <a:solidFill>
                  <a:srgbClr val="FFFFFF"/>
                </a:solidFill>
                <a:latin typeface="Segoe UI"/>
                <a:cs typeface="Segoe UI"/>
              </a:rPr>
              <a:t>INVESTIGATE</a:t>
            </a:r>
          </a:p>
        </p:txBody>
      </p:sp>
      <p:sp>
        <p:nvSpPr>
          <p:cNvPr id="40" name="r40"/>
          <p:cNvSpPr/>
          <p:nvPr/>
        </p:nvSpPr>
        <p:spPr>
          <a:xfrm>
            <a:off x="3904488" y="2286000"/>
            <a:ext cx="7720279" cy="1417320"/>
          </a:xfrm>
          <a:prstGeom prst="roundRect">
            <a:avLst>
              <a:gd name="adj" fmla="val 8000"/>
            </a:avLst>
          </a:prstGeom>
          <a:solidFill>
            <a:srgbClr val="0E2038">
              <a:alpha val="92000"/>
            </a:srgbClr>
          </a:solidFill>
          <a:ln w="15240" cap="rnd">
            <a:solidFill>
              <a:srgbClr val="2E9BFF"/>
            </a:solidFill>
          </a:ln>
        </p:spPr>
        <p:txBody>
          <a:bodyPr/>
          <a:p/>
        </p:txBody>
      </p:sp>
      <p:sp>
        <p:nvSpPr>
          <p:cNvPr id="41" name="r41"/>
          <p:cNvSpPr/>
          <p:nvPr/>
        </p:nvSpPr>
        <p:spPr>
          <a:xfrm>
            <a:off x="3904488" y="2286000"/>
            <a:ext cx="64008" cy="141732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42" name="t42"/>
          <p:cNvSpPr txBox="1"/>
          <p:nvPr/>
        </p:nvSpPr>
        <p:spPr>
          <a:xfrm>
            <a:off x="4197096" y="2487168"/>
            <a:ext cx="7171639" cy="3657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Incident A — Traditional Desktop Intrusion</a:t>
            </a:r>
          </a:p>
        </p:txBody>
      </p:sp>
      <p:sp>
        <p:nvSpPr>
          <p:cNvPr id="43" name="t43"/>
          <p:cNvSpPr txBox="1"/>
          <p:nvPr/>
        </p:nvSpPr>
        <p:spPr>
          <a:xfrm>
            <a:off x="4197096" y="2907792"/>
            <a:ext cx="7171639" cy="7315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Unauthorised access to a physical desktop computer located inside the company's own premises.</a:t>
            </a:r>
          </a:p>
        </p:txBody>
      </p:sp>
      <p:sp>
        <p:nvSpPr>
          <p:cNvPr id="44" name="t44"/>
          <p:cNvSpPr txBox="1"/>
          <p:nvPr/>
        </p:nvSpPr>
        <p:spPr>
          <a:xfrm>
            <a:off x="658368" y="3685032"/>
            <a:ext cx="13716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000" dirty="0">
                <a:solidFill>
                  <a:srgbClr val="2E9BFF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45" name="o45"/>
          <p:cNvSpPr/>
          <p:nvPr/>
        </p:nvSpPr>
        <p:spPr>
          <a:xfrm>
            <a:off x="731520" y="4119372.0"/>
            <a:ext cx="1225296" cy="1225296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46" name="o46"/>
          <p:cNvSpPr/>
          <p:nvPr/>
        </p:nvSpPr>
        <p:spPr>
          <a:xfrm>
            <a:off x="777240" y="4165092.0"/>
            <a:ext cx="1133856" cy="1133856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E7C86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47" name="ff47"/>
          <p:cNvSpPr/>
          <p:nvPr/>
        </p:nvSpPr>
        <p:spPr>
          <a:xfrm>
            <a:off x="1049366" y="4437218.0"/>
            <a:ext cx="589605" cy="5896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000" y="72000"/>
                </a:moveTo>
                <a:cubicBezTo>
                  <a:pt x="12" y="72"/>
                  <a:pt x="10" y="52"/>
                  <a:pt x="28" y="50"/>
                </a:cubicBezTo>
                <a:cubicBezTo>
                  <a:pt x="28" y="30"/>
                  <a:pt x="58" y="26"/>
                  <a:pt x="62" y="46"/>
                </a:cubicBezTo>
                <a:cubicBezTo>
                  <a:pt x="84" y="42"/>
                  <a:pt x="92" y="70"/>
                  <a:pt x="74" y="72"/>
                </a:cubicBezTo>
                <a:lnTo>
                  <a:pt x="26000" y="72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8" name="ch48"/>
          <p:cNvSpPr/>
          <p:nvPr/>
        </p:nvSpPr>
        <p:spPr>
          <a:xfrm>
            <a:off x="2304288" y="4475988.0"/>
            <a:ext cx="1371600" cy="512064"/>
          </a:xfrm>
          <a:prstGeom prst="homePlate">
            <a:avLst/>
          </a:prstGeom>
          <a:gradFill rotWithShape="1">
            <a:gsLst>
              <a:gs pos="0">
                <a:srgbClr val="24E0D8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49" name="t49"/>
          <p:cNvSpPr txBox="1"/>
          <p:nvPr/>
        </p:nvSpPr>
        <p:spPr>
          <a:xfrm>
            <a:off x="2304288" y="4585716.0"/>
            <a:ext cx="1170432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00" b="1" spc="150" dirty="0">
                <a:solidFill>
                  <a:srgbClr val="FFFFFF"/>
                </a:solidFill>
                <a:latin typeface="Segoe UI"/>
                <a:cs typeface="Segoe UI"/>
              </a:rPr>
              <a:t>INVESTIGATE</a:t>
            </a:r>
          </a:p>
        </p:txBody>
      </p:sp>
      <p:sp>
        <p:nvSpPr>
          <p:cNvPr id="50" name="r50"/>
          <p:cNvSpPr/>
          <p:nvPr/>
        </p:nvSpPr>
        <p:spPr>
          <a:xfrm>
            <a:off x="3904488" y="4023360"/>
            <a:ext cx="7720279" cy="1417320"/>
          </a:xfrm>
          <a:prstGeom prst="roundRect">
            <a:avLst>
              <a:gd name="adj" fmla="val 8000"/>
            </a:avLst>
          </a:prstGeom>
          <a:solidFill>
            <a:srgbClr val="0E2038">
              <a:alpha val="92000"/>
            </a:srgbClr>
          </a:solidFill>
          <a:ln w="15240" cap="rnd">
            <a:solidFill>
              <a:srgbClr val="24E0D8"/>
            </a:solidFill>
          </a:ln>
        </p:spPr>
        <p:txBody>
          <a:bodyPr/>
          <a:p/>
        </p:txBody>
      </p:sp>
      <p:sp>
        <p:nvSpPr>
          <p:cNvPr id="51" name="r51"/>
          <p:cNvSpPr/>
          <p:nvPr/>
        </p:nvSpPr>
        <p:spPr>
          <a:xfrm>
            <a:off x="3904488" y="4023360"/>
            <a:ext cx="64008" cy="1417320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52" name="t52"/>
          <p:cNvSpPr txBox="1"/>
          <p:nvPr/>
        </p:nvSpPr>
        <p:spPr>
          <a:xfrm>
            <a:off x="4197096" y="4224528"/>
            <a:ext cx="7171639" cy="3657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Incident B — Cloud Application Compromise</a:t>
            </a:r>
          </a:p>
        </p:txBody>
      </p:sp>
      <p:sp>
        <p:nvSpPr>
          <p:cNvPr id="53" name="t53"/>
          <p:cNvSpPr txBox="1"/>
          <p:nvPr/>
        </p:nvSpPr>
        <p:spPr>
          <a:xfrm>
            <a:off x="4197096" y="4645152"/>
            <a:ext cx="7171639" cy="7315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Unauthorised access to a business application hosted by a third-party Cloud Service Provider (CSP).</a:t>
            </a:r>
          </a:p>
        </p:txBody>
      </p:sp>
      <p:sp>
        <p:nvSpPr>
          <p:cNvPr id="54" name="t54"/>
          <p:cNvSpPr txBox="1"/>
          <p:nvPr/>
        </p:nvSpPr>
        <p:spPr>
          <a:xfrm>
            <a:off x="658368" y="5422392"/>
            <a:ext cx="13716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000" dirty="0">
                <a:solidFill>
                  <a:srgbClr val="24E0D8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55" name="t55"/>
          <p:cNvSpPr txBox="1"/>
          <p:nvPr/>
        </p:nvSpPr>
        <p:spPr>
          <a:xfrm>
            <a:off x="566928" y="365760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buNone/>
            </a:pPr>
            <a:r>
              <a:rPr lang="en-US" sz="1050" b="1" spc="150" dirty="0">
                <a:solidFill>
                  <a:srgbClr val="63B8FF"/>
                </a:solidFill>
                <a:latin typeface="Segoe UI"/>
                <a:cs typeface="Segoe UI"/>
              </a:rPr>
              <a:t>DESKTOP</a:t>
            </a:r>
          </a:p>
        </p:txBody>
      </p:sp>
      <p:sp>
        <p:nvSpPr>
          <p:cNvPr id="56" name="t56"/>
          <p:cNvSpPr txBox="1"/>
          <p:nvPr/>
        </p:nvSpPr>
        <p:spPr>
          <a:xfrm>
            <a:off x="566928" y="539496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buNone/>
            </a:pPr>
            <a:r>
              <a:rPr lang="en-US" sz="1050" b="1" spc="150" dirty="0">
                <a:solidFill>
                  <a:srgbClr val="5FF3EC"/>
                </a:solidFill>
                <a:latin typeface="Segoe UI"/>
                <a:cs typeface="Segoe UI"/>
              </a:rPr>
              <a:t>CLOUD</a:t>
            </a:r>
          </a:p>
        </p:txBody>
      </p:sp>
      <p:sp>
        <p:nvSpPr>
          <p:cNvPr id="57" name="r57"/>
          <p:cNvSpPr/>
          <p:nvPr/>
        </p:nvSpPr>
        <p:spPr>
          <a:xfrm>
            <a:off x="566928" y="5532120"/>
            <a:ext cx="11057839" cy="658368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102A46"/>
              </a:gs>
              <a:gs pos="100000">
                <a:srgbClr val="0C1E33"/>
              </a:gs>
            </a:gsLst>
            <a:lin ang="5400000" scaled="1"/>
          </a:gradFill>
          <a:ln w="1397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8" name="o58"/>
          <p:cNvSpPr/>
          <p:nvPr/>
        </p:nvSpPr>
        <p:spPr>
          <a:xfrm>
            <a:off x="871240" y="5763280"/>
            <a:ext cx="132770" cy="132770"/>
          </a:xfrm>
          <a:prstGeom prst="ellipse">
            <a:avLst/>
          </a:prstGeom>
          <a:noFill/>
          <a:ln w="40640" cap="rnd">
            <a:solidFill>
              <a:srgbClr val="24E0D8"/>
            </a:solidFill>
          </a:ln>
        </p:spPr>
        <p:txBody>
          <a:bodyPr/>
          <a:p/>
        </p:txBody>
      </p:sp>
      <p:cxnSp>
        <p:nvCxnSpPr>
          <p:cNvPr id="59" name="l59"/>
          <p:cNvCxnSpPr/>
          <p:nvPr/>
        </p:nvCxnSpPr>
        <p:spPr>
          <a:xfrm>
            <a:off x="991941" y="5883981"/>
            <a:ext cx="84490" cy="84490"/>
          </a:xfrm>
          <a:prstGeom prst="line">
            <a:avLst/>
          </a:prstGeom>
          <a:ln w="43180" cap="rnd">
            <a:solidFill>
              <a:srgbClr val="24E0D8"/>
            </a:solidFill>
          </a:ln>
        </p:spPr>
      </p:cxnSp>
      <p:sp>
        <p:nvSpPr>
          <p:cNvPr id="60" name="t60"/>
          <p:cNvSpPr txBox="1"/>
          <p:nvPr/>
        </p:nvSpPr>
        <p:spPr>
          <a:xfrm>
            <a:off x="1344168" y="5532120"/>
            <a:ext cx="10051999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450" b="1" dirty="0">
                <a:solidFill>
                  <a:srgbClr val="24E0D8"/>
                </a:solidFill>
                <a:latin typeface="Segoe UI"/>
                <a:cs typeface="Segoe UI"/>
              </a:rPr>
              <a:t>Key Question:  </a:t>
            </a:r>
            <a:r>
              <a:rPr lang="en-US" sz="1450" b="1" dirty="0">
                <a:solidFill>
                  <a:srgbClr val="FFFFFF"/>
                </a:solidFill>
                <a:latin typeface="Segoe UI"/>
                <a:cs typeface="Segoe UI"/>
              </a:rPr>
              <a:t>How would the two incidents be investigated differently?</a:t>
            </a:r>
          </a:p>
        </p:txBody>
      </p:sp>
    </p:spTree>
  </p:cSld>
  <p:transition spd="med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A2E"/>
              </a:gs>
              <a:gs pos="55000">
                <a:srgbClr val="0A1526"/>
              </a:gs>
              <a:gs pos="100000">
                <a:srgbClr val="081120"/>
              </a:gs>
            </a:gsLst>
            <a:lin ang="3000000" scaled="1"/>
          </a:gradFill>
          <a:ln>
            <a:noFill/>
          </a:ln>
        </p:spPr>
        <p:txBody>
          <a:bodyPr/>
          <a:p/>
        </p:txBody>
      </p:sp>
      <p:cxnSp>
        <p:nvCxnSpPr>
          <p:cNvPr id="3" name="l3"/>
          <p:cNvCxnSpPr/>
          <p:nvPr/>
        </p:nvCxnSpPr>
        <p:spPr>
          <a:xfrm>
            <a:off x="-914400" y="-91440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4" name="l4"/>
          <p:cNvCxnSpPr/>
          <p:nvPr/>
        </p:nvCxnSpPr>
        <p:spPr>
          <a:xfrm>
            <a:off x="-914400" y="-34747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5" name="l5"/>
          <p:cNvCxnSpPr/>
          <p:nvPr/>
        </p:nvCxnSpPr>
        <p:spPr>
          <a:xfrm>
            <a:off x="-914400" y="21945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6" name="l6"/>
          <p:cNvCxnSpPr/>
          <p:nvPr/>
        </p:nvCxnSpPr>
        <p:spPr>
          <a:xfrm>
            <a:off x="-914400" y="78638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7" name="l7"/>
          <p:cNvCxnSpPr/>
          <p:nvPr/>
        </p:nvCxnSpPr>
        <p:spPr>
          <a:xfrm>
            <a:off x="-914400" y="135331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8" name="l8"/>
          <p:cNvCxnSpPr/>
          <p:nvPr/>
        </p:nvCxnSpPr>
        <p:spPr>
          <a:xfrm>
            <a:off x="-914400" y="192024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9" name="l9"/>
          <p:cNvCxnSpPr/>
          <p:nvPr/>
        </p:nvCxnSpPr>
        <p:spPr>
          <a:xfrm>
            <a:off x="-914400" y="248716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0" name="l10"/>
          <p:cNvCxnSpPr/>
          <p:nvPr/>
        </p:nvCxnSpPr>
        <p:spPr>
          <a:xfrm>
            <a:off x="-914400" y="305409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1" name="l11"/>
          <p:cNvCxnSpPr/>
          <p:nvPr/>
        </p:nvCxnSpPr>
        <p:spPr>
          <a:xfrm>
            <a:off x="-914400" y="362102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2" name="l12"/>
          <p:cNvCxnSpPr/>
          <p:nvPr/>
        </p:nvCxnSpPr>
        <p:spPr>
          <a:xfrm>
            <a:off x="-914400" y="418795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3" name="l13"/>
          <p:cNvCxnSpPr/>
          <p:nvPr/>
        </p:nvCxnSpPr>
        <p:spPr>
          <a:xfrm>
            <a:off x="-914400" y="475488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4" name="l14"/>
          <p:cNvCxnSpPr/>
          <p:nvPr/>
        </p:nvCxnSpPr>
        <p:spPr>
          <a:xfrm>
            <a:off x="-914400" y="532180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5" name="l15"/>
          <p:cNvCxnSpPr/>
          <p:nvPr/>
        </p:nvCxnSpPr>
        <p:spPr>
          <a:xfrm>
            <a:off x="-914400" y="588873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6" name="l16"/>
          <p:cNvCxnSpPr/>
          <p:nvPr/>
        </p:nvCxnSpPr>
        <p:spPr>
          <a:xfrm>
            <a:off x="-914400" y="645566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7" name="l17"/>
          <p:cNvCxnSpPr/>
          <p:nvPr/>
        </p:nvCxnSpPr>
        <p:spPr>
          <a:xfrm>
            <a:off x="-914400" y="702259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8" name="l18"/>
          <p:cNvCxnSpPr/>
          <p:nvPr/>
        </p:nvCxnSpPr>
        <p:spPr>
          <a:xfrm>
            <a:off x="-914400" y="758952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sp>
        <p:nvSpPr>
          <p:cNvPr id="19" name="o19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2E9BFF">
              <a:alpha val="8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o20"/>
          <p:cNvSpPr/>
          <p:nvPr/>
        </p:nvSpPr>
        <p:spPr>
          <a:xfrm>
            <a:off x="-1463040" y="4023360"/>
            <a:ext cx="3840480" cy="3840480"/>
          </a:xfrm>
          <a:prstGeom prst="ellipse">
            <a:avLst/>
          </a:prstGeom>
          <a:solidFill>
            <a:srgbClr val="24E0D8">
              <a:alpha val="7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r2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22" name="r22"/>
          <p:cNvSpPr/>
          <p:nvPr/>
        </p:nvSpPr>
        <p:spPr>
          <a:xfrm>
            <a:off x="566928" y="402336"/>
            <a:ext cx="274320" cy="50292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23" name="t23"/>
          <p:cNvSpPr txBox="1"/>
          <p:nvPr/>
        </p:nvSpPr>
        <p:spPr>
          <a:xfrm>
            <a:off x="950976" y="301752"/>
            <a:ext cx="548640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b="1" spc="320" dirty="0">
                <a:solidFill>
                  <a:srgbClr val="24E0D8"/>
                </a:solidFill>
                <a:latin typeface="Segoe UI"/>
                <a:cs typeface="Segoe UI"/>
              </a:rPr>
              <a:t>DEFINITIONS &amp; PROCESS MODELS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566928" y="658368"/>
            <a:ext cx="10424160" cy="8686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2900" b="1" dirty="0">
                <a:solidFill>
                  <a:srgbClr val="FFFFFF"/>
                </a:solidFill>
                <a:latin typeface="Poppins"/>
                <a:cs typeface="Poppins"/>
              </a:rPr>
              <a:t>What is Digital vs Cloud Forensics?</a:t>
            </a:r>
          </a:p>
        </p:txBody>
      </p:sp>
      <p:cxnSp>
        <p:nvCxnSpPr>
          <p:cNvPr id="25" name="l25"/>
          <p:cNvCxnSpPr/>
          <p:nvPr/>
        </p:nvCxnSpPr>
        <p:spPr>
          <a:xfrm>
            <a:off x="566928" y="1481328"/>
            <a:ext cx="11055096" cy="0"/>
          </a:xfrm>
          <a:prstGeom prst="line">
            <a:avLst/>
          </a:prstGeom>
          <a:ln w="13970" cap="rnd">
            <a:solidFill>
              <a:srgbClr val="24476E">
                <a:alpha val="70000"/>
              </a:srgbClr>
            </a:solidFill>
          </a:ln>
        </p:spPr>
      </p:cxnSp>
      <p:cxnSp>
        <p:nvCxnSpPr>
          <p:cNvPr id="26" name="l26"/>
          <p:cNvCxnSpPr/>
          <p:nvPr/>
        </p:nvCxnSpPr>
        <p:spPr>
          <a:xfrm>
            <a:off x="566928" y="6428232"/>
            <a:ext cx="11055096" cy="0"/>
          </a:xfrm>
          <a:prstGeom prst="line">
            <a:avLst/>
          </a:prstGeom>
          <a:ln w="12700" cap="rnd">
            <a:solidFill>
              <a:srgbClr val="1C3A5C">
                <a:alpha val="60000"/>
              </a:srgbClr>
            </a:solidFill>
          </a:ln>
        </p:spPr>
      </p:cxnSp>
      <p:sp>
        <p:nvSpPr>
          <p:cNvPr id="27" name="t27"/>
          <p:cNvSpPr txBox="1"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950" spc="150" dirty="0">
                <a:solidFill>
                  <a:srgbClr val="9DB4CC"/>
                </a:solidFill>
                <a:latin typeface="Segoe UI"/>
                <a:cs typeface="Segoe UI"/>
              </a:rPr>
              <a:t>Digital Forensics vs Cloud Forensics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9326880" y="6455664"/>
            <a:ext cx="22860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r">
              <a:buNone/>
            </a:pPr>
            <a:r>
              <a:rPr lang="en-US" sz="1000" b="1" dirty="0">
                <a:solidFill>
                  <a:srgbClr val="24E0D8"/>
                </a:solidFill>
                <a:latin typeface="Segoe UI"/>
                <a:cs typeface="Segoe UI"/>
              </a:rPr>
              <a:t>03</a:t>
            </a:r>
            <a:r>
              <a:rPr lang="en-US" sz="1000" dirty="0">
                <a:solidFill>
                  <a:srgbClr val="9DB4CC"/>
                </a:solidFill>
                <a:latin typeface="Segoe UI"/>
                <a:cs typeface="Segoe UI"/>
              </a:rPr>
              <a:t> / 08</a:t>
            </a:r>
          </a:p>
        </p:txBody>
      </p:sp>
      <p:sp>
        <p:nvSpPr>
          <p:cNvPr id="29" name="r29"/>
          <p:cNvSpPr/>
          <p:nvPr/>
        </p:nvSpPr>
        <p:spPr>
          <a:xfrm>
            <a:off x="566928" y="1691640"/>
            <a:ext cx="5346039.5" cy="4160520"/>
          </a:xfrm>
          <a:prstGeom prst="roundRect">
            <a:avLst>
              <a:gd name="adj" fmla="val 6000"/>
            </a:avLst>
          </a:prstGeom>
          <a:solidFill>
            <a:srgbClr val="0E2038">
              <a:alpha val="95000"/>
            </a:srgbClr>
          </a:solidFill>
          <a:ln w="16510" cap="rnd">
            <a:solidFill>
              <a:srgbClr val="63B8FF"/>
            </a:solidFill>
          </a:ln>
          <a:effectLst>
            <a:outerShdw blurRad="120000" dist="50000" dir="5400000" rotWithShape="0">
              <a:srgbClr val="000000">
                <a:alpha val="42000"/>
              </a:srgbClr>
            </a:outerShdw>
          </a:effectLst>
        </p:spPr>
        <p:txBody>
          <a:bodyPr/>
          <a:p/>
        </p:txBody>
      </p:sp>
      <p:sp>
        <p:nvSpPr>
          <p:cNvPr id="30" name="r30"/>
          <p:cNvSpPr/>
          <p:nvPr/>
        </p:nvSpPr>
        <p:spPr>
          <a:xfrm>
            <a:off x="566928" y="1691640"/>
            <a:ext cx="5346039.5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31" name="r31"/>
          <p:cNvSpPr/>
          <p:nvPr/>
        </p:nvSpPr>
        <p:spPr>
          <a:xfrm>
            <a:off x="566928" y="2194560"/>
            <a:ext cx="5346039.5" cy="338328"/>
          </a:xfrm>
          <a:prstGeom prst="rect">
            <a:avLst/>
          </a:prstGeom>
          <a:solidFill>
            <a:srgbClr val="0E2038">
              <a:alpha val="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2" name="o32"/>
          <p:cNvSpPr/>
          <p:nvPr/>
        </p:nvSpPr>
        <p:spPr>
          <a:xfrm>
            <a:off x="758952" y="1737360"/>
            <a:ext cx="749808" cy="749808"/>
          </a:xfrm>
          <a:prstGeom prst="ellipse">
            <a:avLst/>
          </a:prstGeom>
          <a:noFill/>
          <a:ln w="17780" cap="rnd">
            <a:solidFill>
              <a:srgbClr val="FFFF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33" name="o33"/>
          <p:cNvSpPr/>
          <p:nvPr/>
        </p:nvSpPr>
        <p:spPr>
          <a:xfrm>
            <a:off x="804672" y="1783080"/>
            <a:ext cx="658368" cy="658368"/>
          </a:xfrm>
          <a:prstGeom prst="ellipse">
            <a:avLst/>
          </a:prstGeom>
          <a:gradFill rotWithShape="1">
            <a:gsLst>
              <a:gs pos="0">
                <a:srgbClr val="FFFFFF"/>
              </a:gs>
              <a:gs pos="100000">
                <a:srgbClr val="2E9BFF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34" name="ff34"/>
          <p:cNvSpPr/>
          <p:nvPr/>
        </p:nvSpPr>
        <p:spPr>
          <a:xfrm>
            <a:off x="949513" y="1927921"/>
            <a:ext cx="368686" cy="36868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2000" y="18000"/>
                </a:moveTo>
                <a:lnTo>
                  <a:pt x="88000" y="18000"/>
                </a:lnTo>
                <a:lnTo>
                  <a:pt x="88000" y="64000"/>
                </a:lnTo>
                <a:lnTo>
                  <a:pt x="12000" y="6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5" name="ff35"/>
          <p:cNvSpPr/>
          <p:nvPr/>
        </p:nvSpPr>
        <p:spPr>
          <a:xfrm>
            <a:off x="949513" y="1927921"/>
            <a:ext cx="368686" cy="36868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000" y="24000"/>
                </a:moveTo>
                <a:lnTo>
                  <a:pt x="82000" y="24000"/>
                </a:lnTo>
                <a:lnTo>
                  <a:pt x="82000" y="58000"/>
                </a:lnTo>
                <a:lnTo>
                  <a:pt x="18000" y="58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36" name="ff36"/>
          <p:cNvSpPr/>
          <p:nvPr/>
        </p:nvSpPr>
        <p:spPr>
          <a:xfrm>
            <a:off x="949513" y="1927921"/>
            <a:ext cx="368686" cy="36868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000" y="64000"/>
                </a:moveTo>
                <a:lnTo>
                  <a:pt x="58000" y="64000"/>
                </a:lnTo>
                <a:lnTo>
                  <a:pt x="62000" y="80000"/>
                </a:lnTo>
                <a:lnTo>
                  <a:pt x="38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7" name="ff37"/>
          <p:cNvSpPr/>
          <p:nvPr/>
        </p:nvSpPr>
        <p:spPr>
          <a:xfrm>
            <a:off x="949513" y="1927921"/>
            <a:ext cx="368686" cy="36868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0000" y="80000"/>
                </a:moveTo>
                <a:lnTo>
                  <a:pt x="70000" y="80000"/>
                </a:lnTo>
                <a:lnTo>
                  <a:pt x="70000" y="88000"/>
                </a:lnTo>
                <a:lnTo>
                  <a:pt x="30000" y="8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8" name="ff38"/>
          <p:cNvSpPr/>
          <p:nvPr/>
        </p:nvSpPr>
        <p:spPr>
          <a:xfrm>
            <a:off x="949513" y="1927921"/>
            <a:ext cx="368686" cy="36868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30000"/>
                </a:moveTo>
                <a:lnTo>
                  <a:pt x="64000" y="30000"/>
                </a:lnTo>
                <a:lnTo>
                  <a:pt x="64000" y="35000"/>
                </a:lnTo>
                <a:lnTo>
                  <a:pt x="24000" y="35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9" name="ff39"/>
          <p:cNvSpPr/>
          <p:nvPr/>
        </p:nvSpPr>
        <p:spPr>
          <a:xfrm>
            <a:off x="949513" y="1927921"/>
            <a:ext cx="368686" cy="36868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40000"/>
                </a:moveTo>
                <a:lnTo>
                  <a:pt x="52000" y="40000"/>
                </a:lnTo>
                <a:lnTo>
                  <a:pt x="52000" y="44000"/>
                </a:lnTo>
                <a:lnTo>
                  <a:pt x="24000" y="4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0" name="t40"/>
          <p:cNvSpPr txBox="1"/>
          <p:nvPr/>
        </p:nvSpPr>
        <p:spPr>
          <a:xfrm>
            <a:off x="1591056" y="1819656"/>
            <a:ext cx="4157319.5" cy="3657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750" b="1" dirty="0">
                <a:solidFill>
                  <a:srgbClr val="FFFFFF"/>
                </a:solidFill>
                <a:latin typeface="Segoe UI"/>
                <a:cs typeface="Segoe UI"/>
              </a:rPr>
              <a:t>Traditional Digital Forensics</a:t>
            </a:r>
          </a:p>
        </p:txBody>
      </p:sp>
      <p:sp>
        <p:nvSpPr>
          <p:cNvPr id="41" name="t41"/>
          <p:cNvSpPr txBox="1"/>
          <p:nvPr/>
        </p:nvSpPr>
        <p:spPr>
          <a:xfrm>
            <a:off x="1591056" y="2194560"/>
            <a:ext cx="415731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100" spc="50" dirty="0">
                <a:solidFill>
                  <a:srgbClr val="E4F1FF"/>
                </a:solidFill>
                <a:latin typeface="Segoe UI"/>
                <a:cs typeface="Segoe UI"/>
              </a:rPr>
              <a:t>Evidence physically on the organisation's device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41248" y="2770632"/>
            <a:ext cx="4797399.5" cy="2560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000" b="1" spc="200" dirty="0">
                <a:solidFill>
                  <a:srgbClr val="63B8FF"/>
                </a:solidFill>
                <a:latin typeface="Segoe UI"/>
                <a:cs typeface="Segoe UI"/>
              </a:rPr>
              <a:t>PROCESS PHASES</a:t>
            </a:r>
          </a:p>
        </p:txBody>
      </p:sp>
      <p:sp>
        <p:nvSpPr>
          <p:cNvPr id="43" name="r43"/>
          <p:cNvSpPr/>
          <p:nvPr/>
        </p:nvSpPr>
        <p:spPr>
          <a:xfrm>
            <a:off x="841248" y="3081528"/>
            <a:ext cx="1618488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63B8FF">
                <a:alpha val="60000"/>
              </a:srgbClr>
            </a:solidFill>
          </a:ln>
        </p:spPr>
        <p:txBody>
          <a:bodyPr/>
          <a:p/>
        </p:txBody>
      </p:sp>
      <p:sp>
        <p:nvSpPr>
          <p:cNvPr id="44" name="t44"/>
          <p:cNvSpPr txBox="1"/>
          <p:nvPr/>
        </p:nvSpPr>
        <p:spPr>
          <a:xfrm>
            <a:off x="841248" y="3081528"/>
            <a:ext cx="1618488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Identification</a:t>
            </a:r>
          </a:p>
        </p:txBody>
      </p:sp>
      <p:sp>
        <p:nvSpPr>
          <p:cNvPr id="45" name="r45"/>
          <p:cNvSpPr/>
          <p:nvPr/>
        </p:nvSpPr>
        <p:spPr>
          <a:xfrm>
            <a:off x="2569464" y="3081528"/>
            <a:ext cx="1426464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63B8FF">
                <a:alpha val="60000"/>
              </a:srgbClr>
            </a:solidFill>
          </a:ln>
        </p:spPr>
        <p:txBody>
          <a:bodyPr/>
          <a:p/>
        </p:txBody>
      </p:sp>
      <p:sp>
        <p:nvSpPr>
          <p:cNvPr id="46" name="t46"/>
          <p:cNvSpPr txBox="1"/>
          <p:nvPr/>
        </p:nvSpPr>
        <p:spPr>
          <a:xfrm>
            <a:off x="2569464" y="3081528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Preservation</a:t>
            </a:r>
          </a:p>
        </p:txBody>
      </p:sp>
      <p:sp>
        <p:nvSpPr>
          <p:cNvPr id="47" name="r47"/>
          <p:cNvSpPr/>
          <p:nvPr/>
        </p:nvSpPr>
        <p:spPr>
          <a:xfrm>
            <a:off x="4105656" y="30815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63B8FF">
                <a:alpha val="60000"/>
              </a:srgbClr>
            </a:solidFill>
          </a:ln>
        </p:spPr>
        <p:txBody>
          <a:bodyPr/>
          <a:p/>
        </p:txBody>
      </p:sp>
      <p:sp>
        <p:nvSpPr>
          <p:cNvPr id="48" name="t48"/>
          <p:cNvSpPr txBox="1"/>
          <p:nvPr/>
        </p:nvSpPr>
        <p:spPr>
          <a:xfrm>
            <a:off x="4105656" y="3081528"/>
            <a:ext cx="123444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Collection</a:t>
            </a:r>
          </a:p>
        </p:txBody>
      </p:sp>
      <p:sp>
        <p:nvSpPr>
          <p:cNvPr id="49" name="r49"/>
          <p:cNvSpPr/>
          <p:nvPr/>
        </p:nvSpPr>
        <p:spPr>
          <a:xfrm>
            <a:off x="841248" y="3502152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63B8FF">
                <a:alpha val="60000"/>
              </a:srgbClr>
            </a:solidFill>
          </a:ln>
        </p:spPr>
        <p:txBody>
          <a:bodyPr/>
          <a:p/>
        </p:txBody>
      </p:sp>
      <p:sp>
        <p:nvSpPr>
          <p:cNvPr id="50" name="t50"/>
          <p:cNvSpPr txBox="1"/>
          <p:nvPr/>
        </p:nvSpPr>
        <p:spPr>
          <a:xfrm>
            <a:off x="841248" y="3502152"/>
            <a:ext cx="1330452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Examination</a:t>
            </a:r>
          </a:p>
        </p:txBody>
      </p:sp>
      <p:sp>
        <p:nvSpPr>
          <p:cNvPr id="51" name="r51"/>
          <p:cNvSpPr/>
          <p:nvPr/>
        </p:nvSpPr>
        <p:spPr>
          <a:xfrm>
            <a:off x="2281428" y="3502152"/>
            <a:ext cx="1042415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63B8FF">
                <a:alpha val="60000"/>
              </a:srgbClr>
            </a:solidFill>
          </a:ln>
        </p:spPr>
        <p:txBody>
          <a:bodyPr/>
          <a:p/>
        </p:txBody>
      </p:sp>
      <p:sp>
        <p:nvSpPr>
          <p:cNvPr id="52" name="t52"/>
          <p:cNvSpPr txBox="1"/>
          <p:nvPr/>
        </p:nvSpPr>
        <p:spPr>
          <a:xfrm>
            <a:off x="2281428" y="3502152"/>
            <a:ext cx="1042415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Analysis</a:t>
            </a:r>
          </a:p>
        </p:txBody>
      </p:sp>
      <p:sp>
        <p:nvSpPr>
          <p:cNvPr id="53" name="r53"/>
          <p:cNvSpPr/>
          <p:nvPr/>
        </p:nvSpPr>
        <p:spPr>
          <a:xfrm>
            <a:off x="3433571" y="3502152"/>
            <a:ext cx="1138428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63B8FF">
                <a:alpha val="60000"/>
              </a:srgbClr>
            </a:solidFill>
          </a:ln>
        </p:spPr>
        <p:txBody>
          <a:bodyPr/>
          <a:p/>
        </p:txBody>
      </p:sp>
      <p:sp>
        <p:nvSpPr>
          <p:cNvPr id="54" name="t54"/>
          <p:cNvSpPr txBox="1"/>
          <p:nvPr/>
        </p:nvSpPr>
        <p:spPr>
          <a:xfrm>
            <a:off x="3433571" y="3502152"/>
            <a:ext cx="1138428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Reporting</a:t>
            </a:r>
          </a:p>
        </p:txBody>
      </p:sp>
      <p:sp>
        <p:nvSpPr>
          <p:cNvPr id="55" name="t55"/>
          <p:cNvSpPr txBox="1"/>
          <p:nvPr/>
        </p:nvSpPr>
        <p:spPr>
          <a:xfrm>
            <a:off x="841248" y="4014216"/>
            <a:ext cx="4797399.5" cy="12801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Investigator has direct physical control of the device.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Evidence lives on hardware the organisation owns.</a:t>
            </a:r>
          </a:p>
        </p:txBody>
      </p:sp>
      <p:sp>
        <p:nvSpPr>
          <p:cNvPr id="56" name="r56"/>
          <p:cNvSpPr/>
          <p:nvPr/>
        </p:nvSpPr>
        <p:spPr>
          <a:xfrm>
            <a:off x="841248" y="5285232"/>
            <a:ext cx="4797399.5" cy="40233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2700" cap="rnd">
            <a:solidFill>
              <a:srgbClr val="63B8FF">
                <a:alpha val="70000"/>
              </a:srgbClr>
            </a:solidFill>
          </a:ln>
        </p:spPr>
        <p:txBody>
          <a:bodyPr/>
          <a:p/>
        </p:txBody>
      </p:sp>
      <p:sp>
        <p:nvSpPr>
          <p:cNvPr id="57" name="t57"/>
          <p:cNvSpPr txBox="1"/>
          <p:nvPr/>
        </p:nvSpPr>
        <p:spPr>
          <a:xfrm>
            <a:off x="841248" y="5285232"/>
            <a:ext cx="4797399.5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50" b="1" dirty="0">
                <a:solidFill>
                  <a:srgbClr val="63B8FF"/>
                </a:solidFill>
                <a:latin typeface="Segoe UI"/>
                <a:cs typeface="Segoe UI"/>
              </a:rPr>
              <a:t>Model:  </a:t>
            </a:r>
            <a:r>
              <a:rPr lang="en-US" sz="1150" b="1" dirty="0">
                <a:solidFill>
                  <a:srgbClr val="FFFFFF"/>
                </a:solidFill>
                <a:latin typeface="Segoe UI"/>
                <a:cs typeface="Segoe UI"/>
              </a:rPr>
              <a:t>NIST SP 800-86</a:t>
            </a:r>
          </a:p>
        </p:txBody>
      </p:sp>
      <p:sp>
        <p:nvSpPr>
          <p:cNvPr id="58" name="r58"/>
          <p:cNvSpPr/>
          <p:nvPr/>
        </p:nvSpPr>
        <p:spPr>
          <a:xfrm>
            <a:off x="6278727.5" y="1691640"/>
            <a:ext cx="5346039.5" cy="4160520"/>
          </a:xfrm>
          <a:prstGeom prst="roundRect">
            <a:avLst>
              <a:gd name="adj" fmla="val 6000"/>
            </a:avLst>
          </a:prstGeom>
          <a:solidFill>
            <a:srgbClr val="0E2038">
              <a:alpha val="95000"/>
            </a:srgbClr>
          </a:solidFill>
          <a:ln w="16510" cap="rnd">
            <a:solidFill>
              <a:srgbClr val="5FF3EC"/>
            </a:solidFill>
          </a:ln>
          <a:effectLst>
            <a:outerShdw blurRad="120000" dist="50000" dir="5400000" rotWithShape="0">
              <a:srgbClr val="000000">
                <a:alpha val="42000"/>
              </a:srgbClr>
            </a:outerShdw>
          </a:effectLst>
        </p:spPr>
        <p:txBody>
          <a:bodyPr/>
          <a:p/>
        </p:txBody>
      </p:sp>
      <p:sp>
        <p:nvSpPr>
          <p:cNvPr id="59" name="r59"/>
          <p:cNvSpPr/>
          <p:nvPr/>
        </p:nvSpPr>
        <p:spPr>
          <a:xfrm>
            <a:off x="6278727.5" y="1691640"/>
            <a:ext cx="5346039.5" cy="8412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E0D8"/>
              </a:gs>
              <a:gs pos="100000">
                <a:srgbClr val="0E7C86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60" name="r60"/>
          <p:cNvSpPr/>
          <p:nvPr/>
        </p:nvSpPr>
        <p:spPr>
          <a:xfrm>
            <a:off x="6278727.5" y="2194560"/>
            <a:ext cx="5346039.5" cy="338328"/>
          </a:xfrm>
          <a:prstGeom prst="rect">
            <a:avLst/>
          </a:prstGeom>
          <a:solidFill>
            <a:srgbClr val="0E2038">
              <a:alpha val="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o61"/>
          <p:cNvSpPr/>
          <p:nvPr/>
        </p:nvSpPr>
        <p:spPr>
          <a:xfrm>
            <a:off x="6470751.5" y="1737360"/>
            <a:ext cx="749808" cy="749808"/>
          </a:xfrm>
          <a:prstGeom prst="ellipse">
            <a:avLst/>
          </a:prstGeom>
          <a:noFill/>
          <a:ln w="17780" cap="rnd">
            <a:solidFill>
              <a:srgbClr val="FFFF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62" name="o62"/>
          <p:cNvSpPr/>
          <p:nvPr/>
        </p:nvSpPr>
        <p:spPr>
          <a:xfrm>
            <a:off x="6516471.5" y="1783080"/>
            <a:ext cx="658368" cy="658368"/>
          </a:xfrm>
          <a:prstGeom prst="ellipse">
            <a:avLst/>
          </a:prstGeom>
          <a:gradFill rotWithShape="1">
            <a:gsLst>
              <a:gs pos="0">
                <a:srgbClr val="FFFFFF"/>
              </a:gs>
              <a:gs pos="100000">
                <a:srgbClr val="24E0D8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63" name="ff63"/>
          <p:cNvSpPr/>
          <p:nvPr/>
        </p:nvSpPr>
        <p:spPr>
          <a:xfrm>
            <a:off x="6661312.5" y="1927921"/>
            <a:ext cx="368686" cy="36868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000" y="72000"/>
                </a:moveTo>
                <a:cubicBezTo>
                  <a:pt x="12" y="72"/>
                  <a:pt x="10" y="52"/>
                  <a:pt x="28" y="50"/>
                </a:cubicBezTo>
                <a:cubicBezTo>
                  <a:pt x="28" y="30"/>
                  <a:pt x="58" y="26"/>
                  <a:pt x="62" y="46"/>
                </a:cubicBezTo>
                <a:cubicBezTo>
                  <a:pt x="84" y="42"/>
                  <a:pt x="92" y="70"/>
                  <a:pt x="74" y="72"/>
                </a:cubicBezTo>
                <a:lnTo>
                  <a:pt x="26000" y="72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64" name="t64"/>
          <p:cNvSpPr txBox="1"/>
          <p:nvPr/>
        </p:nvSpPr>
        <p:spPr>
          <a:xfrm>
            <a:off x="7302855.5" y="1819656"/>
            <a:ext cx="4157319.5" cy="3657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750" b="1" dirty="0">
                <a:solidFill>
                  <a:srgbClr val="FFFFFF"/>
                </a:solidFill>
                <a:latin typeface="Segoe UI"/>
                <a:cs typeface="Segoe UI"/>
              </a:rPr>
              <a:t>Cloud Forensics</a:t>
            </a:r>
          </a:p>
        </p:txBody>
      </p:sp>
      <p:sp>
        <p:nvSpPr>
          <p:cNvPr id="65" name="t65"/>
          <p:cNvSpPr txBox="1"/>
          <p:nvPr/>
        </p:nvSpPr>
        <p:spPr>
          <a:xfrm>
            <a:off x="7302855.5" y="2194560"/>
            <a:ext cx="415731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100" spc="50" dirty="0">
                <a:solidFill>
                  <a:srgbClr val="E4F1FF"/>
                </a:solidFill>
                <a:latin typeface="Segoe UI"/>
                <a:cs typeface="Segoe UI"/>
              </a:rPr>
              <a:t>Same principles on distributed, multi-tenant infrastructure</a:t>
            </a:r>
          </a:p>
        </p:txBody>
      </p:sp>
      <p:sp>
        <p:nvSpPr>
          <p:cNvPr id="66" name="t66"/>
          <p:cNvSpPr txBox="1"/>
          <p:nvPr/>
        </p:nvSpPr>
        <p:spPr>
          <a:xfrm>
            <a:off x="6553047.5" y="2770632"/>
            <a:ext cx="4797399.5" cy="2560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000" b="1" spc="200" dirty="0">
                <a:solidFill>
                  <a:srgbClr val="5FF3EC"/>
                </a:solidFill>
                <a:latin typeface="Segoe UI"/>
                <a:cs typeface="Segoe UI"/>
              </a:rPr>
              <a:t>PROCESS PHASES</a:t>
            </a:r>
          </a:p>
        </p:txBody>
      </p:sp>
      <p:sp>
        <p:nvSpPr>
          <p:cNvPr id="67" name="r67"/>
          <p:cNvSpPr/>
          <p:nvPr/>
        </p:nvSpPr>
        <p:spPr>
          <a:xfrm>
            <a:off x="6553047.5" y="3081528"/>
            <a:ext cx="1618488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5FF3EC">
                <a:alpha val="60000"/>
              </a:srgbClr>
            </a:solidFill>
          </a:ln>
        </p:spPr>
        <p:txBody>
          <a:bodyPr/>
          <a:p/>
        </p:txBody>
      </p:sp>
      <p:sp>
        <p:nvSpPr>
          <p:cNvPr id="68" name="t68"/>
          <p:cNvSpPr txBox="1"/>
          <p:nvPr/>
        </p:nvSpPr>
        <p:spPr>
          <a:xfrm>
            <a:off x="6553047.5" y="3081528"/>
            <a:ext cx="1618488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Identification</a:t>
            </a:r>
          </a:p>
        </p:txBody>
      </p:sp>
      <p:sp>
        <p:nvSpPr>
          <p:cNvPr id="69" name="r69"/>
          <p:cNvSpPr/>
          <p:nvPr/>
        </p:nvSpPr>
        <p:spPr>
          <a:xfrm>
            <a:off x="8281263.5" y="3081528"/>
            <a:ext cx="1426464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5FF3EC">
                <a:alpha val="60000"/>
              </a:srgbClr>
            </a:solidFill>
          </a:ln>
        </p:spPr>
        <p:txBody>
          <a:bodyPr/>
          <a:p/>
        </p:txBody>
      </p:sp>
      <p:sp>
        <p:nvSpPr>
          <p:cNvPr id="70" name="t70"/>
          <p:cNvSpPr txBox="1"/>
          <p:nvPr/>
        </p:nvSpPr>
        <p:spPr>
          <a:xfrm>
            <a:off x="8281263.5" y="3081528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Preservation</a:t>
            </a:r>
          </a:p>
        </p:txBody>
      </p:sp>
      <p:sp>
        <p:nvSpPr>
          <p:cNvPr id="71" name="r71"/>
          <p:cNvSpPr/>
          <p:nvPr/>
        </p:nvSpPr>
        <p:spPr>
          <a:xfrm>
            <a:off x="9817455.5" y="30815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5FF3EC">
                <a:alpha val="60000"/>
              </a:srgbClr>
            </a:solidFill>
          </a:ln>
        </p:spPr>
        <p:txBody>
          <a:bodyPr/>
          <a:p/>
        </p:txBody>
      </p:sp>
      <p:sp>
        <p:nvSpPr>
          <p:cNvPr id="72" name="t72"/>
          <p:cNvSpPr txBox="1"/>
          <p:nvPr/>
        </p:nvSpPr>
        <p:spPr>
          <a:xfrm>
            <a:off x="9817455.5" y="3081528"/>
            <a:ext cx="123444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Collection</a:t>
            </a:r>
          </a:p>
        </p:txBody>
      </p:sp>
      <p:sp>
        <p:nvSpPr>
          <p:cNvPr id="73" name="r73"/>
          <p:cNvSpPr/>
          <p:nvPr/>
        </p:nvSpPr>
        <p:spPr>
          <a:xfrm>
            <a:off x="6553047.5" y="3502152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5FF3EC">
                <a:alpha val="60000"/>
              </a:srgbClr>
            </a:solidFill>
          </a:ln>
        </p:spPr>
        <p:txBody>
          <a:bodyPr/>
          <a:p/>
        </p:txBody>
      </p:sp>
      <p:sp>
        <p:nvSpPr>
          <p:cNvPr id="74" name="t74"/>
          <p:cNvSpPr txBox="1"/>
          <p:nvPr/>
        </p:nvSpPr>
        <p:spPr>
          <a:xfrm>
            <a:off x="6553047.5" y="3502152"/>
            <a:ext cx="1330452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Examination</a:t>
            </a:r>
          </a:p>
        </p:txBody>
      </p:sp>
      <p:sp>
        <p:nvSpPr>
          <p:cNvPr id="75" name="r75"/>
          <p:cNvSpPr/>
          <p:nvPr/>
        </p:nvSpPr>
        <p:spPr>
          <a:xfrm>
            <a:off x="7993227.5" y="3502152"/>
            <a:ext cx="1042415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5FF3EC">
                <a:alpha val="60000"/>
              </a:srgbClr>
            </a:solidFill>
          </a:ln>
        </p:spPr>
        <p:txBody>
          <a:bodyPr/>
          <a:p/>
        </p:txBody>
      </p:sp>
      <p:sp>
        <p:nvSpPr>
          <p:cNvPr id="76" name="t76"/>
          <p:cNvSpPr txBox="1"/>
          <p:nvPr/>
        </p:nvSpPr>
        <p:spPr>
          <a:xfrm>
            <a:off x="7993227.5" y="3502152"/>
            <a:ext cx="1042415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Analysis</a:t>
            </a:r>
          </a:p>
        </p:txBody>
      </p:sp>
      <p:sp>
        <p:nvSpPr>
          <p:cNvPr id="77" name="r77"/>
          <p:cNvSpPr/>
          <p:nvPr/>
        </p:nvSpPr>
        <p:spPr>
          <a:xfrm>
            <a:off x="9145370.5" y="3502152"/>
            <a:ext cx="1138428" cy="31089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1430" cap="rnd">
            <a:solidFill>
              <a:srgbClr val="5FF3EC">
                <a:alpha val="60000"/>
              </a:srgbClr>
            </a:solidFill>
          </a:ln>
        </p:spPr>
        <p:txBody>
          <a:bodyPr/>
          <a:p/>
        </p:txBody>
      </p:sp>
      <p:sp>
        <p:nvSpPr>
          <p:cNvPr id="78" name="t78"/>
          <p:cNvSpPr txBox="1"/>
          <p:nvPr/>
        </p:nvSpPr>
        <p:spPr>
          <a:xfrm>
            <a:off x="9145370.5" y="3502152"/>
            <a:ext cx="1138428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dirty="0">
                <a:solidFill>
                  <a:srgbClr val="E7F0FA"/>
                </a:solidFill>
                <a:latin typeface="Segoe UI"/>
                <a:cs typeface="Segoe UI"/>
              </a:rPr>
              <a:t>Reporting</a:t>
            </a:r>
          </a:p>
        </p:txBody>
      </p:sp>
      <p:sp>
        <p:nvSpPr>
          <p:cNvPr id="79" name="t79"/>
          <p:cNvSpPr txBox="1"/>
          <p:nvPr/>
        </p:nvSpPr>
        <p:spPr>
          <a:xfrm>
            <a:off x="6553047.5" y="4014216"/>
            <a:ext cx="4797399.5" cy="12801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Evidence is controlled partly by the Cloud Service Provider (CSP).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  <a:buFont typeface="Arial"/>
              <a:buChar char="•"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Investigator depends on the CSP for logs, snapshots &amp; audit trails.</a:t>
            </a:r>
          </a:p>
        </p:txBody>
      </p:sp>
      <p:sp>
        <p:nvSpPr>
          <p:cNvPr id="80" name="r80"/>
          <p:cNvSpPr/>
          <p:nvPr/>
        </p:nvSpPr>
        <p:spPr>
          <a:xfrm>
            <a:off x="6553047.5" y="5285232"/>
            <a:ext cx="4797399.5" cy="402336"/>
          </a:xfrm>
          <a:prstGeom prst="roundRect">
            <a:avLst>
              <a:gd name="adj" fmla="val 50000"/>
            </a:avLst>
          </a:prstGeom>
          <a:solidFill>
            <a:srgbClr val="12263F"/>
          </a:solidFill>
          <a:ln w="12700" cap="rnd">
            <a:solidFill>
              <a:srgbClr val="5FF3EC">
                <a:alpha val="70000"/>
              </a:srgbClr>
            </a:solidFill>
          </a:ln>
        </p:spPr>
        <p:txBody>
          <a:bodyPr/>
          <a:p/>
        </p:txBody>
      </p:sp>
      <p:sp>
        <p:nvSpPr>
          <p:cNvPr id="81" name="t81"/>
          <p:cNvSpPr txBox="1"/>
          <p:nvPr/>
        </p:nvSpPr>
        <p:spPr>
          <a:xfrm>
            <a:off x="6553047.5" y="5285232"/>
            <a:ext cx="4797399.5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50" b="1" dirty="0">
                <a:solidFill>
                  <a:srgbClr val="5FF3EC"/>
                </a:solidFill>
                <a:latin typeface="Segoe UI"/>
                <a:cs typeface="Segoe UI"/>
              </a:rPr>
              <a:t>Model:  </a:t>
            </a:r>
            <a:r>
              <a:rPr lang="en-US" sz="1150" b="1" dirty="0">
                <a:solidFill>
                  <a:srgbClr val="FFFFFF"/>
                </a:solidFill>
                <a:latin typeface="Segoe UI"/>
                <a:cs typeface="Segoe UI"/>
              </a:rPr>
              <a:t>NIST IR 8006</a:t>
            </a:r>
          </a:p>
        </p:txBody>
      </p:sp>
      <p:sp>
        <p:nvSpPr>
          <p:cNvPr id="82" name="o82"/>
          <p:cNvSpPr/>
          <p:nvPr/>
        </p:nvSpPr>
        <p:spPr>
          <a:xfrm>
            <a:off x="5784951.5" y="3461004.0"/>
            <a:ext cx="621792" cy="621792"/>
          </a:xfrm>
          <a:prstGeom prst="ellipse">
            <a:avLst/>
          </a:prstGeom>
          <a:gradFill rotWithShape="1">
            <a:gsLst>
              <a:gs pos="0">
                <a:srgbClr val="7C4DFF"/>
              </a:gs>
              <a:gs pos="100000">
                <a:srgbClr val="2A1560"/>
              </a:gs>
            </a:gsLst>
            <a:lin ang="5400000" scaled="1"/>
          </a:gradFill>
          <a:ln w="17780" cap="rnd">
            <a:solidFill>
              <a:srgbClr val="FFFFFF"/>
            </a:solidFill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83" name="t83"/>
          <p:cNvSpPr txBox="1"/>
          <p:nvPr/>
        </p:nvSpPr>
        <p:spPr>
          <a:xfrm>
            <a:off x="5784951.5" y="3461004.0"/>
            <a:ext cx="621792" cy="621792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/>
                <a:cs typeface="Segoe UI"/>
              </a:rPr>
              <a:t>VS</a:t>
            </a:r>
          </a:p>
        </p:txBody>
      </p:sp>
      <p:sp>
        <p:nvSpPr>
          <p:cNvPr id="84" name="t84"/>
          <p:cNvSpPr txBox="1"/>
          <p:nvPr/>
        </p:nvSpPr>
        <p:spPr>
          <a:xfrm>
            <a:off x="566928" y="6053328"/>
            <a:ext cx="109728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900" b="1" spc="100" dirty="0">
                <a:solidFill>
                  <a:srgbClr val="24E0D8"/>
                </a:solidFill>
                <a:latin typeface="Segoe UI"/>
                <a:cs typeface="Segoe UI"/>
              </a:rPr>
              <a:t>References  </a:t>
            </a:r>
            <a:r>
              <a:rPr lang="en-US" sz="900" spc="40" dirty="0">
                <a:solidFill>
                  <a:srgbClr val="9DB4CC"/>
                </a:solidFill>
                <a:latin typeface="Segoe UI"/>
                <a:cs typeface="Segoe UI"/>
              </a:rPr>
              <a:t>NIST SP 800-86  •  NIST IR 8006</a:t>
            </a:r>
          </a:p>
        </p:txBody>
      </p:sp>
    </p:spTree>
  </p:cSld>
  <p:transition spd="med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A2E"/>
              </a:gs>
              <a:gs pos="55000">
                <a:srgbClr val="0A1526"/>
              </a:gs>
              <a:gs pos="100000">
                <a:srgbClr val="081120"/>
              </a:gs>
            </a:gsLst>
            <a:lin ang="3000000" scaled="1"/>
          </a:gradFill>
          <a:ln>
            <a:noFill/>
          </a:ln>
        </p:spPr>
        <p:txBody>
          <a:bodyPr/>
          <a:p/>
        </p:txBody>
      </p:sp>
      <p:cxnSp>
        <p:nvCxnSpPr>
          <p:cNvPr id="3" name="l3"/>
          <p:cNvCxnSpPr/>
          <p:nvPr/>
        </p:nvCxnSpPr>
        <p:spPr>
          <a:xfrm>
            <a:off x="-914400" y="-91440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4" name="l4"/>
          <p:cNvCxnSpPr/>
          <p:nvPr/>
        </p:nvCxnSpPr>
        <p:spPr>
          <a:xfrm>
            <a:off x="-914400" y="-34747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5" name="l5"/>
          <p:cNvCxnSpPr/>
          <p:nvPr/>
        </p:nvCxnSpPr>
        <p:spPr>
          <a:xfrm>
            <a:off x="-914400" y="21945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6" name="l6"/>
          <p:cNvCxnSpPr/>
          <p:nvPr/>
        </p:nvCxnSpPr>
        <p:spPr>
          <a:xfrm>
            <a:off x="-914400" y="78638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7" name="l7"/>
          <p:cNvCxnSpPr/>
          <p:nvPr/>
        </p:nvCxnSpPr>
        <p:spPr>
          <a:xfrm>
            <a:off x="-914400" y="135331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8" name="l8"/>
          <p:cNvCxnSpPr/>
          <p:nvPr/>
        </p:nvCxnSpPr>
        <p:spPr>
          <a:xfrm>
            <a:off x="-914400" y="192024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9" name="l9"/>
          <p:cNvCxnSpPr/>
          <p:nvPr/>
        </p:nvCxnSpPr>
        <p:spPr>
          <a:xfrm>
            <a:off x="-914400" y="248716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0" name="l10"/>
          <p:cNvCxnSpPr/>
          <p:nvPr/>
        </p:nvCxnSpPr>
        <p:spPr>
          <a:xfrm>
            <a:off x="-914400" y="305409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1" name="l11"/>
          <p:cNvCxnSpPr/>
          <p:nvPr/>
        </p:nvCxnSpPr>
        <p:spPr>
          <a:xfrm>
            <a:off x="-914400" y="362102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2" name="l12"/>
          <p:cNvCxnSpPr/>
          <p:nvPr/>
        </p:nvCxnSpPr>
        <p:spPr>
          <a:xfrm>
            <a:off x="-914400" y="418795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3" name="l13"/>
          <p:cNvCxnSpPr/>
          <p:nvPr/>
        </p:nvCxnSpPr>
        <p:spPr>
          <a:xfrm>
            <a:off x="-914400" y="475488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4" name="l14"/>
          <p:cNvCxnSpPr/>
          <p:nvPr/>
        </p:nvCxnSpPr>
        <p:spPr>
          <a:xfrm>
            <a:off x="-914400" y="532180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5" name="l15"/>
          <p:cNvCxnSpPr/>
          <p:nvPr/>
        </p:nvCxnSpPr>
        <p:spPr>
          <a:xfrm>
            <a:off x="-914400" y="588873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6" name="l16"/>
          <p:cNvCxnSpPr/>
          <p:nvPr/>
        </p:nvCxnSpPr>
        <p:spPr>
          <a:xfrm>
            <a:off x="-914400" y="645566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7" name="l17"/>
          <p:cNvCxnSpPr/>
          <p:nvPr/>
        </p:nvCxnSpPr>
        <p:spPr>
          <a:xfrm>
            <a:off x="-914400" y="702259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8" name="l18"/>
          <p:cNvCxnSpPr/>
          <p:nvPr/>
        </p:nvCxnSpPr>
        <p:spPr>
          <a:xfrm>
            <a:off x="-914400" y="758952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sp>
        <p:nvSpPr>
          <p:cNvPr id="19" name="o19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2E9BFF">
              <a:alpha val="8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o20"/>
          <p:cNvSpPr/>
          <p:nvPr/>
        </p:nvSpPr>
        <p:spPr>
          <a:xfrm>
            <a:off x="-1463040" y="4023360"/>
            <a:ext cx="3840480" cy="3840480"/>
          </a:xfrm>
          <a:prstGeom prst="ellipse">
            <a:avLst/>
          </a:prstGeom>
          <a:solidFill>
            <a:srgbClr val="24E0D8">
              <a:alpha val="7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r2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22" name="r22"/>
          <p:cNvSpPr/>
          <p:nvPr/>
        </p:nvSpPr>
        <p:spPr>
          <a:xfrm>
            <a:off x="566928" y="402336"/>
            <a:ext cx="274320" cy="50292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23" name="t23"/>
          <p:cNvSpPr txBox="1"/>
          <p:nvPr/>
        </p:nvSpPr>
        <p:spPr>
          <a:xfrm>
            <a:off x="950976" y="301752"/>
            <a:ext cx="548640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b="1" spc="320" dirty="0">
                <a:solidFill>
                  <a:srgbClr val="24E0D8"/>
                </a:solidFill>
                <a:latin typeface="Segoe UI"/>
                <a:cs typeface="Segoe UI"/>
              </a:rPr>
              <a:t>WHAT WE COLLECT · HOW WE COLLECT IT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566928" y="658368"/>
            <a:ext cx="10424160" cy="8686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Poppins"/>
                <a:cs typeface="Poppins"/>
              </a:rPr>
              <a:t>Evidence &amp; Investigation Process</a:t>
            </a:r>
          </a:p>
        </p:txBody>
      </p:sp>
      <p:cxnSp>
        <p:nvCxnSpPr>
          <p:cNvPr id="25" name="l25"/>
          <p:cNvCxnSpPr/>
          <p:nvPr/>
        </p:nvCxnSpPr>
        <p:spPr>
          <a:xfrm>
            <a:off x="566928" y="1481328"/>
            <a:ext cx="11055096" cy="0"/>
          </a:xfrm>
          <a:prstGeom prst="line">
            <a:avLst/>
          </a:prstGeom>
          <a:ln w="13970" cap="rnd">
            <a:solidFill>
              <a:srgbClr val="24476E">
                <a:alpha val="70000"/>
              </a:srgbClr>
            </a:solidFill>
          </a:ln>
        </p:spPr>
      </p:cxnSp>
      <p:cxnSp>
        <p:nvCxnSpPr>
          <p:cNvPr id="26" name="l26"/>
          <p:cNvCxnSpPr/>
          <p:nvPr/>
        </p:nvCxnSpPr>
        <p:spPr>
          <a:xfrm>
            <a:off x="566928" y="6428232"/>
            <a:ext cx="11055096" cy="0"/>
          </a:xfrm>
          <a:prstGeom prst="line">
            <a:avLst/>
          </a:prstGeom>
          <a:ln w="12700" cap="rnd">
            <a:solidFill>
              <a:srgbClr val="1C3A5C">
                <a:alpha val="60000"/>
              </a:srgbClr>
            </a:solidFill>
          </a:ln>
        </p:spPr>
      </p:cxnSp>
      <p:sp>
        <p:nvSpPr>
          <p:cNvPr id="27" name="t27"/>
          <p:cNvSpPr txBox="1"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950" spc="150" dirty="0">
                <a:solidFill>
                  <a:srgbClr val="9DB4CC"/>
                </a:solidFill>
                <a:latin typeface="Segoe UI"/>
                <a:cs typeface="Segoe UI"/>
              </a:rPr>
              <a:t>Digital Forensics vs Cloud Forensics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9326880" y="6455664"/>
            <a:ext cx="22860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r">
              <a:buNone/>
            </a:pPr>
            <a:r>
              <a:rPr lang="en-US" sz="1000" b="1" dirty="0">
                <a:solidFill>
                  <a:srgbClr val="24E0D8"/>
                </a:solidFill>
                <a:latin typeface="Segoe UI"/>
                <a:cs typeface="Segoe UI"/>
              </a:rPr>
              <a:t>04</a:t>
            </a:r>
            <a:r>
              <a:rPr lang="en-US" sz="1000" dirty="0">
                <a:solidFill>
                  <a:srgbClr val="9DB4CC"/>
                </a:solidFill>
                <a:latin typeface="Segoe UI"/>
                <a:cs typeface="Segoe UI"/>
              </a:rPr>
              <a:t> / 08</a:t>
            </a:r>
          </a:p>
        </p:txBody>
      </p:sp>
      <p:graphicFrame>
        <p:nvGraphicFramePr>
          <p:cNvPr id="29" name="tbl29"/>
          <p:cNvGraphicFramePr/>
          <p:nvPr/>
        </p:nvGraphicFramePr>
        <p:xfrm>
          <a:off x="566928" y="1664208"/>
          <a:ext cx="11055096" cy="2157984"/>
        </p:xfrm>
        <a:graphic>
          <a:graphicData uri="http://schemas.openxmlformats.org/drawingml/2006/table">
            <a:tbl>
              <a:tblPr firstRow="1" bandRow="1"/>
              <a:tblGrid>
                <a:gridCol w="2331720"/>
                <a:gridCol w="4416552"/>
                <a:gridCol w="4306824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gradFill rotWithShape="1">
                      <a:gsLst>
                        <a:gs pos="0">
                          <a:srgbClr val="163B63"/>
                        </a:gs>
                        <a:gs pos="100000">
                          <a:srgbClr val="102A46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Segoe UI"/>
                        </a:rPr>
                        <a:t>Desktop Incident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gradFill rotWithShape="1">
                      <a:gsLst>
                        <a:gs pos="0">
                          <a:srgbClr val="163B63"/>
                        </a:gs>
                        <a:gs pos="100000">
                          <a:srgbClr val="102A46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Segoe UI"/>
                        </a:rPr>
                        <a:t>Cloud Incident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gradFill rotWithShape="1">
                      <a:gsLst>
                        <a:gs pos="0">
                          <a:srgbClr val="163B63"/>
                        </a:gs>
                        <a:gs pos="100000">
                          <a:srgbClr val="102A46"/>
                        </a:gs>
                      </a:gsLst>
                      <a:lin ang="5400000" scaled="1"/>
                    </a:gra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280" b="1" dirty="0">
                          <a:solidFill>
                            <a:srgbClr val="5FF3EC"/>
                          </a:solidFill>
                          <a:latin typeface="Segoe UI"/>
                        </a:rPr>
                        <a:t>Evidence</a:t>
                      </a:r>
                    </a:p>
                    <a:p>
                      <a:pPr algn="ctr"/>
                      <a:r>
                        <a:rPr lang="en-US" sz="1280" b="1" dirty="0">
                          <a:solidFill>
                            <a:srgbClr val="5FF3EC"/>
                          </a:solidFill>
                          <a:latin typeface="Segoe UI"/>
                        </a:rPr>
                        <a:t>Sources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gradFill rotWithShape="1">
                      <a:gsLst>
                        <a:gs pos="0">
                          <a:srgbClr val="15355A"/>
                        </a:gs>
                        <a:gs pos="100000">
                          <a:srgbClr val="0E213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80" dirty="0">
                          <a:solidFill>
                            <a:srgbClr val="E7F0FA"/>
                          </a:solidFill>
                          <a:latin typeface="Segoe UI"/>
                        </a:rPr>
                        <a:t>Disk image, RAM, registry, event logs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solidFill>
                      <a:srgbClr val="0E1F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80" dirty="0">
                          <a:solidFill>
                            <a:srgbClr val="E7F0FA"/>
                          </a:solidFill>
                          <a:latin typeface="Segoe UI"/>
                        </a:rPr>
                        <a:t>API / audit logs, VM snapshots, storage logs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solidFill>
                      <a:srgbClr val="0E1F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280" b="1" dirty="0">
                          <a:solidFill>
                            <a:srgbClr val="5FF3EC"/>
                          </a:solidFill>
                          <a:latin typeface="Segoe UI"/>
                        </a:rPr>
                        <a:t>Acquisition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gradFill rotWithShape="1">
                      <a:gsLst>
                        <a:gs pos="0">
                          <a:srgbClr val="15355A"/>
                        </a:gs>
                        <a:gs pos="100000">
                          <a:srgbClr val="0E213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80" dirty="0">
                          <a:solidFill>
                            <a:srgbClr val="E7F0FA"/>
                          </a:solidFill>
                          <a:latin typeface="Segoe UI"/>
                        </a:rPr>
                        <a:t>Direct — write-blocker + forensic imaging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solidFill>
                      <a:srgbClr val="0B172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80" dirty="0">
                          <a:solidFill>
                            <a:srgbClr val="E7F0FA"/>
                          </a:solidFill>
                          <a:latin typeface="Segoe UI"/>
                        </a:rPr>
                        <a:t>Indirect — CSP-assisted export / snapshot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solidFill>
                      <a:srgbClr val="0B17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280" b="1" dirty="0">
                          <a:solidFill>
                            <a:srgbClr val="5FF3EC"/>
                          </a:solidFill>
                          <a:latin typeface="Segoe UI"/>
                        </a:rPr>
                        <a:t>Chain of</a:t>
                      </a:r>
                    </a:p>
                    <a:p>
                      <a:pPr algn="ctr"/>
                      <a:r>
                        <a:rPr lang="en-US" sz="1280" b="1" dirty="0">
                          <a:solidFill>
                            <a:srgbClr val="5FF3EC"/>
                          </a:solidFill>
                          <a:latin typeface="Segoe UI"/>
                        </a:rPr>
                        <a:t>Custody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gradFill rotWithShape="1">
                      <a:gsLst>
                        <a:gs pos="0">
                          <a:srgbClr val="15355A"/>
                        </a:gs>
                        <a:gs pos="100000">
                          <a:srgbClr val="0E2138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80" dirty="0">
                          <a:solidFill>
                            <a:srgbClr val="E7F0FA"/>
                          </a:solidFill>
                          <a:latin typeface="Segoe UI"/>
                        </a:rPr>
                        <a:t>Investigator has full custody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solidFill>
                      <a:srgbClr val="0E1F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80" dirty="0">
                          <a:solidFill>
                            <a:srgbClr val="E7F0FA"/>
                          </a:solidFill>
                          <a:latin typeface="Segoe UI"/>
                        </a:rPr>
                        <a:t>Co-established together with the CSP</a:t>
                      </a:r>
                    </a:p>
                  </a:txBody>
                  <a:tcPr marL="82296" marR="82296" marT="57607" marB="57607" anchor="ctr">
                    <a:lnL w="9525">
                      <a:solidFill>
                        <a:srgbClr val="1B3A5B"/>
                      </a:solidFill>
                    </a:lnL>
                    <a:lnR w="9525">
                      <a:solidFill>
                        <a:srgbClr val="1B3A5B"/>
                      </a:solidFill>
                    </a:lnR>
                    <a:lnT w="9525">
                      <a:solidFill>
                        <a:srgbClr val="1B3A5B"/>
                      </a:solidFill>
                    </a:lnT>
                    <a:lnB w="9525">
                      <a:solidFill>
                        <a:srgbClr val="1B3A5B"/>
                      </a:solidFill>
                    </a:lnB>
                    <a:solidFill>
                      <a:srgbClr val="0E1F33"/>
                    </a:solidFill>
                  </a:tcPr>
                </a:tc>
              </a:tr>
            </a:tbl>
          </a:graphicData>
        </a:graphic>
      </p:graphicFrame>
      <p:sp>
        <p:nvSpPr>
          <p:cNvPr id="30" name="o30"/>
          <p:cNvSpPr/>
          <p:nvPr/>
        </p:nvSpPr>
        <p:spPr>
          <a:xfrm>
            <a:off x="3154680" y="1801368"/>
            <a:ext cx="182880" cy="182880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31" name="o31"/>
          <p:cNvSpPr/>
          <p:nvPr/>
        </p:nvSpPr>
        <p:spPr>
          <a:xfrm>
            <a:off x="7571232" y="1801368"/>
            <a:ext cx="182880" cy="182880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E7C86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32" name="t32"/>
          <p:cNvSpPr txBox="1"/>
          <p:nvPr/>
        </p:nvSpPr>
        <p:spPr>
          <a:xfrm>
            <a:off x="566928" y="4160520"/>
            <a:ext cx="11057839" cy="29260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200" b="1" spc="250" dirty="0">
                <a:solidFill>
                  <a:srgbClr val="24E0D8"/>
                </a:solidFill>
                <a:latin typeface="Segoe UI"/>
                <a:cs typeface="Segoe UI"/>
              </a:rPr>
              <a:t>THE SIX INVESTIGATION PHASES</a:t>
            </a:r>
          </a:p>
        </p:txBody>
      </p:sp>
      <p:sp>
        <p:nvSpPr>
          <p:cNvPr id="33" name="r33"/>
          <p:cNvSpPr/>
          <p:nvPr/>
        </p:nvSpPr>
        <p:spPr>
          <a:xfrm>
            <a:off x="566928.0" y="4617720"/>
            <a:ext cx="1721053.1666666667" cy="960120"/>
          </a:xfrm>
          <a:prstGeom prst="roundRect">
            <a:avLst>
              <a:gd name="adj" fmla="val 8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34" name="o34"/>
          <p:cNvSpPr/>
          <p:nvPr/>
        </p:nvSpPr>
        <p:spPr>
          <a:xfrm>
            <a:off x="1125702.5833333335" y="4626864"/>
            <a:ext cx="603504" cy="603504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35" name="o35"/>
          <p:cNvSpPr/>
          <p:nvPr/>
        </p:nvSpPr>
        <p:spPr>
          <a:xfrm>
            <a:off x="1171422.5833333335" y="4672584"/>
            <a:ext cx="512064" cy="512064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36" name="o36"/>
          <p:cNvSpPr/>
          <p:nvPr/>
        </p:nvSpPr>
        <p:spPr>
          <a:xfrm>
            <a:off x="1329957.5833333335" y="4831119"/>
            <a:ext cx="126172" cy="126172"/>
          </a:xfrm>
          <a:prstGeom prst="ellipse">
            <a:avLst/>
          </a:prstGeom>
          <a:noFill/>
          <a:ln w="40640" cap="rnd">
            <a:solidFill>
              <a:srgbClr val="FFFFFF"/>
            </a:solidFill>
          </a:ln>
        </p:spPr>
        <p:txBody>
          <a:bodyPr/>
          <a:p/>
        </p:txBody>
      </p:sp>
      <p:cxnSp>
        <p:nvCxnSpPr>
          <p:cNvPr id="37" name="l37"/>
          <p:cNvCxnSpPr/>
          <p:nvPr/>
        </p:nvCxnSpPr>
        <p:spPr>
          <a:xfrm>
            <a:off x="1444659.5833333335" y="4945821"/>
            <a:ext cx="80292.0" cy="80292"/>
          </a:xfrm>
          <a:prstGeom prst="line">
            <a:avLst/>
          </a:prstGeom>
          <a:ln w="43180" cap="rnd">
            <a:solidFill>
              <a:srgbClr val="FFFFFF"/>
            </a:solidFill>
          </a:ln>
        </p:spPr>
      </p:cxnSp>
      <p:sp>
        <p:nvSpPr>
          <p:cNvPr id="38" name="t38"/>
          <p:cNvSpPr txBox="1"/>
          <p:nvPr/>
        </p:nvSpPr>
        <p:spPr>
          <a:xfrm>
            <a:off x="566928.0" y="5221224"/>
            <a:ext cx="1721053.1666666667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/>
                <a:cs typeface="Segoe UI"/>
              </a:rPr>
              <a:t>Identification</a:t>
            </a:r>
          </a:p>
        </p:txBody>
      </p:sp>
      <p:sp>
        <p:nvSpPr>
          <p:cNvPr id="39" name="o39"/>
          <p:cNvSpPr/>
          <p:nvPr/>
        </p:nvSpPr>
        <p:spPr>
          <a:xfrm>
            <a:off x="640080.0" y="4690872"/>
            <a:ext cx="237744" cy="237744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40" name="t40"/>
          <p:cNvSpPr txBox="1"/>
          <p:nvPr/>
        </p:nvSpPr>
        <p:spPr>
          <a:xfrm>
            <a:off x="640080.0" y="4690872"/>
            <a:ext cx="237744" cy="23774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cxnSp>
        <p:nvCxnSpPr>
          <p:cNvPr id="41" name="l41"/>
          <p:cNvCxnSpPr/>
          <p:nvPr/>
        </p:nvCxnSpPr>
        <p:spPr>
          <a:xfrm>
            <a:off x="2306269.166666667" y="5097780.0"/>
            <a:ext cx="109728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42" name="r42"/>
          <p:cNvSpPr/>
          <p:nvPr/>
        </p:nvSpPr>
        <p:spPr>
          <a:xfrm>
            <a:off x="2434285.166666667" y="4617720"/>
            <a:ext cx="1721053.1666666667" cy="960120"/>
          </a:xfrm>
          <a:prstGeom prst="roundRect">
            <a:avLst>
              <a:gd name="adj" fmla="val 8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43" name="o43"/>
          <p:cNvSpPr/>
          <p:nvPr/>
        </p:nvSpPr>
        <p:spPr>
          <a:xfrm>
            <a:off x="2993059.7500000005" y="4626864"/>
            <a:ext cx="603504" cy="603504"/>
          </a:xfrm>
          <a:prstGeom prst="ellipse">
            <a:avLst/>
          </a:prstGeom>
          <a:noFill/>
          <a:ln w="17780" cap="rnd">
            <a:solidFill>
              <a:srgbClr val="1AA9B0">
                <a:alpha val="55000"/>
              </a:srgbClr>
            </a:solidFill>
          </a:ln>
        </p:spPr>
        <p:txBody>
          <a:bodyPr/>
          <a:p/>
        </p:txBody>
      </p:sp>
      <p:sp>
        <p:nvSpPr>
          <p:cNvPr id="44" name="o44"/>
          <p:cNvSpPr/>
          <p:nvPr/>
        </p:nvSpPr>
        <p:spPr>
          <a:xfrm>
            <a:off x="3038779.7500000005" y="4672584"/>
            <a:ext cx="512064" cy="512064"/>
          </a:xfrm>
          <a:prstGeom prst="ellipse">
            <a:avLst/>
          </a:prstGeom>
          <a:gradFill rotWithShape="1">
            <a:gsLst>
              <a:gs pos="0">
                <a:srgbClr val="1AA9B0"/>
              </a:gs>
              <a:gs pos="100000">
                <a:srgbClr val="0E5E63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45" name="ff45"/>
          <p:cNvSpPr/>
          <p:nvPr/>
        </p:nvSpPr>
        <p:spPr>
          <a:xfrm>
            <a:off x="3151434.7500000005" y="4785239"/>
            <a:ext cx="286755" cy="28675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000" y="46000"/>
                </a:moveTo>
                <a:lnTo>
                  <a:pt x="74000" y="46000"/>
                </a:lnTo>
                <a:lnTo>
                  <a:pt x="74000" y="84000"/>
                </a:lnTo>
                <a:lnTo>
                  <a:pt x="26000" y="8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6" name="ff46"/>
          <p:cNvSpPr/>
          <p:nvPr/>
        </p:nvSpPr>
        <p:spPr>
          <a:xfrm>
            <a:off x="3151434.7500000005" y="4785239"/>
            <a:ext cx="286755" cy="28675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6000" y="46000"/>
                </a:moveTo>
                <a:lnTo>
                  <a:pt x="36000" y="36000"/>
                </a:lnTo>
                <a:cubicBezTo>
                  <a:pt x="36" y="18"/>
                  <a:pt x="64" y="18"/>
                  <a:pt x="64" y="36"/>
                </a:cubicBezTo>
                <a:lnTo>
                  <a:pt x="64000" y="46000"/>
                </a:lnTo>
                <a:lnTo>
                  <a:pt x="56000" y="46000"/>
                </a:lnTo>
                <a:lnTo>
                  <a:pt x="56000" y="36000"/>
                </a:lnTo>
                <a:cubicBezTo>
                  <a:pt x="56" y="28"/>
                  <a:pt x="44" y="28"/>
                  <a:pt x="44" y="36"/>
                </a:cubicBezTo>
                <a:lnTo>
                  <a:pt x="44000" y="46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7" name="o47"/>
          <p:cNvSpPr/>
          <p:nvPr/>
        </p:nvSpPr>
        <p:spPr>
          <a:xfrm>
            <a:off x="3277606.7500000005" y="4951556"/>
            <a:ext cx="34410" cy="34410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48" name="t48"/>
          <p:cNvSpPr txBox="1"/>
          <p:nvPr/>
        </p:nvSpPr>
        <p:spPr>
          <a:xfrm>
            <a:off x="2434285.166666667" y="5221224"/>
            <a:ext cx="1721053.1666666667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/>
                <a:cs typeface="Segoe UI"/>
              </a:rPr>
              <a:t>Preservation</a:t>
            </a:r>
          </a:p>
        </p:txBody>
      </p:sp>
      <p:sp>
        <p:nvSpPr>
          <p:cNvPr id="49" name="o49"/>
          <p:cNvSpPr/>
          <p:nvPr/>
        </p:nvSpPr>
        <p:spPr>
          <a:xfrm>
            <a:off x="2507437.166666667" y="4690872"/>
            <a:ext cx="237744" cy="237744"/>
          </a:xfrm>
          <a:prstGeom prst="ellipse">
            <a:avLst/>
          </a:prstGeom>
          <a:solidFill>
            <a:srgbClr val="1AA9B0"/>
          </a:solidFill>
          <a:ln>
            <a:noFill/>
          </a:ln>
        </p:spPr>
        <p:txBody>
          <a:bodyPr/>
          <a:p/>
        </p:txBody>
      </p:sp>
      <p:sp>
        <p:nvSpPr>
          <p:cNvPr id="50" name="t50"/>
          <p:cNvSpPr txBox="1"/>
          <p:nvPr/>
        </p:nvSpPr>
        <p:spPr>
          <a:xfrm>
            <a:off x="2507437.166666667" y="4690872"/>
            <a:ext cx="237744" cy="23774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cxnSp>
        <p:nvCxnSpPr>
          <p:cNvPr id="51" name="l51"/>
          <p:cNvCxnSpPr/>
          <p:nvPr/>
        </p:nvCxnSpPr>
        <p:spPr>
          <a:xfrm>
            <a:off x="4173626.333333334" y="5097780.0"/>
            <a:ext cx="109728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52" name="r52"/>
          <p:cNvSpPr/>
          <p:nvPr/>
        </p:nvSpPr>
        <p:spPr>
          <a:xfrm>
            <a:off x="4301642.333333334" y="4617720"/>
            <a:ext cx="1721053.1666666667" cy="960120"/>
          </a:xfrm>
          <a:prstGeom prst="roundRect">
            <a:avLst>
              <a:gd name="adj" fmla="val 8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3" name="o53"/>
          <p:cNvSpPr/>
          <p:nvPr/>
        </p:nvSpPr>
        <p:spPr>
          <a:xfrm>
            <a:off x="4860416.916666667" y="4626864"/>
            <a:ext cx="603504" cy="603504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54" name="o54"/>
          <p:cNvSpPr/>
          <p:nvPr/>
        </p:nvSpPr>
        <p:spPr>
          <a:xfrm>
            <a:off x="4906136.916666667" y="4672584"/>
            <a:ext cx="512064" cy="512064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55" name="ff55"/>
          <p:cNvSpPr/>
          <p:nvPr/>
        </p:nvSpPr>
        <p:spPr>
          <a:xfrm>
            <a:off x="5018791.916666667" y="4785239"/>
            <a:ext cx="286755" cy="28675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000" y="30000"/>
                </a:moveTo>
                <a:lnTo>
                  <a:pt x="30000" y="30000"/>
                </a:lnTo>
                <a:lnTo>
                  <a:pt x="38000" y="22000"/>
                </a:lnTo>
                <a:lnTo>
                  <a:pt x="62000" y="22000"/>
                </a:lnTo>
                <a:lnTo>
                  <a:pt x="70000" y="30000"/>
                </a:lnTo>
                <a:lnTo>
                  <a:pt x="86000" y="30000"/>
                </a:lnTo>
                <a:lnTo>
                  <a:pt x="86000" y="80000"/>
                </a:lnTo>
                <a:lnTo>
                  <a:pt x="14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56" name="o56"/>
          <p:cNvSpPr/>
          <p:nvPr/>
        </p:nvSpPr>
        <p:spPr>
          <a:xfrm>
            <a:off x="5110552.916666667" y="4888470"/>
            <a:ext cx="103231" cy="103231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57" name="o57"/>
          <p:cNvSpPr/>
          <p:nvPr/>
        </p:nvSpPr>
        <p:spPr>
          <a:xfrm>
            <a:off x="5127757.916666667" y="4905676"/>
            <a:ext cx="68821" cy="6882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58" name="t58"/>
          <p:cNvSpPr txBox="1"/>
          <p:nvPr/>
        </p:nvSpPr>
        <p:spPr>
          <a:xfrm>
            <a:off x="4301642.333333334" y="5221224"/>
            <a:ext cx="1721053.1666666667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/>
                <a:cs typeface="Segoe UI"/>
              </a:rPr>
              <a:t>Acquisition</a:t>
            </a:r>
          </a:p>
        </p:txBody>
      </p:sp>
      <p:sp>
        <p:nvSpPr>
          <p:cNvPr id="59" name="o59"/>
          <p:cNvSpPr/>
          <p:nvPr/>
        </p:nvSpPr>
        <p:spPr>
          <a:xfrm>
            <a:off x="4374794.333333334" y="4690872"/>
            <a:ext cx="237744" cy="237744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60" name="t60"/>
          <p:cNvSpPr txBox="1"/>
          <p:nvPr/>
        </p:nvSpPr>
        <p:spPr>
          <a:xfrm>
            <a:off x="4374794.333333334" y="4690872"/>
            <a:ext cx="237744" cy="23774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cxnSp>
        <p:nvCxnSpPr>
          <p:cNvPr id="61" name="l61"/>
          <p:cNvCxnSpPr/>
          <p:nvPr/>
        </p:nvCxnSpPr>
        <p:spPr>
          <a:xfrm>
            <a:off x="6040983.500000001" y="5097780.0"/>
            <a:ext cx="109728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62" name="r62"/>
          <p:cNvSpPr/>
          <p:nvPr/>
        </p:nvSpPr>
        <p:spPr>
          <a:xfrm>
            <a:off x="6168999.5" y="4617720"/>
            <a:ext cx="1721053.1666666667" cy="960120"/>
          </a:xfrm>
          <a:prstGeom prst="roundRect">
            <a:avLst>
              <a:gd name="adj" fmla="val 8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63" name="o63"/>
          <p:cNvSpPr/>
          <p:nvPr/>
        </p:nvSpPr>
        <p:spPr>
          <a:xfrm>
            <a:off x="6727774.083333333" y="4626864"/>
            <a:ext cx="603504" cy="603504"/>
          </a:xfrm>
          <a:prstGeom prst="ellipse">
            <a:avLst/>
          </a:prstGeom>
          <a:noFill/>
          <a:ln w="17780" cap="rnd">
            <a:solidFill>
              <a:srgbClr val="1AA9B0">
                <a:alpha val="55000"/>
              </a:srgbClr>
            </a:solidFill>
          </a:ln>
        </p:spPr>
        <p:txBody>
          <a:bodyPr/>
          <a:p/>
        </p:txBody>
      </p:sp>
      <p:sp>
        <p:nvSpPr>
          <p:cNvPr id="64" name="o64"/>
          <p:cNvSpPr/>
          <p:nvPr/>
        </p:nvSpPr>
        <p:spPr>
          <a:xfrm>
            <a:off x="6773494.083333333" y="4672584"/>
            <a:ext cx="512064" cy="512064"/>
          </a:xfrm>
          <a:prstGeom prst="ellipse">
            <a:avLst/>
          </a:prstGeom>
          <a:gradFill rotWithShape="1">
            <a:gsLst>
              <a:gs pos="0">
                <a:srgbClr val="1AA9B0"/>
              </a:gs>
              <a:gs pos="100000">
                <a:srgbClr val="0E5E63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65" name="ff65"/>
          <p:cNvSpPr/>
          <p:nvPr/>
        </p:nvSpPr>
        <p:spPr>
          <a:xfrm>
            <a:off x="6886149.083333333" y="4785239"/>
            <a:ext cx="286755" cy="28675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2000" y="14000"/>
                </a:moveTo>
                <a:lnTo>
                  <a:pt x="60000" y="14000"/>
                </a:lnTo>
                <a:lnTo>
                  <a:pt x="78000" y="32000"/>
                </a:lnTo>
                <a:lnTo>
                  <a:pt x="78000" y="86000"/>
                </a:lnTo>
                <a:lnTo>
                  <a:pt x="22000" y="86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66" name="o66"/>
          <p:cNvSpPr/>
          <p:nvPr/>
        </p:nvSpPr>
        <p:spPr>
          <a:xfrm>
            <a:off x="7000851.083333333" y="4899941"/>
            <a:ext cx="86026" cy="86026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67" name="o67"/>
          <p:cNvSpPr/>
          <p:nvPr/>
        </p:nvSpPr>
        <p:spPr>
          <a:xfrm>
            <a:off x="7018056.083333333" y="4917146"/>
            <a:ext cx="51615" cy="5161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68" name="t68"/>
          <p:cNvSpPr txBox="1"/>
          <p:nvPr/>
        </p:nvSpPr>
        <p:spPr>
          <a:xfrm>
            <a:off x="6168999.5" y="5221224"/>
            <a:ext cx="1721053.1666666667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/>
                <a:cs typeface="Segoe UI"/>
              </a:rPr>
              <a:t>Examination</a:t>
            </a:r>
          </a:p>
        </p:txBody>
      </p:sp>
      <p:sp>
        <p:nvSpPr>
          <p:cNvPr id="69" name="o69"/>
          <p:cNvSpPr/>
          <p:nvPr/>
        </p:nvSpPr>
        <p:spPr>
          <a:xfrm>
            <a:off x="6242151.5" y="4690872"/>
            <a:ext cx="237744" cy="237744"/>
          </a:xfrm>
          <a:prstGeom prst="ellipse">
            <a:avLst/>
          </a:prstGeom>
          <a:solidFill>
            <a:srgbClr val="1AA9B0"/>
          </a:solidFill>
          <a:ln>
            <a:noFill/>
          </a:ln>
        </p:spPr>
        <p:txBody>
          <a:bodyPr/>
          <a:p/>
        </p:txBody>
      </p:sp>
      <p:sp>
        <p:nvSpPr>
          <p:cNvPr id="70" name="t70"/>
          <p:cNvSpPr txBox="1"/>
          <p:nvPr/>
        </p:nvSpPr>
        <p:spPr>
          <a:xfrm>
            <a:off x="6242151.5" y="4690872"/>
            <a:ext cx="237744" cy="23774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cxnSp>
        <p:nvCxnSpPr>
          <p:cNvPr id="71" name="l71"/>
          <p:cNvCxnSpPr/>
          <p:nvPr/>
        </p:nvCxnSpPr>
        <p:spPr>
          <a:xfrm>
            <a:off x="7908340.666666667" y="5097780.0"/>
            <a:ext cx="109728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72" name="r72"/>
          <p:cNvSpPr/>
          <p:nvPr/>
        </p:nvSpPr>
        <p:spPr>
          <a:xfrm>
            <a:off x="8036356.666666667" y="4617720"/>
            <a:ext cx="1721053.1666666667" cy="960120"/>
          </a:xfrm>
          <a:prstGeom prst="roundRect">
            <a:avLst>
              <a:gd name="adj" fmla="val 8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73" name="o73"/>
          <p:cNvSpPr/>
          <p:nvPr/>
        </p:nvSpPr>
        <p:spPr>
          <a:xfrm>
            <a:off x="8595131.25" y="4626864"/>
            <a:ext cx="603504" cy="603504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74" name="o74"/>
          <p:cNvSpPr/>
          <p:nvPr/>
        </p:nvSpPr>
        <p:spPr>
          <a:xfrm>
            <a:off x="8640851.25" y="4672584"/>
            <a:ext cx="512064" cy="512064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75" name="o75"/>
          <p:cNvSpPr/>
          <p:nvPr/>
        </p:nvSpPr>
        <p:spPr>
          <a:xfrm>
            <a:off x="8776446.25" y="4808179"/>
            <a:ext cx="240874" cy="240874"/>
          </a:xfrm>
          <a:prstGeom prst="ellipse">
            <a:avLst/>
          </a:prstGeom>
          <a:noFill/>
          <a:ln w="3302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76" name="o76"/>
          <p:cNvSpPr/>
          <p:nvPr/>
        </p:nvSpPr>
        <p:spPr>
          <a:xfrm>
            <a:off x="8807989.25" y="4839722"/>
            <a:ext cx="177788" cy="177788"/>
          </a:xfrm>
          <a:prstGeom prst="ellipse">
            <a:avLst/>
          </a:prstGeom>
          <a:noFill/>
          <a:ln w="3302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77" name="o77"/>
          <p:cNvSpPr/>
          <p:nvPr/>
        </p:nvSpPr>
        <p:spPr>
          <a:xfrm>
            <a:off x="8839532.25" y="4871265"/>
            <a:ext cx="114702" cy="114702"/>
          </a:xfrm>
          <a:prstGeom prst="ellipse">
            <a:avLst/>
          </a:prstGeom>
          <a:noFill/>
          <a:ln w="3302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78" name="o78"/>
          <p:cNvSpPr/>
          <p:nvPr/>
        </p:nvSpPr>
        <p:spPr>
          <a:xfrm>
            <a:off x="8879678.25" y="4911411"/>
            <a:ext cx="34410" cy="3441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9" name="t79"/>
          <p:cNvSpPr txBox="1"/>
          <p:nvPr/>
        </p:nvSpPr>
        <p:spPr>
          <a:xfrm>
            <a:off x="8036356.666666667" y="5221224"/>
            <a:ext cx="1721053.1666666667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/>
                <a:cs typeface="Segoe UI"/>
              </a:rPr>
              <a:t>Analysis</a:t>
            </a:r>
          </a:p>
        </p:txBody>
      </p:sp>
      <p:sp>
        <p:nvSpPr>
          <p:cNvPr id="80" name="o80"/>
          <p:cNvSpPr/>
          <p:nvPr/>
        </p:nvSpPr>
        <p:spPr>
          <a:xfrm>
            <a:off x="8109508.666666667" y="4690872"/>
            <a:ext cx="237744" cy="237744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81" name="t81"/>
          <p:cNvSpPr txBox="1"/>
          <p:nvPr/>
        </p:nvSpPr>
        <p:spPr>
          <a:xfrm>
            <a:off x="8109508.666666667" y="4690872"/>
            <a:ext cx="237744" cy="23774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cxnSp>
        <p:nvCxnSpPr>
          <p:cNvPr id="82" name="l82"/>
          <p:cNvCxnSpPr/>
          <p:nvPr/>
        </p:nvCxnSpPr>
        <p:spPr>
          <a:xfrm>
            <a:off x="9775697.833333334" y="5097780.0"/>
            <a:ext cx="109728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83" name="r83"/>
          <p:cNvSpPr/>
          <p:nvPr/>
        </p:nvSpPr>
        <p:spPr>
          <a:xfrm>
            <a:off x="9903713.833333334" y="4617720"/>
            <a:ext cx="1721053.1666666667" cy="960120"/>
          </a:xfrm>
          <a:prstGeom prst="roundRect">
            <a:avLst>
              <a:gd name="adj" fmla="val 8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84" name="o84"/>
          <p:cNvSpPr/>
          <p:nvPr/>
        </p:nvSpPr>
        <p:spPr>
          <a:xfrm>
            <a:off x="10462488.416666668" y="4626864"/>
            <a:ext cx="603504" cy="603504"/>
          </a:xfrm>
          <a:prstGeom prst="ellipse">
            <a:avLst/>
          </a:prstGeom>
          <a:noFill/>
          <a:ln w="17780" cap="rnd">
            <a:solidFill>
              <a:srgbClr val="1AA9B0">
                <a:alpha val="55000"/>
              </a:srgbClr>
            </a:solidFill>
          </a:ln>
        </p:spPr>
        <p:txBody>
          <a:bodyPr/>
          <a:p/>
        </p:txBody>
      </p:sp>
      <p:sp>
        <p:nvSpPr>
          <p:cNvPr id="85" name="o85"/>
          <p:cNvSpPr/>
          <p:nvPr/>
        </p:nvSpPr>
        <p:spPr>
          <a:xfrm>
            <a:off x="10508208.416666668" y="4672584"/>
            <a:ext cx="512064" cy="512064"/>
          </a:xfrm>
          <a:prstGeom prst="ellipse">
            <a:avLst/>
          </a:prstGeom>
          <a:gradFill rotWithShape="1">
            <a:gsLst>
              <a:gs pos="0">
                <a:srgbClr val="1AA9B0"/>
              </a:gs>
              <a:gs pos="100000">
                <a:srgbClr val="0E5E63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86" name="ff86"/>
          <p:cNvSpPr/>
          <p:nvPr/>
        </p:nvSpPr>
        <p:spPr>
          <a:xfrm>
            <a:off x="10620863.416666668" y="4785239"/>
            <a:ext cx="286755" cy="28675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12000"/>
                </a:moveTo>
                <a:lnTo>
                  <a:pt x="62000" y="12000"/>
                </a:lnTo>
                <a:lnTo>
                  <a:pt x="78000" y="28000"/>
                </a:lnTo>
                <a:lnTo>
                  <a:pt x="78000" y="88000"/>
                </a:lnTo>
                <a:lnTo>
                  <a:pt x="24000" y="8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87" name="ff87"/>
          <p:cNvSpPr/>
          <p:nvPr/>
        </p:nvSpPr>
        <p:spPr>
          <a:xfrm>
            <a:off x="10620863.416666668" y="4785239"/>
            <a:ext cx="286755" cy="28675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4000" y="62000"/>
                </a:moveTo>
                <a:lnTo>
                  <a:pt x="42000" y="62000"/>
                </a:lnTo>
                <a:lnTo>
                  <a:pt x="42000" y="74000"/>
                </a:lnTo>
                <a:lnTo>
                  <a:pt x="34000" y="74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88" name="ff88"/>
          <p:cNvSpPr/>
          <p:nvPr/>
        </p:nvSpPr>
        <p:spPr>
          <a:xfrm>
            <a:off x="10620863.416666668" y="4785239"/>
            <a:ext cx="286755" cy="28675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8000" y="52000"/>
                </a:moveTo>
                <a:lnTo>
                  <a:pt x="56000" y="52000"/>
                </a:lnTo>
                <a:lnTo>
                  <a:pt x="56000" y="74000"/>
                </a:lnTo>
                <a:lnTo>
                  <a:pt x="48000" y="74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89" name="ff89"/>
          <p:cNvSpPr/>
          <p:nvPr/>
        </p:nvSpPr>
        <p:spPr>
          <a:xfrm>
            <a:off x="10620863.416666668" y="4785239"/>
            <a:ext cx="286755" cy="28675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62000" y="44000"/>
                </a:moveTo>
                <a:lnTo>
                  <a:pt x="70000" y="44000"/>
                </a:lnTo>
                <a:lnTo>
                  <a:pt x="70000" y="74000"/>
                </a:lnTo>
                <a:lnTo>
                  <a:pt x="62000" y="74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90" name="t90"/>
          <p:cNvSpPr txBox="1"/>
          <p:nvPr/>
        </p:nvSpPr>
        <p:spPr>
          <a:xfrm>
            <a:off x="9903713.833333334" y="5221224"/>
            <a:ext cx="1721053.1666666667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/>
                <a:cs typeface="Segoe UI"/>
              </a:rPr>
              <a:t>Reporting</a:t>
            </a:r>
          </a:p>
        </p:txBody>
      </p:sp>
      <p:sp>
        <p:nvSpPr>
          <p:cNvPr id="91" name="o91"/>
          <p:cNvSpPr/>
          <p:nvPr/>
        </p:nvSpPr>
        <p:spPr>
          <a:xfrm>
            <a:off x="9976865.833333334" y="4690872"/>
            <a:ext cx="237744" cy="237744"/>
          </a:xfrm>
          <a:prstGeom prst="ellipse">
            <a:avLst/>
          </a:prstGeom>
          <a:solidFill>
            <a:srgbClr val="1AA9B0"/>
          </a:solidFill>
          <a:ln>
            <a:noFill/>
          </a:ln>
        </p:spPr>
        <p:txBody>
          <a:bodyPr/>
          <a:p/>
        </p:txBody>
      </p:sp>
      <p:sp>
        <p:nvSpPr>
          <p:cNvPr id="92" name="t92"/>
          <p:cNvSpPr txBox="1"/>
          <p:nvPr/>
        </p:nvSpPr>
        <p:spPr>
          <a:xfrm>
            <a:off x="9976865.833333334" y="4690872"/>
            <a:ext cx="237744" cy="23774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93" name="t93"/>
          <p:cNvSpPr txBox="1"/>
          <p:nvPr/>
        </p:nvSpPr>
        <p:spPr>
          <a:xfrm>
            <a:off x="566928" y="5724144"/>
            <a:ext cx="11057839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200" b="1" dirty="0">
                <a:solidFill>
                  <a:srgbClr val="FFB020"/>
                </a:solidFill>
                <a:latin typeface="Segoe UI"/>
                <a:cs typeface="Segoe UI"/>
              </a:rPr>
              <a:t>Both incidents follow the same six phases — but the cloud investigation depends heavily on CSP cooperation.</a:t>
            </a:r>
          </a:p>
        </p:txBody>
      </p:sp>
    </p:spTree>
  </p:cSld>
  <p:transition spd="med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A2E"/>
              </a:gs>
              <a:gs pos="55000">
                <a:srgbClr val="0A1526"/>
              </a:gs>
              <a:gs pos="100000">
                <a:srgbClr val="081120"/>
              </a:gs>
            </a:gsLst>
            <a:lin ang="3000000" scaled="1"/>
          </a:gradFill>
          <a:ln>
            <a:noFill/>
          </a:ln>
        </p:spPr>
        <p:txBody>
          <a:bodyPr/>
          <a:p/>
        </p:txBody>
      </p:sp>
      <p:cxnSp>
        <p:nvCxnSpPr>
          <p:cNvPr id="3" name="l3"/>
          <p:cNvCxnSpPr/>
          <p:nvPr/>
        </p:nvCxnSpPr>
        <p:spPr>
          <a:xfrm>
            <a:off x="-914400" y="-91440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4" name="l4"/>
          <p:cNvCxnSpPr/>
          <p:nvPr/>
        </p:nvCxnSpPr>
        <p:spPr>
          <a:xfrm>
            <a:off x="-914400" y="-34747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5" name="l5"/>
          <p:cNvCxnSpPr/>
          <p:nvPr/>
        </p:nvCxnSpPr>
        <p:spPr>
          <a:xfrm>
            <a:off x="-914400" y="21945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6" name="l6"/>
          <p:cNvCxnSpPr/>
          <p:nvPr/>
        </p:nvCxnSpPr>
        <p:spPr>
          <a:xfrm>
            <a:off x="-914400" y="78638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7" name="l7"/>
          <p:cNvCxnSpPr/>
          <p:nvPr/>
        </p:nvCxnSpPr>
        <p:spPr>
          <a:xfrm>
            <a:off x="-914400" y="135331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8" name="l8"/>
          <p:cNvCxnSpPr/>
          <p:nvPr/>
        </p:nvCxnSpPr>
        <p:spPr>
          <a:xfrm>
            <a:off x="-914400" y="192024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9" name="l9"/>
          <p:cNvCxnSpPr/>
          <p:nvPr/>
        </p:nvCxnSpPr>
        <p:spPr>
          <a:xfrm>
            <a:off x="-914400" y="248716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0" name="l10"/>
          <p:cNvCxnSpPr/>
          <p:nvPr/>
        </p:nvCxnSpPr>
        <p:spPr>
          <a:xfrm>
            <a:off x="-914400" y="305409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1" name="l11"/>
          <p:cNvCxnSpPr/>
          <p:nvPr/>
        </p:nvCxnSpPr>
        <p:spPr>
          <a:xfrm>
            <a:off x="-914400" y="362102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2" name="l12"/>
          <p:cNvCxnSpPr/>
          <p:nvPr/>
        </p:nvCxnSpPr>
        <p:spPr>
          <a:xfrm>
            <a:off x="-914400" y="418795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3" name="l13"/>
          <p:cNvCxnSpPr/>
          <p:nvPr/>
        </p:nvCxnSpPr>
        <p:spPr>
          <a:xfrm>
            <a:off x="-914400" y="475488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4" name="l14"/>
          <p:cNvCxnSpPr/>
          <p:nvPr/>
        </p:nvCxnSpPr>
        <p:spPr>
          <a:xfrm>
            <a:off x="-914400" y="532180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5" name="l15"/>
          <p:cNvCxnSpPr/>
          <p:nvPr/>
        </p:nvCxnSpPr>
        <p:spPr>
          <a:xfrm>
            <a:off x="-914400" y="588873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6" name="l16"/>
          <p:cNvCxnSpPr/>
          <p:nvPr/>
        </p:nvCxnSpPr>
        <p:spPr>
          <a:xfrm>
            <a:off x="-914400" y="645566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7" name="l17"/>
          <p:cNvCxnSpPr/>
          <p:nvPr/>
        </p:nvCxnSpPr>
        <p:spPr>
          <a:xfrm>
            <a:off x="-914400" y="702259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8" name="l18"/>
          <p:cNvCxnSpPr/>
          <p:nvPr/>
        </p:nvCxnSpPr>
        <p:spPr>
          <a:xfrm>
            <a:off x="-914400" y="758952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sp>
        <p:nvSpPr>
          <p:cNvPr id="19" name="o19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2E9BFF">
              <a:alpha val="8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o20"/>
          <p:cNvSpPr/>
          <p:nvPr/>
        </p:nvSpPr>
        <p:spPr>
          <a:xfrm>
            <a:off x="-1463040" y="4023360"/>
            <a:ext cx="3840480" cy="3840480"/>
          </a:xfrm>
          <a:prstGeom prst="ellipse">
            <a:avLst/>
          </a:prstGeom>
          <a:solidFill>
            <a:srgbClr val="24E0D8">
              <a:alpha val="7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r2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22" name="r22"/>
          <p:cNvSpPr/>
          <p:nvPr/>
        </p:nvSpPr>
        <p:spPr>
          <a:xfrm>
            <a:off x="566928" y="402336"/>
            <a:ext cx="274320" cy="50292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23" name="t23"/>
          <p:cNvSpPr txBox="1"/>
          <p:nvPr/>
        </p:nvSpPr>
        <p:spPr>
          <a:xfrm>
            <a:off x="950976" y="301752"/>
            <a:ext cx="548640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b="1" spc="320" dirty="0">
                <a:solidFill>
                  <a:srgbClr val="24E0D8"/>
                </a:solidFill>
                <a:latin typeface="Segoe UI"/>
                <a:cs typeface="Segoe UI"/>
              </a:rPr>
              <a:t>DESKTOP VS CLOUD · AT A GLANCE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566928" y="658368"/>
            <a:ext cx="10424160" cy="8686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3000" b="1" dirty="0">
                <a:solidFill>
                  <a:srgbClr val="FFFFFF"/>
                </a:solidFill>
                <a:latin typeface="Poppins"/>
                <a:cs typeface="Poppins"/>
              </a:rPr>
              <a:t>Key Differences</a:t>
            </a:r>
          </a:p>
        </p:txBody>
      </p:sp>
      <p:cxnSp>
        <p:nvCxnSpPr>
          <p:cNvPr id="25" name="l25"/>
          <p:cNvCxnSpPr/>
          <p:nvPr/>
        </p:nvCxnSpPr>
        <p:spPr>
          <a:xfrm>
            <a:off x="566928" y="1481328"/>
            <a:ext cx="11055096" cy="0"/>
          </a:xfrm>
          <a:prstGeom prst="line">
            <a:avLst/>
          </a:prstGeom>
          <a:ln w="13970" cap="rnd">
            <a:solidFill>
              <a:srgbClr val="24476E">
                <a:alpha val="70000"/>
              </a:srgbClr>
            </a:solidFill>
          </a:ln>
        </p:spPr>
      </p:cxnSp>
      <p:cxnSp>
        <p:nvCxnSpPr>
          <p:cNvPr id="26" name="l26"/>
          <p:cNvCxnSpPr/>
          <p:nvPr/>
        </p:nvCxnSpPr>
        <p:spPr>
          <a:xfrm>
            <a:off x="566928" y="6428232"/>
            <a:ext cx="11055096" cy="0"/>
          </a:xfrm>
          <a:prstGeom prst="line">
            <a:avLst/>
          </a:prstGeom>
          <a:ln w="12700" cap="rnd">
            <a:solidFill>
              <a:srgbClr val="1C3A5C">
                <a:alpha val="60000"/>
              </a:srgbClr>
            </a:solidFill>
          </a:ln>
        </p:spPr>
      </p:cxnSp>
      <p:sp>
        <p:nvSpPr>
          <p:cNvPr id="27" name="t27"/>
          <p:cNvSpPr txBox="1"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950" spc="150" dirty="0">
                <a:solidFill>
                  <a:srgbClr val="9DB4CC"/>
                </a:solidFill>
                <a:latin typeface="Segoe UI"/>
                <a:cs typeface="Segoe UI"/>
              </a:rPr>
              <a:t>Digital Forensics vs Cloud Forensics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9326880" y="6455664"/>
            <a:ext cx="22860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r">
              <a:buNone/>
            </a:pPr>
            <a:r>
              <a:rPr lang="en-US" sz="1000" b="1" dirty="0">
                <a:solidFill>
                  <a:srgbClr val="24E0D8"/>
                </a:solidFill>
                <a:latin typeface="Segoe UI"/>
                <a:cs typeface="Segoe UI"/>
              </a:rPr>
              <a:t>05</a:t>
            </a:r>
            <a:r>
              <a:rPr lang="en-US" sz="1000" dirty="0">
                <a:solidFill>
                  <a:srgbClr val="9DB4CC"/>
                </a:solidFill>
                <a:latin typeface="Segoe UI"/>
                <a:cs typeface="Segoe UI"/>
              </a:rPr>
              <a:t> / 08</a:t>
            </a:r>
          </a:p>
        </p:txBody>
      </p:sp>
      <p:sp>
        <p:nvSpPr>
          <p:cNvPr id="29" name="o29"/>
          <p:cNvSpPr/>
          <p:nvPr/>
        </p:nvSpPr>
        <p:spPr>
          <a:xfrm>
            <a:off x="7955279" y="548640"/>
            <a:ext cx="164592" cy="164592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30" name="t30"/>
          <p:cNvSpPr txBox="1"/>
          <p:nvPr/>
        </p:nvSpPr>
        <p:spPr>
          <a:xfrm>
            <a:off x="8183879" y="457200"/>
            <a:ext cx="128016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150" b="1" dirty="0">
                <a:solidFill>
                  <a:srgbClr val="63B8FF"/>
                </a:solidFill>
                <a:latin typeface="Segoe UI"/>
                <a:cs typeface="Segoe UI"/>
              </a:rPr>
              <a:t>Desktop</a:t>
            </a:r>
          </a:p>
        </p:txBody>
      </p:sp>
      <p:sp>
        <p:nvSpPr>
          <p:cNvPr id="31" name="o31"/>
          <p:cNvSpPr/>
          <p:nvPr/>
        </p:nvSpPr>
        <p:spPr>
          <a:xfrm>
            <a:off x="9601200" y="548640"/>
            <a:ext cx="164592" cy="164592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E7C86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32" name="t32"/>
          <p:cNvSpPr txBox="1"/>
          <p:nvPr/>
        </p:nvSpPr>
        <p:spPr>
          <a:xfrm>
            <a:off x="9829800" y="457200"/>
            <a:ext cx="146304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150" b="1" dirty="0">
                <a:solidFill>
                  <a:srgbClr val="5FF3EC"/>
                </a:solidFill>
                <a:latin typeface="Segoe UI"/>
                <a:cs typeface="Segoe UI"/>
              </a:rPr>
              <a:t>Cloud</a:t>
            </a:r>
          </a:p>
        </p:txBody>
      </p:sp>
      <p:sp>
        <p:nvSpPr>
          <p:cNvPr id="33" name="t33"/>
          <p:cNvSpPr txBox="1"/>
          <p:nvPr/>
        </p:nvSpPr>
        <p:spPr>
          <a:xfrm>
            <a:off x="4160520" y="1627632"/>
            <a:ext cx="3950208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00" dirty="0">
                <a:solidFill>
                  <a:srgbClr val="0A1526"/>
                </a:solidFill>
                <a:latin typeface="Segoe UI"/>
                <a:cs typeface="Segoe UI"/>
              </a:rPr>
              <a:t/>
            </a:r>
          </a:p>
        </p:txBody>
      </p:sp>
      <p:sp>
        <p:nvSpPr>
          <p:cNvPr id="34" name="r34"/>
          <p:cNvSpPr/>
          <p:nvPr/>
        </p:nvSpPr>
        <p:spPr>
          <a:xfrm>
            <a:off x="566928" y="1645920"/>
            <a:ext cx="3429000" cy="603504"/>
          </a:xfrm>
          <a:prstGeom prst="roundRect">
            <a:avLst>
              <a:gd name="adj" fmla="val 9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35" name="o35"/>
          <p:cNvSpPr/>
          <p:nvPr/>
        </p:nvSpPr>
        <p:spPr>
          <a:xfrm>
            <a:off x="694944" y="1691640.0"/>
            <a:ext cx="512064" cy="512064"/>
          </a:xfrm>
          <a:prstGeom prst="ellipse">
            <a:avLst/>
          </a:prstGeom>
          <a:noFill/>
          <a:ln w="17780" cap="rnd">
            <a:solidFill>
              <a:srgbClr val="7C4D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36" name="o36"/>
          <p:cNvSpPr/>
          <p:nvPr/>
        </p:nvSpPr>
        <p:spPr>
          <a:xfrm>
            <a:off x="740664" y="1737360.0"/>
            <a:ext cx="420624" cy="420624"/>
          </a:xfrm>
          <a:prstGeom prst="ellipse">
            <a:avLst/>
          </a:prstGeom>
          <a:gradFill rotWithShape="1">
            <a:gsLst>
              <a:gs pos="0">
                <a:srgbClr val="7C4DFF"/>
              </a:gs>
              <a:gs pos="100000">
                <a:srgbClr val="2A156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37" name="o37"/>
          <p:cNvSpPr/>
          <p:nvPr/>
        </p:nvSpPr>
        <p:spPr>
          <a:xfrm>
            <a:off x="863150" y="1859846.0"/>
            <a:ext cx="175651" cy="175651"/>
          </a:xfrm>
          <a:prstGeom prst="ellipse">
            <a:avLst/>
          </a:prstGeom>
          <a:noFill/>
          <a:ln w="3302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38" name="o38"/>
          <p:cNvSpPr/>
          <p:nvPr/>
        </p:nvSpPr>
        <p:spPr>
          <a:xfrm>
            <a:off x="914382" y="1859846.0"/>
            <a:ext cx="73188" cy="175651"/>
          </a:xfrm>
          <a:prstGeom prst="ellipse">
            <a:avLst/>
          </a:prstGeom>
          <a:noFill/>
          <a:ln w="25400" cap="rnd">
            <a:solidFill>
              <a:srgbClr val="FFFFFF"/>
            </a:solidFill>
          </a:ln>
        </p:spPr>
        <p:txBody>
          <a:bodyPr/>
          <a:p/>
        </p:txBody>
      </p:sp>
      <p:cxnSp>
        <p:nvCxnSpPr>
          <p:cNvPr id="39" name="l39"/>
          <p:cNvCxnSpPr/>
          <p:nvPr/>
        </p:nvCxnSpPr>
        <p:spPr>
          <a:xfrm>
            <a:off x="863150" y="1947672.0"/>
            <a:ext cx="175652" cy="0.0"/>
          </a:xfrm>
          <a:prstGeom prst="line">
            <a:avLst/>
          </a:prstGeom>
          <a:ln w="25400" cap="rnd">
            <a:solidFill>
              <a:srgbClr val="FFFFFF"/>
            </a:solidFill>
          </a:ln>
        </p:spPr>
      </p:cxnSp>
      <p:cxnSp>
        <p:nvCxnSpPr>
          <p:cNvPr id="40" name="l40"/>
          <p:cNvCxnSpPr/>
          <p:nvPr/>
        </p:nvCxnSpPr>
        <p:spPr>
          <a:xfrm>
            <a:off x="877788" y="1901319.0"/>
            <a:ext cx="146376" cy="0.0"/>
          </a:xfrm>
          <a:prstGeom prst="line">
            <a:avLst/>
          </a:prstGeom>
          <a:ln w="20320" cap="rnd">
            <a:solidFill>
              <a:srgbClr val="FFFFFF"/>
            </a:solidFill>
          </a:ln>
        </p:spPr>
      </p:cxnSp>
      <p:cxnSp>
        <p:nvCxnSpPr>
          <p:cNvPr id="41" name="l41"/>
          <p:cNvCxnSpPr/>
          <p:nvPr/>
        </p:nvCxnSpPr>
        <p:spPr>
          <a:xfrm>
            <a:off x="877788" y="1994025.0"/>
            <a:ext cx="146376" cy="0.0"/>
          </a:xfrm>
          <a:prstGeom prst="line">
            <a:avLst/>
          </a:prstGeom>
          <a:ln w="20320" cap="rnd">
            <a:solidFill>
              <a:srgbClr val="FFFFFF"/>
            </a:solidFill>
          </a:ln>
        </p:spPr>
      </p:cxnSp>
      <p:sp>
        <p:nvSpPr>
          <p:cNvPr id="42" name="t42"/>
          <p:cNvSpPr txBox="1"/>
          <p:nvPr/>
        </p:nvSpPr>
        <p:spPr>
          <a:xfrm>
            <a:off x="1316736" y="1645920"/>
            <a:ext cx="2514600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Evidence Location</a:t>
            </a:r>
          </a:p>
        </p:txBody>
      </p:sp>
      <p:sp>
        <p:nvSpPr>
          <p:cNvPr id="43" name="r43"/>
          <p:cNvSpPr/>
          <p:nvPr/>
        </p:nvSpPr>
        <p:spPr>
          <a:xfrm>
            <a:off x="4160520" y="1645920"/>
            <a:ext cx="3950208" cy="603504"/>
          </a:xfrm>
          <a:prstGeom prst="roundRect">
            <a:avLst>
              <a:gd name="adj" fmla="val 9000"/>
            </a:avLst>
          </a:prstGeom>
          <a:solidFill>
            <a:srgbClr val="0C2138"/>
          </a:solidFill>
          <a:ln w="12700" cap="rnd">
            <a:solidFill>
              <a:srgbClr val="2E9BFF">
                <a:alpha val="45000"/>
              </a:srgbClr>
            </a:solidFill>
          </a:ln>
        </p:spPr>
        <p:txBody>
          <a:bodyPr/>
          <a:p/>
        </p:txBody>
      </p:sp>
      <p:sp>
        <p:nvSpPr>
          <p:cNvPr id="44" name="r44"/>
          <p:cNvSpPr/>
          <p:nvPr/>
        </p:nvSpPr>
        <p:spPr>
          <a:xfrm>
            <a:off x="4160520" y="1645920"/>
            <a:ext cx="54864" cy="60350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45" name="t45"/>
          <p:cNvSpPr txBox="1"/>
          <p:nvPr/>
        </p:nvSpPr>
        <p:spPr>
          <a:xfrm>
            <a:off x="4398264" y="1645920"/>
            <a:ext cx="3584448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On the local device</a:t>
            </a:r>
          </a:p>
        </p:txBody>
      </p:sp>
      <p:sp>
        <p:nvSpPr>
          <p:cNvPr id="46" name="r46"/>
          <p:cNvSpPr/>
          <p:nvPr/>
        </p:nvSpPr>
        <p:spPr>
          <a:xfrm>
            <a:off x="8275320" y="1645920"/>
            <a:ext cx="3349447" cy="603504"/>
          </a:xfrm>
          <a:prstGeom prst="roundRect">
            <a:avLst>
              <a:gd name="adj" fmla="val 9000"/>
            </a:avLst>
          </a:prstGeom>
          <a:solidFill>
            <a:srgbClr val="092A2E"/>
          </a:solidFill>
          <a:ln w="12700" cap="rnd">
            <a:solidFill>
              <a:srgbClr val="24E0D8">
                <a:alpha val="45000"/>
              </a:srgbClr>
            </a:solidFill>
          </a:ln>
        </p:spPr>
        <p:txBody>
          <a:bodyPr/>
          <a:p/>
        </p:txBody>
      </p:sp>
      <p:sp>
        <p:nvSpPr>
          <p:cNvPr id="47" name="r47"/>
          <p:cNvSpPr/>
          <p:nvPr/>
        </p:nvSpPr>
        <p:spPr>
          <a:xfrm>
            <a:off x="8275320" y="1645920"/>
            <a:ext cx="54864" cy="603504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48" name="t48"/>
          <p:cNvSpPr txBox="1"/>
          <p:nvPr/>
        </p:nvSpPr>
        <p:spPr>
          <a:xfrm>
            <a:off x="8513064" y="1645920"/>
            <a:ext cx="2983687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Distributed across data centres</a:t>
            </a:r>
          </a:p>
        </p:txBody>
      </p:sp>
      <p:sp>
        <p:nvSpPr>
          <p:cNvPr id="49" name="r49"/>
          <p:cNvSpPr/>
          <p:nvPr/>
        </p:nvSpPr>
        <p:spPr>
          <a:xfrm>
            <a:off x="566928" y="2354580"/>
            <a:ext cx="3429000" cy="603504"/>
          </a:xfrm>
          <a:prstGeom prst="roundRect">
            <a:avLst>
              <a:gd name="adj" fmla="val 9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0" name="o50"/>
          <p:cNvSpPr/>
          <p:nvPr/>
        </p:nvSpPr>
        <p:spPr>
          <a:xfrm>
            <a:off x="694944" y="2400300.0"/>
            <a:ext cx="512064" cy="512064"/>
          </a:xfrm>
          <a:prstGeom prst="ellipse">
            <a:avLst/>
          </a:prstGeom>
          <a:noFill/>
          <a:ln w="17780" cap="rnd">
            <a:solidFill>
              <a:srgbClr val="7C4D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51" name="o51"/>
          <p:cNvSpPr/>
          <p:nvPr/>
        </p:nvSpPr>
        <p:spPr>
          <a:xfrm>
            <a:off x="740664" y="2446020.0"/>
            <a:ext cx="420624" cy="420624"/>
          </a:xfrm>
          <a:prstGeom prst="ellipse">
            <a:avLst/>
          </a:prstGeom>
          <a:gradFill rotWithShape="1">
            <a:gsLst>
              <a:gs pos="0">
                <a:srgbClr val="7C4DFF"/>
              </a:gs>
              <a:gs pos="100000">
                <a:srgbClr val="2A156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52" name="ff52"/>
          <p:cNvSpPr/>
          <p:nvPr/>
        </p:nvSpPr>
        <p:spPr>
          <a:xfrm>
            <a:off x="828996" y="2534352.0"/>
            <a:ext cx="243961" cy="24396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000" y="46000"/>
                </a:moveTo>
                <a:lnTo>
                  <a:pt x="74000" y="46000"/>
                </a:lnTo>
                <a:lnTo>
                  <a:pt x="74000" y="84000"/>
                </a:lnTo>
                <a:lnTo>
                  <a:pt x="26000" y="8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53" name="ff53"/>
          <p:cNvSpPr/>
          <p:nvPr/>
        </p:nvSpPr>
        <p:spPr>
          <a:xfrm>
            <a:off x="828996" y="2534352.0"/>
            <a:ext cx="243961" cy="24396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6000" y="46000"/>
                </a:moveTo>
                <a:lnTo>
                  <a:pt x="36000" y="36000"/>
                </a:lnTo>
                <a:cubicBezTo>
                  <a:pt x="36" y="18"/>
                  <a:pt x="64" y="18"/>
                  <a:pt x="64" y="36"/>
                </a:cubicBezTo>
                <a:lnTo>
                  <a:pt x="64000" y="46000"/>
                </a:lnTo>
                <a:lnTo>
                  <a:pt x="56000" y="46000"/>
                </a:lnTo>
                <a:lnTo>
                  <a:pt x="56000" y="36000"/>
                </a:lnTo>
                <a:cubicBezTo>
                  <a:pt x="56" y="28"/>
                  <a:pt x="44" y="28"/>
                  <a:pt x="44" y="36"/>
                </a:cubicBezTo>
                <a:lnTo>
                  <a:pt x="44000" y="46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54" name="o54"/>
          <p:cNvSpPr/>
          <p:nvPr/>
        </p:nvSpPr>
        <p:spPr>
          <a:xfrm>
            <a:off x="936338" y="2675849.0"/>
            <a:ext cx="29275" cy="29275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55" name="t55"/>
          <p:cNvSpPr txBox="1"/>
          <p:nvPr/>
        </p:nvSpPr>
        <p:spPr>
          <a:xfrm>
            <a:off x="1316736" y="2354580"/>
            <a:ext cx="2514600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Physical Control</a:t>
            </a:r>
          </a:p>
        </p:txBody>
      </p:sp>
      <p:sp>
        <p:nvSpPr>
          <p:cNvPr id="56" name="r56"/>
          <p:cNvSpPr/>
          <p:nvPr/>
        </p:nvSpPr>
        <p:spPr>
          <a:xfrm>
            <a:off x="4160520" y="2354580"/>
            <a:ext cx="3950208" cy="603504"/>
          </a:xfrm>
          <a:prstGeom prst="roundRect">
            <a:avLst>
              <a:gd name="adj" fmla="val 9000"/>
            </a:avLst>
          </a:prstGeom>
          <a:solidFill>
            <a:srgbClr val="0C2138"/>
          </a:solidFill>
          <a:ln w="12700" cap="rnd">
            <a:solidFill>
              <a:srgbClr val="2E9BFF">
                <a:alpha val="45000"/>
              </a:srgbClr>
            </a:solidFill>
          </a:ln>
        </p:spPr>
        <p:txBody>
          <a:bodyPr/>
          <a:p/>
        </p:txBody>
      </p:sp>
      <p:sp>
        <p:nvSpPr>
          <p:cNvPr id="57" name="r57"/>
          <p:cNvSpPr/>
          <p:nvPr/>
        </p:nvSpPr>
        <p:spPr>
          <a:xfrm>
            <a:off x="4160520" y="2354580"/>
            <a:ext cx="54864" cy="60350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58" name="t58"/>
          <p:cNvSpPr txBox="1"/>
          <p:nvPr/>
        </p:nvSpPr>
        <p:spPr>
          <a:xfrm>
            <a:off x="4398264" y="2354580"/>
            <a:ext cx="3584448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Full, direct control</a:t>
            </a:r>
          </a:p>
        </p:txBody>
      </p:sp>
      <p:sp>
        <p:nvSpPr>
          <p:cNvPr id="59" name="r59"/>
          <p:cNvSpPr/>
          <p:nvPr/>
        </p:nvSpPr>
        <p:spPr>
          <a:xfrm>
            <a:off x="8275320" y="2354580"/>
            <a:ext cx="3349447" cy="603504"/>
          </a:xfrm>
          <a:prstGeom prst="roundRect">
            <a:avLst>
              <a:gd name="adj" fmla="val 9000"/>
            </a:avLst>
          </a:prstGeom>
          <a:solidFill>
            <a:srgbClr val="092A2E"/>
          </a:solidFill>
          <a:ln w="12700" cap="rnd">
            <a:solidFill>
              <a:srgbClr val="24E0D8">
                <a:alpha val="45000"/>
              </a:srgbClr>
            </a:solidFill>
          </a:ln>
        </p:spPr>
        <p:txBody>
          <a:bodyPr/>
          <a:p/>
        </p:txBody>
      </p:sp>
      <p:sp>
        <p:nvSpPr>
          <p:cNvPr id="60" name="r60"/>
          <p:cNvSpPr/>
          <p:nvPr/>
        </p:nvSpPr>
        <p:spPr>
          <a:xfrm>
            <a:off x="8275320" y="2354580"/>
            <a:ext cx="54864" cy="603504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61" name="t61"/>
          <p:cNvSpPr txBox="1"/>
          <p:nvPr/>
        </p:nvSpPr>
        <p:spPr>
          <a:xfrm>
            <a:off x="8513064" y="2354580"/>
            <a:ext cx="2983687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None — held by the CSP</a:t>
            </a:r>
          </a:p>
        </p:txBody>
      </p:sp>
      <p:sp>
        <p:nvSpPr>
          <p:cNvPr id="62" name="r62"/>
          <p:cNvSpPr/>
          <p:nvPr/>
        </p:nvSpPr>
        <p:spPr>
          <a:xfrm>
            <a:off x="566928" y="3063240"/>
            <a:ext cx="3429000" cy="603504"/>
          </a:xfrm>
          <a:prstGeom prst="roundRect">
            <a:avLst>
              <a:gd name="adj" fmla="val 9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63" name="o63"/>
          <p:cNvSpPr/>
          <p:nvPr/>
        </p:nvSpPr>
        <p:spPr>
          <a:xfrm>
            <a:off x="694944" y="3108960.0"/>
            <a:ext cx="512064" cy="512064"/>
          </a:xfrm>
          <a:prstGeom prst="ellipse">
            <a:avLst/>
          </a:prstGeom>
          <a:noFill/>
          <a:ln w="17780" cap="rnd">
            <a:solidFill>
              <a:srgbClr val="7C4D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64" name="o64"/>
          <p:cNvSpPr/>
          <p:nvPr/>
        </p:nvSpPr>
        <p:spPr>
          <a:xfrm>
            <a:off x="740664" y="3154680.0"/>
            <a:ext cx="420624" cy="420624"/>
          </a:xfrm>
          <a:prstGeom prst="ellipse">
            <a:avLst/>
          </a:prstGeom>
          <a:gradFill rotWithShape="1">
            <a:gsLst>
              <a:gs pos="0">
                <a:srgbClr val="7C4DFF"/>
              </a:gs>
              <a:gs pos="100000">
                <a:srgbClr val="2A156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65" name="ff65"/>
          <p:cNvSpPr/>
          <p:nvPr/>
        </p:nvSpPr>
        <p:spPr>
          <a:xfrm>
            <a:off x="828996" y="3243012.0"/>
            <a:ext cx="243961" cy="24396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000" y="30000"/>
                </a:moveTo>
                <a:lnTo>
                  <a:pt x="30000" y="30000"/>
                </a:lnTo>
                <a:lnTo>
                  <a:pt x="38000" y="22000"/>
                </a:lnTo>
                <a:lnTo>
                  <a:pt x="62000" y="22000"/>
                </a:lnTo>
                <a:lnTo>
                  <a:pt x="70000" y="30000"/>
                </a:lnTo>
                <a:lnTo>
                  <a:pt x="86000" y="30000"/>
                </a:lnTo>
                <a:lnTo>
                  <a:pt x="86000" y="80000"/>
                </a:lnTo>
                <a:lnTo>
                  <a:pt x="14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66" name="o66"/>
          <p:cNvSpPr/>
          <p:nvPr/>
        </p:nvSpPr>
        <p:spPr>
          <a:xfrm>
            <a:off x="907063" y="3330837.0"/>
            <a:ext cx="87825" cy="87825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67" name="o67"/>
          <p:cNvSpPr/>
          <p:nvPr/>
        </p:nvSpPr>
        <p:spPr>
          <a:xfrm>
            <a:off x="921701" y="3345475.0"/>
            <a:ext cx="58550" cy="585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68" name="t68"/>
          <p:cNvSpPr txBox="1"/>
          <p:nvPr/>
        </p:nvSpPr>
        <p:spPr>
          <a:xfrm>
            <a:off x="1316736" y="3063240"/>
            <a:ext cx="2514600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Evidence Acquisition</a:t>
            </a:r>
          </a:p>
        </p:txBody>
      </p:sp>
      <p:sp>
        <p:nvSpPr>
          <p:cNvPr id="69" name="r69"/>
          <p:cNvSpPr/>
          <p:nvPr/>
        </p:nvSpPr>
        <p:spPr>
          <a:xfrm>
            <a:off x="4160520" y="3063240"/>
            <a:ext cx="3950208" cy="603504"/>
          </a:xfrm>
          <a:prstGeom prst="roundRect">
            <a:avLst>
              <a:gd name="adj" fmla="val 9000"/>
            </a:avLst>
          </a:prstGeom>
          <a:solidFill>
            <a:srgbClr val="0C2138"/>
          </a:solidFill>
          <a:ln w="12700" cap="rnd">
            <a:solidFill>
              <a:srgbClr val="2E9BFF">
                <a:alpha val="45000"/>
              </a:srgbClr>
            </a:solidFill>
          </a:ln>
        </p:spPr>
        <p:txBody>
          <a:bodyPr/>
          <a:p/>
        </p:txBody>
      </p:sp>
      <p:sp>
        <p:nvSpPr>
          <p:cNvPr id="70" name="r70"/>
          <p:cNvSpPr/>
          <p:nvPr/>
        </p:nvSpPr>
        <p:spPr>
          <a:xfrm>
            <a:off x="4160520" y="3063240"/>
            <a:ext cx="54864" cy="60350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71" name="t71"/>
          <p:cNvSpPr txBox="1"/>
          <p:nvPr/>
        </p:nvSpPr>
        <p:spPr>
          <a:xfrm>
            <a:off x="4398264" y="3063240"/>
            <a:ext cx="3584448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Direct forensic imaging</a:t>
            </a:r>
          </a:p>
        </p:txBody>
      </p:sp>
      <p:sp>
        <p:nvSpPr>
          <p:cNvPr id="72" name="r72"/>
          <p:cNvSpPr/>
          <p:nvPr/>
        </p:nvSpPr>
        <p:spPr>
          <a:xfrm>
            <a:off x="8275320" y="3063240"/>
            <a:ext cx="3349447" cy="603504"/>
          </a:xfrm>
          <a:prstGeom prst="roundRect">
            <a:avLst>
              <a:gd name="adj" fmla="val 9000"/>
            </a:avLst>
          </a:prstGeom>
          <a:solidFill>
            <a:srgbClr val="092A2E"/>
          </a:solidFill>
          <a:ln w="12700" cap="rnd">
            <a:solidFill>
              <a:srgbClr val="24E0D8">
                <a:alpha val="45000"/>
              </a:srgbClr>
            </a:solidFill>
          </a:ln>
        </p:spPr>
        <p:txBody>
          <a:bodyPr/>
          <a:p/>
        </p:txBody>
      </p:sp>
      <p:sp>
        <p:nvSpPr>
          <p:cNvPr id="73" name="r73"/>
          <p:cNvSpPr/>
          <p:nvPr/>
        </p:nvSpPr>
        <p:spPr>
          <a:xfrm>
            <a:off x="8275320" y="3063240"/>
            <a:ext cx="54864" cy="603504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74" name="t74"/>
          <p:cNvSpPr txBox="1"/>
          <p:nvPr/>
        </p:nvSpPr>
        <p:spPr>
          <a:xfrm>
            <a:off x="8513064" y="3063240"/>
            <a:ext cx="2983687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CSP-assisted snapshot / export</a:t>
            </a:r>
          </a:p>
        </p:txBody>
      </p:sp>
      <p:sp>
        <p:nvSpPr>
          <p:cNvPr id="75" name="r75"/>
          <p:cNvSpPr/>
          <p:nvPr/>
        </p:nvSpPr>
        <p:spPr>
          <a:xfrm>
            <a:off x="566928" y="3771900"/>
            <a:ext cx="3429000" cy="603504"/>
          </a:xfrm>
          <a:prstGeom prst="roundRect">
            <a:avLst>
              <a:gd name="adj" fmla="val 9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76" name="o76"/>
          <p:cNvSpPr/>
          <p:nvPr/>
        </p:nvSpPr>
        <p:spPr>
          <a:xfrm>
            <a:off x="694944" y="3817620.0"/>
            <a:ext cx="512064" cy="512064"/>
          </a:xfrm>
          <a:prstGeom prst="ellipse">
            <a:avLst/>
          </a:prstGeom>
          <a:noFill/>
          <a:ln w="17780" cap="rnd">
            <a:solidFill>
              <a:srgbClr val="7C4D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77" name="o77"/>
          <p:cNvSpPr/>
          <p:nvPr/>
        </p:nvSpPr>
        <p:spPr>
          <a:xfrm>
            <a:off x="740664" y="3863340.0"/>
            <a:ext cx="420624" cy="420624"/>
          </a:xfrm>
          <a:prstGeom prst="ellipse">
            <a:avLst/>
          </a:prstGeom>
          <a:gradFill rotWithShape="1">
            <a:gsLst>
              <a:gs pos="0">
                <a:srgbClr val="7C4DFF"/>
              </a:gs>
              <a:gs pos="100000">
                <a:srgbClr val="2A156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78" name="r78"/>
          <p:cNvSpPr/>
          <p:nvPr/>
        </p:nvSpPr>
        <p:spPr>
          <a:xfrm>
            <a:off x="868029" y="4049256.0"/>
            <a:ext cx="82946" cy="48792"/>
          </a:xfrm>
          <a:prstGeom prst="roundRect">
            <a:avLst>
              <a:gd name="adj" fmla="val 50000"/>
            </a:avLst>
          </a:prstGeom>
          <a:noFill/>
          <a:ln w="3810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79" name="r79"/>
          <p:cNvSpPr/>
          <p:nvPr/>
        </p:nvSpPr>
        <p:spPr>
          <a:xfrm>
            <a:off x="950976" y="4049256.0"/>
            <a:ext cx="82946" cy="48792"/>
          </a:xfrm>
          <a:prstGeom prst="roundRect">
            <a:avLst>
              <a:gd name="adj" fmla="val 50000"/>
            </a:avLst>
          </a:prstGeom>
          <a:noFill/>
          <a:ln w="3810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80" name="ff80"/>
          <p:cNvSpPr/>
          <p:nvPr/>
        </p:nvSpPr>
        <p:spPr>
          <a:xfrm>
            <a:off x="828996" y="3951672.0"/>
            <a:ext cx="243961" cy="24396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0000" y="48000"/>
                </a:moveTo>
                <a:lnTo>
                  <a:pt x="60000" y="48000"/>
                </a:lnTo>
                <a:lnTo>
                  <a:pt x="60000" y="52000"/>
                </a:lnTo>
                <a:lnTo>
                  <a:pt x="40000" y="52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81" name="t81"/>
          <p:cNvSpPr txBox="1"/>
          <p:nvPr/>
        </p:nvSpPr>
        <p:spPr>
          <a:xfrm>
            <a:off x="1316736" y="3771900"/>
            <a:ext cx="2514600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Chain of Custody</a:t>
            </a:r>
          </a:p>
        </p:txBody>
      </p:sp>
      <p:sp>
        <p:nvSpPr>
          <p:cNvPr id="82" name="r82"/>
          <p:cNvSpPr/>
          <p:nvPr/>
        </p:nvSpPr>
        <p:spPr>
          <a:xfrm>
            <a:off x="4160520" y="3771900"/>
            <a:ext cx="3950208" cy="603504"/>
          </a:xfrm>
          <a:prstGeom prst="roundRect">
            <a:avLst>
              <a:gd name="adj" fmla="val 9000"/>
            </a:avLst>
          </a:prstGeom>
          <a:solidFill>
            <a:srgbClr val="0C2138"/>
          </a:solidFill>
          <a:ln w="12700" cap="rnd">
            <a:solidFill>
              <a:srgbClr val="2E9BFF">
                <a:alpha val="45000"/>
              </a:srgbClr>
            </a:solidFill>
          </a:ln>
        </p:spPr>
        <p:txBody>
          <a:bodyPr/>
          <a:p/>
        </p:txBody>
      </p:sp>
      <p:sp>
        <p:nvSpPr>
          <p:cNvPr id="83" name="r83"/>
          <p:cNvSpPr/>
          <p:nvPr/>
        </p:nvSpPr>
        <p:spPr>
          <a:xfrm>
            <a:off x="4160520" y="3771900"/>
            <a:ext cx="54864" cy="60350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84" name="t84"/>
          <p:cNvSpPr txBox="1"/>
          <p:nvPr/>
        </p:nvSpPr>
        <p:spPr>
          <a:xfrm>
            <a:off x="4398264" y="3771900"/>
            <a:ext cx="3584448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Investigator-owned</a:t>
            </a:r>
          </a:p>
        </p:txBody>
      </p:sp>
      <p:sp>
        <p:nvSpPr>
          <p:cNvPr id="85" name="r85"/>
          <p:cNvSpPr/>
          <p:nvPr/>
        </p:nvSpPr>
        <p:spPr>
          <a:xfrm>
            <a:off x="8275320" y="3771900"/>
            <a:ext cx="3349447" cy="603504"/>
          </a:xfrm>
          <a:prstGeom prst="roundRect">
            <a:avLst>
              <a:gd name="adj" fmla="val 9000"/>
            </a:avLst>
          </a:prstGeom>
          <a:solidFill>
            <a:srgbClr val="092A2E"/>
          </a:solidFill>
          <a:ln w="12700" cap="rnd">
            <a:solidFill>
              <a:srgbClr val="24E0D8">
                <a:alpha val="45000"/>
              </a:srgbClr>
            </a:solidFill>
          </a:ln>
        </p:spPr>
        <p:txBody>
          <a:bodyPr/>
          <a:p/>
        </p:txBody>
      </p:sp>
      <p:sp>
        <p:nvSpPr>
          <p:cNvPr id="86" name="r86"/>
          <p:cNvSpPr/>
          <p:nvPr/>
        </p:nvSpPr>
        <p:spPr>
          <a:xfrm>
            <a:off x="8275320" y="3771900"/>
            <a:ext cx="54864" cy="603504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87" name="t87"/>
          <p:cNvSpPr txBox="1"/>
          <p:nvPr/>
        </p:nvSpPr>
        <p:spPr>
          <a:xfrm>
            <a:off x="8513064" y="3771900"/>
            <a:ext cx="2983687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Shared with the CSP</a:t>
            </a:r>
          </a:p>
        </p:txBody>
      </p:sp>
      <p:sp>
        <p:nvSpPr>
          <p:cNvPr id="88" name="r88"/>
          <p:cNvSpPr/>
          <p:nvPr/>
        </p:nvSpPr>
        <p:spPr>
          <a:xfrm>
            <a:off x="566928" y="4480560"/>
            <a:ext cx="3429000" cy="603504"/>
          </a:xfrm>
          <a:prstGeom prst="roundRect">
            <a:avLst>
              <a:gd name="adj" fmla="val 9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89" name="o89"/>
          <p:cNvSpPr/>
          <p:nvPr/>
        </p:nvSpPr>
        <p:spPr>
          <a:xfrm>
            <a:off x="694944" y="4526280.0"/>
            <a:ext cx="512064" cy="512064"/>
          </a:xfrm>
          <a:prstGeom prst="ellipse">
            <a:avLst/>
          </a:prstGeom>
          <a:noFill/>
          <a:ln w="17780" cap="rnd">
            <a:solidFill>
              <a:srgbClr val="7C4D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90" name="o90"/>
          <p:cNvSpPr/>
          <p:nvPr/>
        </p:nvSpPr>
        <p:spPr>
          <a:xfrm>
            <a:off x="740664" y="4572000.0"/>
            <a:ext cx="420624" cy="420624"/>
          </a:xfrm>
          <a:prstGeom prst="ellipse">
            <a:avLst/>
          </a:prstGeom>
          <a:gradFill rotWithShape="1">
            <a:gsLst>
              <a:gs pos="0">
                <a:srgbClr val="7C4DFF"/>
              </a:gs>
              <a:gs pos="100000">
                <a:srgbClr val="2A156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91" name="o91"/>
          <p:cNvSpPr/>
          <p:nvPr/>
        </p:nvSpPr>
        <p:spPr>
          <a:xfrm>
            <a:off x="931460" y="4684728.0"/>
            <a:ext cx="39033" cy="3903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92" name="o92"/>
          <p:cNvSpPr/>
          <p:nvPr/>
        </p:nvSpPr>
        <p:spPr>
          <a:xfrm>
            <a:off x="858272" y="4816467.0"/>
            <a:ext cx="39033" cy="3903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93" name="o93"/>
          <p:cNvSpPr/>
          <p:nvPr/>
        </p:nvSpPr>
        <p:spPr>
          <a:xfrm>
            <a:off x="1004648" y="4816467.0"/>
            <a:ext cx="39033" cy="3903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cxnSp>
        <p:nvCxnSpPr>
          <p:cNvPr id="94" name="l94"/>
          <p:cNvCxnSpPr/>
          <p:nvPr/>
        </p:nvCxnSpPr>
        <p:spPr>
          <a:xfrm flipH="1">
            <a:off x="882667" y="4714003.0"/>
            <a:ext cx="68309" cy="117101.0"/>
          </a:xfrm>
          <a:prstGeom prst="line">
            <a:avLst/>
          </a:prstGeom>
          <a:ln w="27940" cap="rnd">
            <a:solidFill>
              <a:srgbClr val="FFFFFF"/>
            </a:solidFill>
          </a:ln>
        </p:spPr>
      </p:cxnSp>
      <p:cxnSp>
        <p:nvCxnSpPr>
          <p:cNvPr id="95" name="l95"/>
          <p:cNvCxnSpPr/>
          <p:nvPr/>
        </p:nvCxnSpPr>
        <p:spPr>
          <a:xfrm>
            <a:off x="950976" y="4714003.0"/>
            <a:ext cx="68309" cy="117101.0"/>
          </a:xfrm>
          <a:prstGeom prst="line">
            <a:avLst/>
          </a:prstGeom>
          <a:ln w="27940" cap="rnd">
            <a:solidFill>
              <a:srgbClr val="FFFFFF"/>
            </a:solidFill>
          </a:ln>
        </p:spPr>
      </p:cxnSp>
      <p:cxnSp>
        <p:nvCxnSpPr>
          <p:cNvPr id="96" name="l96"/>
          <p:cNvCxnSpPr/>
          <p:nvPr/>
        </p:nvCxnSpPr>
        <p:spPr>
          <a:xfrm>
            <a:off x="882667" y="4835983.0"/>
            <a:ext cx="136618" cy="0.0"/>
          </a:xfrm>
          <a:prstGeom prst="line">
            <a:avLst/>
          </a:prstGeom>
          <a:ln w="27940" cap="rnd">
            <a:solidFill>
              <a:srgbClr val="FFFFFF"/>
            </a:solidFill>
          </a:ln>
        </p:spPr>
      </p:cxnSp>
      <p:sp>
        <p:nvSpPr>
          <p:cNvPr id="97" name="t97"/>
          <p:cNvSpPr txBox="1"/>
          <p:nvPr/>
        </p:nvSpPr>
        <p:spPr>
          <a:xfrm>
            <a:off x="1316736" y="4480560"/>
            <a:ext cx="2514600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Data Distribution</a:t>
            </a:r>
          </a:p>
        </p:txBody>
      </p:sp>
      <p:sp>
        <p:nvSpPr>
          <p:cNvPr id="98" name="r98"/>
          <p:cNvSpPr/>
          <p:nvPr/>
        </p:nvSpPr>
        <p:spPr>
          <a:xfrm>
            <a:off x="4160520" y="4480560"/>
            <a:ext cx="3950208" cy="603504"/>
          </a:xfrm>
          <a:prstGeom prst="roundRect">
            <a:avLst>
              <a:gd name="adj" fmla="val 9000"/>
            </a:avLst>
          </a:prstGeom>
          <a:solidFill>
            <a:srgbClr val="0C2138"/>
          </a:solidFill>
          <a:ln w="12700" cap="rnd">
            <a:solidFill>
              <a:srgbClr val="2E9BFF">
                <a:alpha val="45000"/>
              </a:srgbClr>
            </a:solidFill>
          </a:ln>
        </p:spPr>
        <p:txBody>
          <a:bodyPr/>
          <a:p/>
        </p:txBody>
      </p:sp>
      <p:sp>
        <p:nvSpPr>
          <p:cNvPr id="99" name="r99"/>
          <p:cNvSpPr/>
          <p:nvPr/>
        </p:nvSpPr>
        <p:spPr>
          <a:xfrm>
            <a:off x="4160520" y="4480560"/>
            <a:ext cx="54864" cy="60350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100" name="t100"/>
          <p:cNvSpPr txBox="1"/>
          <p:nvPr/>
        </p:nvSpPr>
        <p:spPr>
          <a:xfrm>
            <a:off x="4398264" y="4480560"/>
            <a:ext cx="3584448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Single machine</a:t>
            </a:r>
          </a:p>
        </p:txBody>
      </p:sp>
      <p:sp>
        <p:nvSpPr>
          <p:cNvPr id="101" name="r101"/>
          <p:cNvSpPr/>
          <p:nvPr/>
        </p:nvSpPr>
        <p:spPr>
          <a:xfrm>
            <a:off x="8275320" y="4480560"/>
            <a:ext cx="3349447" cy="603504"/>
          </a:xfrm>
          <a:prstGeom prst="roundRect">
            <a:avLst>
              <a:gd name="adj" fmla="val 9000"/>
            </a:avLst>
          </a:prstGeom>
          <a:solidFill>
            <a:srgbClr val="092A2E"/>
          </a:solidFill>
          <a:ln w="12700" cap="rnd">
            <a:solidFill>
              <a:srgbClr val="24E0D8">
                <a:alpha val="45000"/>
              </a:srgbClr>
            </a:solidFill>
          </a:ln>
        </p:spPr>
        <p:txBody>
          <a:bodyPr/>
          <a:p/>
        </p:txBody>
      </p:sp>
      <p:sp>
        <p:nvSpPr>
          <p:cNvPr id="102" name="r102"/>
          <p:cNvSpPr/>
          <p:nvPr/>
        </p:nvSpPr>
        <p:spPr>
          <a:xfrm>
            <a:off x="8275320" y="4480560"/>
            <a:ext cx="54864" cy="603504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103" name="t103"/>
          <p:cNvSpPr txBox="1"/>
          <p:nvPr/>
        </p:nvSpPr>
        <p:spPr>
          <a:xfrm>
            <a:off x="8513064" y="4480560"/>
            <a:ext cx="2983687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Multi-tenant &amp; replicated</a:t>
            </a:r>
          </a:p>
        </p:txBody>
      </p:sp>
      <p:sp>
        <p:nvSpPr>
          <p:cNvPr id="104" name="r104"/>
          <p:cNvSpPr/>
          <p:nvPr/>
        </p:nvSpPr>
        <p:spPr>
          <a:xfrm>
            <a:off x="566928" y="5189220"/>
            <a:ext cx="3429000" cy="603504"/>
          </a:xfrm>
          <a:prstGeom prst="roundRect">
            <a:avLst>
              <a:gd name="adj" fmla="val 9000"/>
            </a:avLst>
          </a:prstGeom>
          <a:solidFill>
            <a:srgbClr val="0E2038"/>
          </a:solidFill>
          <a:ln w="1270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105" name="o105"/>
          <p:cNvSpPr/>
          <p:nvPr/>
        </p:nvSpPr>
        <p:spPr>
          <a:xfrm>
            <a:off x="694944" y="5234940.0"/>
            <a:ext cx="512064" cy="512064"/>
          </a:xfrm>
          <a:prstGeom prst="ellipse">
            <a:avLst/>
          </a:prstGeom>
          <a:noFill/>
          <a:ln w="17780" cap="rnd">
            <a:solidFill>
              <a:srgbClr val="7C4D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106" name="o106"/>
          <p:cNvSpPr/>
          <p:nvPr/>
        </p:nvSpPr>
        <p:spPr>
          <a:xfrm>
            <a:off x="740664" y="5280660.0"/>
            <a:ext cx="420624" cy="420624"/>
          </a:xfrm>
          <a:prstGeom prst="ellipse">
            <a:avLst/>
          </a:prstGeom>
          <a:gradFill rotWithShape="1">
            <a:gsLst>
              <a:gs pos="0">
                <a:srgbClr val="7C4DFF"/>
              </a:gs>
              <a:gs pos="100000">
                <a:srgbClr val="2A156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107" name="ff107"/>
          <p:cNvSpPr/>
          <p:nvPr/>
        </p:nvSpPr>
        <p:spPr>
          <a:xfrm>
            <a:off x="828996" y="5368992.0"/>
            <a:ext cx="243961" cy="24396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0000" y="66000"/>
                </a:moveTo>
                <a:lnTo>
                  <a:pt x="48000" y="38000"/>
                </a:lnTo>
                <a:lnTo>
                  <a:pt x="62000" y="52000"/>
                </a:lnTo>
                <a:lnTo>
                  <a:pt x="34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08" name="ff108"/>
          <p:cNvSpPr/>
          <p:nvPr/>
        </p:nvSpPr>
        <p:spPr>
          <a:xfrm>
            <a:off x="828996" y="5368992.0"/>
            <a:ext cx="243961" cy="24396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2000" y="20000"/>
                </a:moveTo>
                <a:lnTo>
                  <a:pt x="80000" y="48000"/>
                </a:lnTo>
                <a:lnTo>
                  <a:pt x="70000" y="58000"/>
                </a:lnTo>
                <a:lnTo>
                  <a:pt x="42000" y="3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09" name="ff109"/>
          <p:cNvSpPr/>
          <p:nvPr/>
        </p:nvSpPr>
        <p:spPr>
          <a:xfrm>
            <a:off x="828996" y="5368992.0"/>
            <a:ext cx="243961" cy="24396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84000"/>
                </a:moveTo>
                <a:lnTo>
                  <a:pt x="64000" y="84000"/>
                </a:lnTo>
                <a:lnTo>
                  <a:pt x="64000" y="90000"/>
                </a:lnTo>
                <a:lnTo>
                  <a:pt x="24000" y="9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10" name="t110"/>
          <p:cNvSpPr txBox="1"/>
          <p:nvPr/>
        </p:nvSpPr>
        <p:spPr>
          <a:xfrm>
            <a:off x="1316736" y="5189220"/>
            <a:ext cx="2514600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Legal / Jurisdiction</a:t>
            </a:r>
          </a:p>
        </p:txBody>
      </p:sp>
      <p:sp>
        <p:nvSpPr>
          <p:cNvPr id="111" name="r111"/>
          <p:cNvSpPr/>
          <p:nvPr/>
        </p:nvSpPr>
        <p:spPr>
          <a:xfrm>
            <a:off x="4160520" y="5189220"/>
            <a:ext cx="3950208" cy="603504"/>
          </a:xfrm>
          <a:prstGeom prst="roundRect">
            <a:avLst>
              <a:gd name="adj" fmla="val 9000"/>
            </a:avLst>
          </a:prstGeom>
          <a:solidFill>
            <a:srgbClr val="0C2138"/>
          </a:solidFill>
          <a:ln w="12700" cap="rnd">
            <a:solidFill>
              <a:srgbClr val="2E9BFF">
                <a:alpha val="45000"/>
              </a:srgbClr>
            </a:solidFill>
          </a:ln>
        </p:spPr>
        <p:txBody>
          <a:bodyPr/>
          <a:p/>
        </p:txBody>
      </p:sp>
      <p:sp>
        <p:nvSpPr>
          <p:cNvPr id="112" name="r112"/>
          <p:cNvSpPr/>
          <p:nvPr/>
        </p:nvSpPr>
        <p:spPr>
          <a:xfrm>
            <a:off x="4160520" y="5189220"/>
            <a:ext cx="54864" cy="603504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/>
          <a:p/>
        </p:txBody>
      </p:sp>
      <p:sp>
        <p:nvSpPr>
          <p:cNvPr id="113" name="t113"/>
          <p:cNvSpPr txBox="1"/>
          <p:nvPr/>
        </p:nvSpPr>
        <p:spPr>
          <a:xfrm>
            <a:off x="4398264" y="5189220"/>
            <a:ext cx="3584448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Local &amp; straightforward</a:t>
            </a:r>
          </a:p>
        </p:txBody>
      </p:sp>
      <p:sp>
        <p:nvSpPr>
          <p:cNvPr id="114" name="r114"/>
          <p:cNvSpPr/>
          <p:nvPr/>
        </p:nvSpPr>
        <p:spPr>
          <a:xfrm>
            <a:off x="8275320" y="5189220"/>
            <a:ext cx="3349447" cy="603504"/>
          </a:xfrm>
          <a:prstGeom prst="roundRect">
            <a:avLst>
              <a:gd name="adj" fmla="val 9000"/>
            </a:avLst>
          </a:prstGeom>
          <a:solidFill>
            <a:srgbClr val="092A2E"/>
          </a:solidFill>
          <a:ln w="12700" cap="rnd">
            <a:solidFill>
              <a:srgbClr val="24E0D8">
                <a:alpha val="45000"/>
              </a:srgbClr>
            </a:solidFill>
          </a:ln>
        </p:spPr>
        <p:txBody>
          <a:bodyPr/>
          <a:p/>
        </p:txBody>
      </p:sp>
      <p:sp>
        <p:nvSpPr>
          <p:cNvPr id="115" name="r115"/>
          <p:cNvSpPr/>
          <p:nvPr/>
        </p:nvSpPr>
        <p:spPr>
          <a:xfrm>
            <a:off x="8275320" y="5189220"/>
            <a:ext cx="54864" cy="603504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116" name="t116"/>
          <p:cNvSpPr txBox="1"/>
          <p:nvPr/>
        </p:nvSpPr>
        <p:spPr>
          <a:xfrm>
            <a:off x="8513064" y="5189220"/>
            <a:ext cx="2983687" cy="60350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dirty="0">
                <a:solidFill>
                  <a:srgbClr val="E7F0FA"/>
                </a:solidFill>
                <a:latin typeface="Segoe UI"/>
                <a:cs typeface="Segoe UI"/>
              </a:rPr>
              <a:t>Cross-border &amp; complex</a:t>
            </a:r>
          </a:p>
        </p:txBody>
      </p:sp>
      <p:sp>
        <p:nvSpPr>
          <p:cNvPr id="117" name="r117"/>
          <p:cNvSpPr/>
          <p:nvPr/>
        </p:nvSpPr>
        <p:spPr>
          <a:xfrm>
            <a:off x="566928" y="5934456"/>
            <a:ext cx="11057839" cy="54864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2A1A10"/>
              </a:gs>
              <a:gs pos="100000">
                <a:srgbClr val="1A2E2C"/>
              </a:gs>
            </a:gsLst>
            <a:lin ang="5400000" scaled="1"/>
          </a:gradFill>
          <a:ln w="13970" cap="rnd">
            <a:solidFill>
              <a:srgbClr val="FFB020">
                <a:alpha val="80000"/>
              </a:srgbClr>
            </a:solidFill>
          </a:ln>
        </p:spPr>
        <p:txBody>
          <a:bodyPr/>
          <a:p/>
        </p:txBody>
      </p:sp>
      <p:cxnSp>
        <p:nvCxnSpPr>
          <p:cNvPr id="118" name="l118"/>
          <p:cNvCxnSpPr/>
          <p:nvPr/>
        </p:nvCxnSpPr>
        <p:spPr>
          <a:xfrm>
            <a:off x="875995" y="6104534"/>
            <a:ext cx="0" cy="208483"/>
          </a:xfrm>
          <a:prstGeom prst="line">
            <a:avLst/>
          </a:prstGeom>
          <a:ln w="43180" cap="rnd">
            <a:solidFill>
              <a:srgbClr val="FFB020"/>
            </a:solidFill>
          </a:ln>
        </p:spPr>
      </p:cxnSp>
      <p:sp>
        <p:nvSpPr>
          <p:cNvPr id="119" name="ff119"/>
          <p:cNvSpPr/>
          <p:nvPr/>
        </p:nvSpPr>
        <p:spPr>
          <a:xfrm>
            <a:off x="804672" y="6071616"/>
            <a:ext cx="274320" cy="27432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8000" y="16000"/>
                </a:moveTo>
                <a:lnTo>
                  <a:pt x="78000" y="16000"/>
                </a:lnTo>
                <a:lnTo>
                  <a:pt x="66000" y="32000"/>
                </a:lnTo>
                <a:lnTo>
                  <a:pt x="78000" y="48000"/>
                </a:lnTo>
                <a:lnTo>
                  <a:pt x="28000" y="48000"/>
                </a:lnTo>
                <a:close/>
              </a:path>
            </a:pathLst>
          </a:custGeom>
          <a:solidFill>
            <a:srgbClr val="FFB020"/>
          </a:solidFill>
          <a:ln>
            <a:noFill/>
          </a:ln>
        </p:spPr>
        <p:txBody>
          <a:bodyPr/>
          <a:p/>
        </p:txBody>
      </p:sp>
      <p:sp>
        <p:nvSpPr>
          <p:cNvPr id="120" name="t120"/>
          <p:cNvSpPr txBox="1"/>
          <p:nvPr/>
        </p:nvSpPr>
        <p:spPr>
          <a:xfrm>
            <a:off x="1298448" y="5934456"/>
            <a:ext cx="10143439" cy="54864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Cloud forensics is more complex — investigators have no direct physical control over the infrastructure.</a:t>
            </a:r>
          </a:p>
        </p:txBody>
      </p:sp>
    </p:spTree>
  </p:cSld>
  <p:transition spd="med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A2E"/>
              </a:gs>
              <a:gs pos="55000">
                <a:srgbClr val="0A1526"/>
              </a:gs>
              <a:gs pos="100000">
                <a:srgbClr val="081120"/>
              </a:gs>
            </a:gsLst>
            <a:lin ang="3000000" scaled="1"/>
          </a:gradFill>
          <a:ln>
            <a:noFill/>
          </a:ln>
        </p:spPr>
        <p:txBody>
          <a:bodyPr/>
          <a:p/>
        </p:txBody>
      </p:sp>
      <p:cxnSp>
        <p:nvCxnSpPr>
          <p:cNvPr id="3" name="l3"/>
          <p:cNvCxnSpPr/>
          <p:nvPr/>
        </p:nvCxnSpPr>
        <p:spPr>
          <a:xfrm>
            <a:off x="-914400" y="-91440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4" name="l4"/>
          <p:cNvCxnSpPr/>
          <p:nvPr/>
        </p:nvCxnSpPr>
        <p:spPr>
          <a:xfrm>
            <a:off x="-914400" y="-34747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5" name="l5"/>
          <p:cNvCxnSpPr/>
          <p:nvPr/>
        </p:nvCxnSpPr>
        <p:spPr>
          <a:xfrm>
            <a:off x="-914400" y="21945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6" name="l6"/>
          <p:cNvCxnSpPr/>
          <p:nvPr/>
        </p:nvCxnSpPr>
        <p:spPr>
          <a:xfrm>
            <a:off x="-914400" y="78638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7" name="l7"/>
          <p:cNvCxnSpPr/>
          <p:nvPr/>
        </p:nvCxnSpPr>
        <p:spPr>
          <a:xfrm>
            <a:off x="-914400" y="135331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8" name="l8"/>
          <p:cNvCxnSpPr/>
          <p:nvPr/>
        </p:nvCxnSpPr>
        <p:spPr>
          <a:xfrm>
            <a:off x="-914400" y="192024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9" name="l9"/>
          <p:cNvCxnSpPr/>
          <p:nvPr/>
        </p:nvCxnSpPr>
        <p:spPr>
          <a:xfrm>
            <a:off x="-914400" y="248716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0" name="l10"/>
          <p:cNvCxnSpPr/>
          <p:nvPr/>
        </p:nvCxnSpPr>
        <p:spPr>
          <a:xfrm>
            <a:off x="-914400" y="305409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1" name="l11"/>
          <p:cNvCxnSpPr/>
          <p:nvPr/>
        </p:nvCxnSpPr>
        <p:spPr>
          <a:xfrm>
            <a:off x="-914400" y="362102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2" name="l12"/>
          <p:cNvCxnSpPr/>
          <p:nvPr/>
        </p:nvCxnSpPr>
        <p:spPr>
          <a:xfrm>
            <a:off x="-914400" y="418795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3" name="l13"/>
          <p:cNvCxnSpPr/>
          <p:nvPr/>
        </p:nvCxnSpPr>
        <p:spPr>
          <a:xfrm>
            <a:off x="-914400" y="475488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4" name="l14"/>
          <p:cNvCxnSpPr/>
          <p:nvPr/>
        </p:nvCxnSpPr>
        <p:spPr>
          <a:xfrm>
            <a:off x="-914400" y="532180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5" name="l15"/>
          <p:cNvCxnSpPr/>
          <p:nvPr/>
        </p:nvCxnSpPr>
        <p:spPr>
          <a:xfrm>
            <a:off x="-914400" y="588873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6" name="l16"/>
          <p:cNvCxnSpPr/>
          <p:nvPr/>
        </p:nvCxnSpPr>
        <p:spPr>
          <a:xfrm>
            <a:off x="-914400" y="645566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7" name="l17"/>
          <p:cNvCxnSpPr/>
          <p:nvPr/>
        </p:nvCxnSpPr>
        <p:spPr>
          <a:xfrm>
            <a:off x="-914400" y="702259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8" name="l18"/>
          <p:cNvCxnSpPr/>
          <p:nvPr/>
        </p:nvCxnSpPr>
        <p:spPr>
          <a:xfrm>
            <a:off x="-914400" y="758952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sp>
        <p:nvSpPr>
          <p:cNvPr id="19" name="o19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2E9BFF">
              <a:alpha val="8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o20"/>
          <p:cNvSpPr/>
          <p:nvPr/>
        </p:nvSpPr>
        <p:spPr>
          <a:xfrm>
            <a:off x="-1463040" y="4023360"/>
            <a:ext cx="3840480" cy="3840480"/>
          </a:xfrm>
          <a:prstGeom prst="ellipse">
            <a:avLst/>
          </a:prstGeom>
          <a:solidFill>
            <a:srgbClr val="24E0D8">
              <a:alpha val="7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r2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22" name="r22"/>
          <p:cNvSpPr/>
          <p:nvPr/>
        </p:nvSpPr>
        <p:spPr>
          <a:xfrm>
            <a:off x="566928" y="402336"/>
            <a:ext cx="274320" cy="50292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23" name="t23"/>
          <p:cNvSpPr txBox="1"/>
          <p:nvPr/>
        </p:nvSpPr>
        <p:spPr>
          <a:xfrm>
            <a:off x="950976" y="301752"/>
            <a:ext cx="548640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b="1" spc="320" dirty="0">
                <a:solidFill>
                  <a:srgbClr val="24E0D8"/>
                </a:solidFill>
                <a:latin typeface="Segoe UI"/>
                <a:cs typeface="Segoe UI"/>
              </a:rPr>
              <a:t>WHAT MAKES EACH CASE HARD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566928" y="658368"/>
            <a:ext cx="10424160" cy="8686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3000" b="1" dirty="0">
                <a:solidFill>
                  <a:srgbClr val="FFFFFF"/>
                </a:solidFill>
                <a:latin typeface="Poppins"/>
                <a:cs typeface="Poppins"/>
              </a:rPr>
              <a:t>Investigation Challenges</a:t>
            </a:r>
          </a:p>
        </p:txBody>
      </p:sp>
      <p:cxnSp>
        <p:nvCxnSpPr>
          <p:cNvPr id="25" name="l25"/>
          <p:cNvCxnSpPr/>
          <p:nvPr/>
        </p:nvCxnSpPr>
        <p:spPr>
          <a:xfrm>
            <a:off x="566928" y="1481328"/>
            <a:ext cx="11055096" cy="0"/>
          </a:xfrm>
          <a:prstGeom prst="line">
            <a:avLst/>
          </a:prstGeom>
          <a:ln w="13970" cap="rnd">
            <a:solidFill>
              <a:srgbClr val="24476E">
                <a:alpha val="70000"/>
              </a:srgbClr>
            </a:solidFill>
          </a:ln>
        </p:spPr>
      </p:cxnSp>
      <p:cxnSp>
        <p:nvCxnSpPr>
          <p:cNvPr id="26" name="l26"/>
          <p:cNvCxnSpPr/>
          <p:nvPr/>
        </p:nvCxnSpPr>
        <p:spPr>
          <a:xfrm>
            <a:off x="566928" y="6428232"/>
            <a:ext cx="11055096" cy="0"/>
          </a:xfrm>
          <a:prstGeom prst="line">
            <a:avLst/>
          </a:prstGeom>
          <a:ln w="12700" cap="rnd">
            <a:solidFill>
              <a:srgbClr val="1C3A5C">
                <a:alpha val="60000"/>
              </a:srgbClr>
            </a:solidFill>
          </a:ln>
        </p:spPr>
      </p:cxnSp>
      <p:sp>
        <p:nvSpPr>
          <p:cNvPr id="27" name="t27"/>
          <p:cNvSpPr txBox="1"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950" spc="150" dirty="0">
                <a:solidFill>
                  <a:srgbClr val="9DB4CC"/>
                </a:solidFill>
                <a:latin typeface="Segoe UI"/>
                <a:cs typeface="Segoe UI"/>
              </a:rPr>
              <a:t>Digital Forensics vs Cloud Forensics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9326880" y="6455664"/>
            <a:ext cx="22860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r">
              <a:buNone/>
            </a:pPr>
            <a:r>
              <a:rPr lang="en-US" sz="1000" b="1" dirty="0">
                <a:solidFill>
                  <a:srgbClr val="24E0D8"/>
                </a:solidFill>
                <a:latin typeface="Segoe UI"/>
                <a:cs typeface="Segoe UI"/>
              </a:rPr>
              <a:t>06</a:t>
            </a:r>
            <a:r>
              <a:rPr lang="en-US" sz="1000" dirty="0">
                <a:solidFill>
                  <a:srgbClr val="9DB4CC"/>
                </a:solidFill>
                <a:latin typeface="Segoe UI"/>
                <a:cs typeface="Segoe UI"/>
              </a:rPr>
              <a:t> / 08</a:t>
            </a:r>
          </a:p>
        </p:txBody>
      </p:sp>
      <p:sp>
        <p:nvSpPr>
          <p:cNvPr id="29" name="r29"/>
          <p:cNvSpPr/>
          <p:nvPr/>
        </p:nvSpPr>
        <p:spPr>
          <a:xfrm>
            <a:off x="566928" y="1691640"/>
            <a:ext cx="5346039.5" cy="4114800"/>
          </a:xfrm>
          <a:prstGeom prst="roundRect">
            <a:avLst>
              <a:gd name="adj" fmla="val 6000"/>
            </a:avLst>
          </a:prstGeom>
          <a:solidFill>
            <a:srgbClr val="0E2038">
              <a:alpha val="95000"/>
            </a:srgbClr>
          </a:solidFill>
          <a:ln w="16510" cap="rnd">
            <a:solidFill>
              <a:srgbClr val="24E0D8"/>
            </a:solidFill>
          </a:ln>
          <a:effectLst>
            <a:outerShdw blurRad="120000" dist="50000" dir="5400000" rotWithShape="0">
              <a:srgbClr val="000000">
                <a:alpha val="42000"/>
              </a:srgbClr>
            </a:outerShdw>
          </a:effectLst>
        </p:spPr>
        <p:txBody>
          <a:bodyPr/>
          <a:p/>
        </p:txBody>
      </p:sp>
      <p:sp>
        <p:nvSpPr>
          <p:cNvPr id="30" name="r30"/>
          <p:cNvSpPr/>
          <p:nvPr/>
        </p:nvSpPr>
        <p:spPr>
          <a:xfrm>
            <a:off x="566928" y="1691640"/>
            <a:ext cx="5346039.5" cy="82296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E0D8"/>
              </a:gs>
              <a:gs pos="100000">
                <a:srgbClr val="0E7C86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31" name="r31"/>
          <p:cNvSpPr/>
          <p:nvPr/>
        </p:nvSpPr>
        <p:spPr>
          <a:xfrm>
            <a:off x="566928" y="2167128"/>
            <a:ext cx="5346039.5" cy="347472"/>
          </a:xfrm>
          <a:prstGeom prst="rect">
            <a:avLst/>
          </a:prstGeom>
          <a:solidFill>
            <a:srgbClr val="0E2038">
              <a:alpha val="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2" name="o32"/>
          <p:cNvSpPr/>
          <p:nvPr/>
        </p:nvSpPr>
        <p:spPr>
          <a:xfrm>
            <a:off x="758952" y="1746504"/>
            <a:ext cx="713232" cy="713232"/>
          </a:xfrm>
          <a:prstGeom prst="ellipse">
            <a:avLst/>
          </a:prstGeom>
          <a:noFill/>
          <a:ln w="17780" cap="rnd">
            <a:solidFill>
              <a:srgbClr val="FFFF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33" name="o33"/>
          <p:cNvSpPr/>
          <p:nvPr/>
        </p:nvSpPr>
        <p:spPr>
          <a:xfrm>
            <a:off x="804672" y="1792224"/>
            <a:ext cx="621792" cy="621792"/>
          </a:xfrm>
          <a:prstGeom prst="ellipse">
            <a:avLst/>
          </a:prstGeom>
          <a:gradFill rotWithShape="1">
            <a:gsLst>
              <a:gs pos="0">
                <a:srgbClr val="FFFFFF"/>
              </a:gs>
              <a:gs pos="100000">
                <a:srgbClr val="24E0D8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34" name="ff34"/>
          <p:cNvSpPr/>
          <p:nvPr/>
        </p:nvSpPr>
        <p:spPr>
          <a:xfrm>
            <a:off x="941467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000" y="72000"/>
                </a:moveTo>
                <a:cubicBezTo>
                  <a:pt x="12" y="72"/>
                  <a:pt x="10" y="52"/>
                  <a:pt x="28" y="50"/>
                </a:cubicBezTo>
                <a:cubicBezTo>
                  <a:pt x="28" y="30"/>
                  <a:pt x="58" y="26"/>
                  <a:pt x="62" y="46"/>
                </a:cubicBezTo>
                <a:cubicBezTo>
                  <a:pt x="84" y="42"/>
                  <a:pt x="92" y="70"/>
                  <a:pt x="74" y="72"/>
                </a:cubicBezTo>
                <a:lnTo>
                  <a:pt x="26000" y="72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5" name="t35"/>
          <p:cNvSpPr txBox="1"/>
          <p:nvPr/>
        </p:nvSpPr>
        <p:spPr>
          <a:xfrm>
            <a:off x="1554480" y="1911096"/>
            <a:ext cx="4248759.5" cy="402336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750" b="1" dirty="0">
                <a:solidFill>
                  <a:srgbClr val="FFFFFF"/>
                </a:solidFill>
                <a:latin typeface="Segoe UI"/>
                <a:cs typeface="Segoe UI"/>
              </a:rPr>
              <a:t>Cloud Forensic Challenges</a:t>
            </a:r>
          </a:p>
        </p:txBody>
      </p:sp>
      <p:sp>
        <p:nvSpPr>
          <p:cNvPr id="36" name="r36"/>
          <p:cNvSpPr/>
          <p:nvPr/>
        </p:nvSpPr>
        <p:spPr>
          <a:xfrm>
            <a:off x="822960" y="2770632"/>
            <a:ext cx="4833975.5" cy="438912.0"/>
          </a:xfrm>
          <a:prstGeom prst="roundRect">
            <a:avLst>
              <a:gd name="adj" fmla="val 12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37" name="o37"/>
          <p:cNvSpPr/>
          <p:nvPr/>
        </p:nvSpPr>
        <p:spPr>
          <a:xfrm>
            <a:off x="905256" y="2761488.0"/>
            <a:ext cx="457200" cy="457200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38" name="o38"/>
          <p:cNvSpPr/>
          <p:nvPr/>
        </p:nvSpPr>
        <p:spPr>
          <a:xfrm>
            <a:off x="950976" y="2807208.0"/>
            <a:ext cx="365760" cy="365760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39" name="o39"/>
          <p:cNvSpPr/>
          <p:nvPr/>
        </p:nvSpPr>
        <p:spPr>
          <a:xfrm>
            <a:off x="1054851" y="2933029.0"/>
            <a:ext cx="43891" cy="438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0" name="o40"/>
          <p:cNvSpPr/>
          <p:nvPr/>
        </p:nvSpPr>
        <p:spPr>
          <a:xfrm>
            <a:off x="1111910" y="2933029.0"/>
            <a:ext cx="43891" cy="438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1" name="o41"/>
          <p:cNvSpPr/>
          <p:nvPr/>
        </p:nvSpPr>
        <p:spPr>
          <a:xfrm>
            <a:off x="1168968" y="2933029.0"/>
            <a:ext cx="43891" cy="438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2" name="ff42"/>
          <p:cNvSpPr/>
          <p:nvPr/>
        </p:nvSpPr>
        <p:spPr>
          <a:xfrm>
            <a:off x="1024128" y="2880360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000" y="86000"/>
                </a:moveTo>
                <a:cubicBezTo>
                  <a:pt x="14" y="60"/>
                  <a:pt x="86" y="60"/>
                  <a:pt x="86" y="8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3" name="t43"/>
          <p:cNvSpPr txBox="1"/>
          <p:nvPr/>
        </p:nvSpPr>
        <p:spPr>
          <a:xfrm>
            <a:off x="1499616" y="2770632"/>
            <a:ext cx="4157319.5" cy="438912.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Multi-tenancy — shared infrastructure</a:t>
            </a:r>
          </a:p>
        </p:txBody>
      </p:sp>
      <p:sp>
        <p:nvSpPr>
          <p:cNvPr id="44" name="r44"/>
          <p:cNvSpPr/>
          <p:nvPr/>
        </p:nvSpPr>
        <p:spPr>
          <a:xfrm>
            <a:off x="822960" y="3337560.0"/>
            <a:ext cx="4833975.5" cy="438912.0"/>
          </a:xfrm>
          <a:prstGeom prst="roundRect">
            <a:avLst>
              <a:gd name="adj" fmla="val 12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45" name="o45"/>
          <p:cNvSpPr/>
          <p:nvPr/>
        </p:nvSpPr>
        <p:spPr>
          <a:xfrm>
            <a:off x="905256" y="3328416.0"/>
            <a:ext cx="457200" cy="457200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46" name="o46"/>
          <p:cNvSpPr/>
          <p:nvPr/>
        </p:nvSpPr>
        <p:spPr>
          <a:xfrm>
            <a:off x="950976" y="3374136.0"/>
            <a:ext cx="365760" cy="365760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47" name="ff47"/>
          <p:cNvSpPr/>
          <p:nvPr/>
        </p:nvSpPr>
        <p:spPr>
          <a:xfrm>
            <a:off x="1024128" y="3447288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000" y="34000"/>
                </a:moveTo>
                <a:cubicBezTo>
                  <a:pt x="32" y="20"/>
                  <a:pt x="48" y="48"/>
                  <a:pt x="66" y="34"/>
                </a:cubicBezTo>
                <a:cubicBezTo>
                  <a:pt x="76" y="26"/>
                  <a:pt x="82" y="30"/>
                  <a:pt x="88" y="34"/>
                </a:cubicBezTo>
              </a:path>
            </a:pathLst>
          </a:custGeom>
          <a:noFill/>
          <a:ln w="3302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48" name="ff48"/>
          <p:cNvSpPr/>
          <p:nvPr/>
        </p:nvSpPr>
        <p:spPr>
          <a:xfrm>
            <a:off x="1024128" y="3447288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000" y="52000"/>
                </a:moveTo>
                <a:cubicBezTo>
                  <a:pt x="32" y="38"/>
                  <a:pt x="48" y="66"/>
                  <a:pt x="66" y="52"/>
                </a:cubicBezTo>
                <a:cubicBezTo>
                  <a:pt x="76" y="44"/>
                  <a:pt x="82" y="48"/>
                  <a:pt x="88" y="52"/>
                </a:cubicBezTo>
              </a:path>
            </a:pathLst>
          </a:custGeom>
          <a:noFill/>
          <a:ln w="3302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49" name="ff49"/>
          <p:cNvSpPr/>
          <p:nvPr/>
        </p:nvSpPr>
        <p:spPr>
          <a:xfrm>
            <a:off x="1024128" y="3447288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000" y="70000"/>
                </a:moveTo>
                <a:cubicBezTo>
                  <a:pt x="32" y="56"/>
                  <a:pt x="48" y="84"/>
                  <a:pt x="66" y="70"/>
                </a:cubicBezTo>
                <a:cubicBezTo>
                  <a:pt x="76" y="62"/>
                  <a:pt x="82" y="66"/>
                  <a:pt x="88" y="70"/>
                </a:cubicBezTo>
              </a:path>
            </a:pathLst>
          </a:custGeom>
          <a:noFill/>
          <a:ln w="3302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50" name="t50"/>
          <p:cNvSpPr txBox="1"/>
          <p:nvPr/>
        </p:nvSpPr>
        <p:spPr>
          <a:xfrm>
            <a:off x="1499616" y="3337560.0"/>
            <a:ext cx="4157319.5" cy="438912.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Data volatility — evidence changes fast</a:t>
            </a:r>
          </a:p>
        </p:txBody>
      </p:sp>
      <p:sp>
        <p:nvSpPr>
          <p:cNvPr id="51" name="r51"/>
          <p:cNvSpPr/>
          <p:nvPr/>
        </p:nvSpPr>
        <p:spPr>
          <a:xfrm>
            <a:off x="822960" y="3904488.0"/>
            <a:ext cx="4833975.5" cy="438912.0"/>
          </a:xfrm>
          <a:prstGeom prst="roundRect">
            <a:avLst>
              <a:gd name="adj" fmla="val 12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2" name="o52"/>
          <p:cNvSpPr/>
          <p:nvPr/>
        </p:nvSpPr>
        <p:spPr>
          <a:xfrm>
            <a:off x="905256" y="3895344.0"/>
            <a:ext cx="457200" cy="457200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53" name="o53"/>
          <p:cNvSpPr/>
          <p:nvPr/>
        </p:nvSpPr>
        <p:spPr>
          <a:xfrm>
            <a:off x="950976" y="3941064.0"/>
            <a:ext cx="365760" cy="365760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54" name="ff54"/>
          <p:cNvSpPr/>
          <p:nvPr/>
        </p:nvSpPr>
        <p:spPr>
          <a:xfrm>
            <a:off x="1024128" y="4014216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0000" y="66000"/>
                </a:moveTo>
                <a:lnTo>
                  <a:pt x="48000" y="38000"/>
                </a:lnTo>
                <a:lnTo>
                  <a:pt x="62000" y="52000"/>
                </a:lnTo>
                <a:lnTo>
                  <a:pt x="34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55" name="ff55"/>
          <p:cNvSpPr/>
          <p:nvPr/>
        </p:nvSpPr>
        <p:spPr>
          <a:xfrm>
            <a:off x="1024128" y="4014216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2000" y="20000"/>
                </a:moveTo>
                <a:lnTo>
                  <a:pt x="80000" y="48000"/>
                </a:lnTo>
                <a:lnTo>
                  <a:pt x="70000" y="58000"/>
                </a:lnTo>
                <a:lnTo>
                  <a:pt x="42000" y="3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56" name="ff56"/>
          <p:cNvSpPr/>
          <p:nvPr/>
        </p:nvSpPr>
        <p:spPr>
          <a:xfrm>
            <a:off x="1024128" y="4014216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84000"/>
                </a:moveTo>
                <a:lnTo>
                  <a:pt x="64000" y="84000"/>
                </a:lnTo>
                <a:lnTo>
                  <a:pt x="64000" y="90000"/>
                </a:lnTo>
                <a:lnTo>
                  <a:pt x="24000" y="9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57" name="t57"/>
          <p:cNvSpPr txBox="1"/>
          <p:nvPr/>
        </p:nvSpPr>
        <p:spPr>
          <a:xfrm>
            <a:off x="1499616" y="3904488.0"/>
            <a:ext cx="4157319.5" cy="438912.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Jurisdiction &amp; legal complexity</a:t>
            </a:r>
          </a:p>
        </p:txBody>
      </p:sp>
      <p:sp>
        <p:nvSpPr>
          <p:cNvPr id="58" name="r58"/>
          <p:cNvSpPr/>
          <p:nvPr/>
        </p:nvSpPr>
        <p:spPr>
          <a:xfrm>
            <a:off x="822960" y="4471416.0"/>
            <a:ext cx="4833975.5" cy="438912.0"/>
          </a:xfrm>
          <a:prstGeom prst="roundRect">
            <a:avLst>
              <a:gd name="adj" fmla="val 12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9" name="o59"/>
          <p:cNvSpPr/>
          <p:nvPr/>
        </p:nvSpPr>
        <p:spPr>
          <a:xfrm>
            <a:off x="905256" y="4462272.0"/>
            <a:ext cx="457200" cy="457200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60" name="o60"/>
          <p:cNvSpPr/>
          <p:nvPr/>
        </p:nvSpPr>
        <p:spPr>
          <a:xfrm>
            <a:off x="950976" y="4507992.0"/>
            <a:ext cx="365760" cy="365760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61" name="r61"/>
          <p:cNvSpPr/>
          <p:nvPr/>
        </p:nvSpPr>
        <p:spPr>
          <a:xfrm>
            <a:off x="1059240" y="4668926.0"/>
            <a:ext cx="74615" cy="43891"/>
          </a:xfrm>
          <a:prstGeom prst="roundRect">
            <a:avLst>
              <a:gd name="adj" fmla="val 50000"/>
            </a:avLst>
          </a:prstGeom>
          <a:noFill/>
          <a:ln w="3810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62" name="r62"/>
          <p:cNvSpPr/>
          <p:nvPr/>
        </p:nvSpPr>
        <p:spPr>
          <a:xfrm>
            <a:off x="1133856" y="4668926.0"/>
            <a:ext cx="74615" cy="43891"/>
          </a:xfrm>
          <a:prstGeom prst="roundRect">
            <a:avLst>
              <a:gd name="adj" fmla="val 50000"/>
            </a:avLst>
          </a:prstGeom>
          <a:noFill/>
          <a:ln w="3810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63" name="ff63"/>
          <p:cNvSpPr/>
          <p:nvPr/>
        </p:nvSpPr>
        <p:spPr>
          <a:xfrm>
            <a:off x="1024128" y="4581144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0000" y="48000"/>
                </a:moveTo>
                <a:lnTo>
                  <a:pt x="60000" y="48000"/>
                </a:lnTo>
                <a:lnTo>
                  <a:pt x="60000" y="52000"/>
                </a:lnTo>
                <a:lnTo>
                  <a:pt x="40000" y="52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64" name="t64"/>
          <p:cNvSpPr txBox="1"/>
          <p:nvPr/>
        </p:nvSpPr>
        <p:spPr>
          <a:xfrm>
            <a:off x="1499616" y="4471416.0"/>
            <a:ext cx="4157319.5" cy="438912.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Dependency on CSP cooperation</a:t>
            </a:r>
          </a:p>
        </p:txBody>
      </p:sp>
      <p:sp>
        <p:nvSpPr>
          <p:cNvPr id="65" name="r65"/>
          <p:cNvSpPr/>
          <p:nvPr/>
        </p:nvSpPr>
        <p:spPr>
          <a:xfrm>
            <a:off x="822960" y="5038344.0"/>
            <a:ext cx="4833975.5" cy="438912.0"/>
          </a:xfrm>
          <a:prstGeom prst="roundRect">
            <a:avLst>
              <a:gd name="adj" fmla="val 12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66" name="o66"/>
          <p:cNvSpPr/>
          <p:nvPr/>
        </p:nvSpPr>
        <p:spPr>
          <a:xfrm>
            <a:off x="905256" y="5029200.0"/>
            <a:ext cx="457200" cy="457200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67" name="o67"/>
          <p:cNvSpPr/>
          <p:nvPr/>
        </p:nvSpPr>
        <p:spPr>
          <a:xfrm>
            <a:off x="950976" y="5074920.0"/>
            <a:ext cx="365760" cy="365760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68" name="o68"/>
          <p:cNvSpPr/>
          <p:nvPr/>
        </p:nvSpPr>
        <p:spPr>
          <a:xfrm>
            <a:off x="1076797" y="5200741.0"/>
            <a:ext cx="114117" cy="114117"/>
          </a:xfrm>
          <a:prstGeom prst="ellipse">
            <a:avLst/>
          </a:prstGeom>
          <a:noFill/>
          <a:ln w="40640" cap="rnd">
            <a:solidFill>
              <a:srgbClr val="FFFFFF"/>
            </a:solidFill>
          </a:ln>
        </p:spPr>
        <p:txBody>
          <a:bodyPr/>
          <a:p/>
        </p:txBody>
      </p:sp>
      <p:sp>
        <p:nvSpPr>
          <p:cNvPr id="69" name="o69"/>
          <p:cNvSpPr/>
          <p:nvPr/>
        </p:nvSpPr>
        <p:spPr>
          <a:xfrm>
            <a:off x="1201888" y="5246828.0"/>
            <a:ext cx="21945" cy="219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0" name="o70"/>
          <p:cNvSpPr/>
          <p:nvPr/>
        </p:nvSpPr>
        <p:spPr>
          <a:xfrm>
            <a:off x="1178748" y="5302692.0"/>
            <a:ext cx="21945" cy="219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1" name="o71"/>
          <p:cNvSpPr/>
          <p:nvPr/>
        </p:nvSpPr>
        <p:spPr>
          <a:xfrm>
            <a:off x="1122884" y="5325832.0"/>
            <a:ext cx="21945" cy="219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2" name="o72"/>
          <p:cNvSpPr/>
          <p:nvPr/>
        </p:nvSpPr>
        <p:spPr>
          <a:xfrm>
            <a:off x="1067019" y="5302692.0"/>
            <a:ext cx="21945" cy="219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3" name="o73"/>
          <p:cNvSpPr/>
          <p:nvPr/>
        </p:nvSpPr>
        <p:spPr>
          <a:xfrm>
            <a:off x="1043879" y="5246828.0"/>
            <a:ext cx="21945" cy="219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4" name="o74"/>
          <p:cNvSpPr/>
          <p:nvPr/>
        </p:nvSpPr>
        <p:spPr>
          <a:xfrm>
            <a:off x="1067019" y="5190963.0"/>
            <a:ext cx="21945" cy="219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5" name="o75"/>
          <p:cNvSpPr/>
          <p:nvPr/>
        </p:nvSpPr>
        <p:spPr>
          <a:xfrm>
            <a:off x="1122883" y="5167823.0"/>
            <a:ext cx="21945" cy="219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6" name="o76"/>
          <p:cNvSpPr/>
          <p:nvPr/>
        </p:nvSpPr>
        <p:spPr>
          <a:xfrm>
            <a:off x="1178748" y="5190963.0"/>
            <a:ext cx="21945" cy="219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7" name="o77"/>
          <p:cNvSpPr/>
          <p:nvPr/>
        </p:nvSpPr>
        <p:spPr>
          <a:xfrm>
            <a:off x="1111910" y="5235854.0"/>
            <a:ext cx="43891" cy="438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8" name="t78"/>
          <p:cNvSpPr txBox="1"/>
          <p:nvPr/>
        </p:nvSpPr>
        <p:spPr>
          <a:xfrm>
            <a:off x="1499616" y="5038344.0"/>
            <a:ext cx="4157319.5" cy="438912.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Lack of standardised tools / procedures</a:t>
            </a:r>
          </a:p>
        </p:txBody>
      </p:sp>
      <p:sp>
        <p:nvSpPr>
          <p:cNvPr id="79" name="r79"/>
          <p:cNvSpPr/>
          <p:nvPr/>
        </p:nvSpPr>
        <p:spPr>
          <a:xfrm>
            <a:off x="6278727.5" y="1691640"/>
            <a:ext cx="5346039.5" cy="4114800"/>
          </a:xfrm>
          <a:prstGeom prst="roundRect">
            <a:avLst>
              <a:gd name="adj" fmla="val 6000"/>
            </a:avLst>
          </a:prstGeom>
          <a:solidFill>
            <a:srgbClr val="0E2038">
              <a:alpha val="95000"/>
            </a:srgbClr>
          </a:solidFill>
          <a:ln w="16510" cap="rnd">
            <a:solidFill>
              <a:srgbClr val="2E9BFF"/>
            </a:solidFill>
          </a:ln>
          <a:effectLst>
            <a:outerShdw blurRad="120000" dist="50000" dir="5400000" rotWithShape="0">
              <a:srgbClr val="000000">
                <a:alpha val="42000"/>
              </a:srgbClr>
            </a:outerShdw>
          </a:effectLst>
        </p:spPr>
        <p:txBody>
          <a:bodyPr/>
          <a:p/>
        </p:txBody>
      </p:sp>
      <p:sp>
        <p:nvSpPr>
          <p:cNvPr id="80" name="r80"/>
          <p:cNvSpPr/>
          <p:nvPr/>
        </p:nvSpPr>
        <p:spPr>
          <a:xfrm>
            <a:off x="6278727.5" y="1691640"/>
            <a:ext cx="5346039.5" cy="82296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81" name="r81"/>
          <p:cNvSpPr/>
          <p:nvPr/>
        </p:nvSpPr>
        <p:spPr>
          <a:xfrm>
            <a:off x="6278727.5" y="2167128"/>
            <a:ext cx="5346039.5" cy="347472"/>
          </a:xfrm>
          <a:prstGeom prst="rect">
            <a:avLst/>
          </a:prstGeom>
          <a:solidFill>
            <a:srgbClr val="0E2038">
              <a:alpha val="0"/>
            </a:srgbClr>
          </a:solidFill>
          <a:ln>
            <a:noFill/>
          </a:ln>
        </p:spPr>
        <p:txBody>
          <a:bodyPr/>
          <a:p/>
        </p:txBody>
      </p:sp>
      <p:sp>
        <p:nvSpPr>
          <p:cNvPr id="82" name="o82"/>
          <p:cNvSpPr/>
          <p:nvPr/>
        </p:nvSpPr>
        <p:spPr>
          <a:xfrm>
            <a:off x="6470751.5" y="1746504"/>
            <a:ext cx="713232" cy="713232"/>
          </a:xfrm>
          <a:prstGeom prst="ellipse">
            <a:avLst/>
          </a:prstGeom>
          <a:noFill/>
          <a:ln w="17780" cap="rnd">
            <a:solidFill>
              <a:srgbClr val="FFFF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83" name="o83"/>
          <p:cNvSpPr/>
          <p:nvPr/>
        </p:nvSpPr>
        <p:spPr>
          <a:xfrm>
            <a:off x="6516471.5" y="1792224"/>
            <a:ext cx="621792" cy="621792"/>
          </a:xfrm>
          <a:prstGeom prst="ellipse">
            <a:avLst/>
          </a:prstGeom>
          <a:gradFill rotWithShape="1">
            <a:gsLst>
              <a:gs pos="0">
                <a:srgbClr val="FFFFFF"/>
              </a:gs>
              <a:gs pos="100000">
                <a:srgbClr val="2E9BFF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84" name="ff84"/>
          <p:cNvSpPr/>
          <p:nvPr/>
        </p:nvSpPr>
        <p:spPr>
          <a:xfrm>
            <a:off x="6653266.5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2000" y="18000"/>
                </a:moveTo>
                <a:lnTo>
                  <a:pt x="88000" y="18000"/>
                </a:lnTo>
                <a:lnTo>
                  <a:pt x="88000" y="64000"/>
                </a:lnTo>
                <a:lnTo>
                  <a:pt x="12000" y="6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85" name="ff85"/>
          <p:cNvSpPr/>
          <p:nvPr/>
        </p:nvSpPr>
        <p:spPr>
          <a:xfrm>
            <a:off x="6653266.5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000" y="24000"/>
                </a:moveTo>
                <a:lnTo>
                  <a:pt x="82000" y="24000"/>
                </a:lnTo>
                <a:lnTo>
                  <a:pt x="82000" y="58000"/>
                </a:lnTo>
                <a:lnTo>
                  <a:pt x="18000" y="58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86" name="ff86"/>
          <p:cNvSpPr/>
          <p:nvPr/>
        </p:nvSpPr>
        <p:spPr>
          <a:xfrm>
            <a:off x="6653266.5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000" y="64000"/>
                </a:moveTo>
                <a:lnTo>
                  <a:pt x="58000" y="64000"/>
                </a:lnTo>
                <a:lnTo>
                  <a:pt x="62000" y="80000"/>
                </a:lnTo>
                <a:lnTo>
                  <a:pt x="38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87" name="ff87"/>
          <p:cNvSpPr/>
          <p:nvPr/>
        </p:nvSpPr>
        <p:spPr>
          <a:xfrm>
            <a:off x="6653266.5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0000" y="80000"/>
                </a:moveTo>
                <a:lnTo>
                  <a:pt x="70000" y="80000"/>
                </a:lnTo>
                <a:lnTo>
                  <a:pt x="70000" y="88000"/>
                </a:lnTo>
                <a:lnTo>
                  <a:pt x="30000" y="8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88" name="ff88"/>
          <p:cNvSpPr/>
          <p:nvPr/>
        </p:nvSpPr>
        <p:spPr>
          <a:xfrm>
            <a:off x="6653266.5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30000"/>
                </a:moveTo>
                <a:lnTo>
                  <a:pt x="64000" y="30000"/>
                </a:lnTo>
                <a:lnTo>
                  <a:pt x="64000" y="35000"/>
                </a:lnTo>
                <a:lnTo>
                  <a:pt x="24000" y="35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89" name="ff89"/>
          <p:cNvSpPr/>
          <p:nvPr/>
        </p:nvSpPr>
        <p:spPr>
          <a:xfrm>
            <a:off x="6653266.5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40000"/>
                </a:moveTo>
                <a:lnTo>
                  <a:pt x="52000" y="40000"/>
                </a:lnTo>
                <a:lnTo>
                  <a:pt x="52000" y="44000"/>
                </a:lnTo>
                <a:lnTo>
                  <a:pt x="24000" y="4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90" name="t90"/>
          <p:cNvSpPr txBox="1"/>
          <p:nvPr/>
        </p:nvSpPr>
        <p:spPr>
          <a:xfrm>
            <a:off x="7266279.5" y="1911096"/>
            <a:ext cx="4248759.5" cy="402336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750" b="1" dirty="0">
                <a:solidFill>
                  <a:srgbClr val="FFFFFF"/>
                </a:solidFill>
                <a:latin typeface="Segoe UI"/>
                <a:cs typeface="Segoe UI"/>
              </a:rPr>
              <a:t>Traditional Forensic Challenges</a:t>
            </a:r>
          </a:p>
        </p:txBody>
      </p:sp>
      <p:sp>
        <p:nvSpPr>
          <p:cNvPr id="91" name="r91"/>
          <p:cNvSpPr/>
          <p:nvPr/>
        </p:nvSpPr>
        <p:spPr>
          <a:xfrm>
            <a:off x="6534759.5" y="2770632"/>
            <a:ext cx="4833975.5" cy="816864.0"/>
          </a:xfrm>
          <a:prstGeom prst="roundRect">
            <a:avLst>
              <a:gd name="adj" fmla="val 12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92" name="o92"/>
          <p:cNvSpPr/>
          <p:nvPr/>
        </p:nvSpPr>
        <p:spPr>
          <a:xfrm>
            <a:off x="6617055.5" y="2950464.0"/>
            <a:ext cx="457200" cy="457200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93" name="o93"/>
          <p:cNvSpPr/>
          <p:nvPr/>
        </p:nvSpPr>
        <p:spPr>
          <a:xfrm>
            <a:off x="6662775.5" y="2996184.0"/>
            <a:ext cx="365760" cy="365760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94" name="ff94"/>
          <p:cNvSpPr/>
          <p:nvPr/>
        </p:nvSpPr>
        <p:spPr>
          <a:xfrm>
            <a:off x="6735927.5" y="3069336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000" y="46000"/>
                </a:moveTo>
                <a:lnTo>
                  <a:pt x="74000" y="46000"/>
                </a:lnTo>
                <a:lnTo>
                  <a:pt x="74000" y="84000"/>
                </a:lnTo>
                <a:lnTo>
                  <a:pt x="26000" y="8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95" name="ff95"/>
          <p:cNvSpPr/>
          <p:nvPr/>
        </p:nvSpPr>
        <p:spPr>
          <a:xfrm>
            <a:off x="6735927.5" y="3069336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6000" y="46000"/>
                </a:moveTo>
                <a:lnTo>
                  <a:pt x="36000" y="36000"/>
                </a:lnTo>
                <a:cubicBezTo>
                  <a:pt x="36" y="18"/>
                  <a:pt x="64" y="18"/>
                  <a:pt x="64" y="36"/>
                </a:cubicBezTo>
                <a:lnTo>
                  <a:pt x="64000" y="46000"/>
                </a:lnTo>
                <a:lnTo>
                  <a:pt x="56000" y="46000"/>
                </a:lnTo>
                <a:lnTo>
                  <a:pt x="56000" y="36000"/>
                </a:lnTo>
                <a:cubicBezTo>
                  <a:pt x="56" y="28"/>
                  <a:pt x="44" y="28"/>
                  <a:pt x="44" y="36"/>
                </a:cubicBezTo>
                <a:lnTo>
                  <a:pt x="44000" y="46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96" name="o96"/>
          <p:cNvSpPr/>
          <p:nvPr/>
        </p:nvSpPr>
        <p:spPr>
          <a:xfrm>
            <a:off x="6832487.5" y="3196620.0"/>
            <a:ext cx="26334" cy="26334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97" name="t97"/>
          <p:cNvSpPr txBox="1"/>
          <p:nvPr/>
        </p:nvSpPr>
        <p:spPr>
          <a:xfrm>
            <a:off x="7211415.5" y="2770632"/>
            <a:ext cx="4157319.5" cy="816864.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Full-disk &amp; file encryption</a:t>
            </a:r>
          </a:p>
        </p:txBody>
      </p:sp>
      <p:sp>
        <p:nvSpPr>
          <p:cNvPr id="98" name="r98"/>
          <p:cNvSpPr/>
          <p:nvPr/>
        </p:nvSpPr>
        <p:spPr>
          <a:xfrm>
            <a:off x="6534759.5" y="3715512.0"/>
            <a:ext cx="4833975.5" cy="816864.0"/>
          </a:xfrm>
          <a:prstGeom prst="roundRect">
            <a:avLst>
              <a:gd name="adj" fmla="val 12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99" name="o99"/>
          <p:cNvSpPr/>
          <p:nvPr/>
        </p:nvSpPr>
        <p:spPr>
          <a:xfrm>
            <a:off x="6617055.5" y="3895344.0"/>
            <a:ext cx="457200" cy="457200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100" name="o100"/>
          <p:cNvSpPr/>
          <p:nvPr/>
        </p:nvSpPr>
        <p:spPr>
          <a:xfrm>
            <a:off x="6662775.5" y="3941064.0"/>
            <a:ext cx="365760" cy="365760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101" name="ff101"/>
          <p:cNvSpPr/>
          <p:nvPr/>
        </p:nvSpPr>
        <p:spPr>
          <a:xfrm>
            <a:off x="6735927.5" y="4014216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10000"/>
                </a:moveTo>
                <a:lnTo>
                  <a:pt x="84000" y="24000"/>
                </a:lnTo>
                <a:lnTo>
                  <a:pt x="84000" y="52000"/>
                </a:lnTo>
                <a:cubicBezTo>
                  <a:pt x="84" y="74"/>
                  <a:pt x="68" y="86"/>
                  <a:pt x="50" y="92"/>
                </a:cubicBezTo>
                <a:cubicBezTo>
                  <a:pt x="32" y="86"/>
                  <a:pt x="16" y="74"/>
                  <a:pt x="16" y="52"/>
                </a:cubicBezTo>
                <a:lnTo>
                  <a:pt x="16000" y="2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02" name="ff102"/>
          <p:cNvSpPr/>
          <p:nvPr/>
        </p:nvSpPr>
        <p:spPr>
          <a:xfrm>
            <a:off x="6735927.5" y="4014216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6000" y="50000"/>
                </a:moveTo>
                <a:lnTo>
                  <a:pt x="46000" y="60000"/>
                </a:lnTo>
                <a:lnTo>
                  <a:pt x="66000" y="36000"/>
                </a:lnTo>
                <a:lnTo>
                  <a:pt x="70000" y="42000"/>
                </a:lnTo>
                <a:lnTo>
                  <a:pt x="46000" y="70000"/>
                </a:lnTo>
                <a:lnTo>
                  <a:pt x="32000" y="55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103" name="t103"/>
          <p:cNvSpPr txBox="1"/>
          <p:nvPr/>
        </p:nvSpPr>
        <p:spPr>
          <a:xfrm>
            <a:off x="7211415.5" y="3715512.0"/>
            <a:ext cx="4157319.5" cy="816864.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Anti-forensic techniques</a:t>
            </a:r>
          </a:p>
        </p:txBody>
      </p:sp>
      <p:sp>
        <p:nvSpPr>
          <p:cNvPr id="104" name="r104"/>
          <p:cNvSpPr/>
          <p:nvPr/>
        </p:nvSpPr>
        <p:spPr>
          <a:xfrm>
            <a:off x="6534759.5" y="4660392.0"/>
            <a:ext cx="4833975.5" cy="816864.0"/>
          </a:xfrm>
          <a:prstGeom prst="roundRect">
            <a:avLst>
              <a:gd name="adj" fmla="val 12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105" name="o105"/>
          <p:cNvSpPr/>
          <p:nvPr/>
        </p:nvSpPr>
        <p:spPr>
          <a:xfrm>
            <a:off x="6617055.5" y="4840224.0"/>
            <a:ext cx="457200" cy="457200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106" name="o106"/>
          <p:cNvSpPr/>
          <p:nvPr/>
        </p:nvSpPr>
        <p:spPr>
          <a:xfrm>
            <a:off x="6662775.5" y="4885944.0"/>
            <a:ext cx="365760" cy="365760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107" name="ff107"/>
          <p:cNvSpPr/>
          <p:nvPr/>
        </p:nvSpPr>
        <p:spPr>
          <a:xfrm>
            <a:off x="6735927.5" y="4959096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6000" y="26000"/>
                </a:moveTo>
                <a:lnTo>
                  <a:pt x="84000" y="26000"/>
                </a:lnTo>
                <a:lnTo>
                  <a:pt x="84000" y="74000"/>
                </a:lnTo>
                <a:lnTo>
                  <a:pt x="16000" y="7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08" name="o108"/>
          <p:cNvSpPr/>
          <p:nvPr/>
        </p:nvSpPr>
        <p:spPr>
          <a:xfrm>
            <a:off x="6856627.5" y="5046878.0"/>
            <a:ext cx="48280" cy="48280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109" name="o109"/>
          <p:cNvSpPr/>
          <p:nvPr/>
        </p:nvSpPr>
        <p:spPr>
          <a:xfrm>
            <a:off x="6867600.5" y="5057851.0"/>
            <a:ext cx="21945" cy="219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110" name="ff110"/>
          <p:cNvSpPr/>
          <p:nvPr/>
        </p:nvSpPr>
        <p:spPr>
          <a:xfrm>
            <a:off x="6735927.5" y="4959096.0"/>
            <a:ext cx="219456" cy="2194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2000" y="32000"/>
                </a:moveTo>
                <a:lnTo>
                  <a:pt x="44000" y="32000"/>
                </a:lnTo>
                <a:lnTo>
                  <a:pt x="44000" y="38000"/>
                </a:lnTo>
                <a:lnTo>
                  <a:pt x="22000" y="38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111" name="t111"/>
          <p:cNvSpPr txBox="1"/>
          <p:nvPr/>
        </p:nvSpPr>
        <p:spPr>
          <a:xfrm>
            <a:off x="7211415.5" y="4660392.0"/>
            <a:ext cx="4157319.5" cy="816864.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300" dirty="0">
                <a:solidFill>
                  <a:srgbClr val="E7F0FA"/>
                </a:solidFill>
                <a:latin typeface="Segoe UI"/>
                <a:cs typeface="Segoe UI"/>
              </a:rPr>
              <a:t>Large volumes of data to process</a:t>
            </a:r>
          </a:p>
        </p:txBody>
      </p:sp>
    </p:spTree>
  </p:cSld>
  <p:transition spd="med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A2E"/>
              </a:gs>
              <a:gs pos="55000">
                <a:srgbClr val="0A1526"/>
              </a:gs>
              <a:gs pos="100000">
                <a:srgbClr val="081120"/>
              </a:gs>
            </a:gsLst>
            <a:lin ang="3000000" scaled="1"/>
          </a:gradFill>
          <a:ln>
            <a:noFill/>
          </a:ln>
        </p:spPr>
        <p:txBody>
          <a:bodyPr/>
          <a:p/>
        </p:txBody>
      </p:sp>
      <p:cxnSp>
        <p:nvCxnSpPr>
          <p:cNvPr id="3" name="l3"/>
          <p:cNvCxnSpPr/>
          <p:nvPr/>
        </p:nvCxnSpPr>
        <p:spPr>
          <a:xfrm>
            <a:off x="-914400" y="-91440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4" name="l4"/>
          <p:cNvCxnSpPr/>
          <p:nvPr/>
        </p:nvCxnSpPr>
        <p:spPr>
          <a:xfrm>
            <a:off x="-914400" y="-34747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5" name="l5"/>
          <p:cNvCxnSpPr/>
          <p:nvPr/>
        </p:nvCxnSpPr>
        <p:spPr>
          <a:xfrm>
            <a:off x="-914400" y="21945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6" name="l6"/>
          <p:cNvCxnSpPr/>
          <p:nvPr/>
        </p:nvCxnSpPr>
        <p:spPr>
          <a:xfrm>
            <a:off x="-914400" y="78638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7" name="l7"/>
          <p:cNvCxnSpPr/>
          <p:nvPr/>
        </p:nvCxnSpPr>
        <p:spPr>
          <a:xfrm>
            <a:off x="-914400" y="135331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8" name="l8"/>
          <p:cNvCxnSpPr/>
          <p:nvPr/>
        </p:nvCxnSpPr>
        <p:spPr>
          <a:xfrm>
            <a:off x="-914400" y="192024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9" name="l9"/>
          <p:cNvCxnSpPr/>
          <p:nvPr/>
        </p:nvCxnSpPr>
        <p:spPr>
          <a:xfrm>
            <a:off x="-914400" y="248716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0" name="l10"/>
          <p:cNvCxnSpPr/>
          <p:nvPr/>
        </p:nvCxnSpPr>
        <p:spPr>
          <a:xfrm>
            <a:off x="-914400" y="305409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1" name="l11"/>
          <p:cNvCxnSpPr/>
          <p:nvPr/>
        </p:nvCxnSpPr>
        <p:spPr>
          <a:xfrm>
            <a:off x="-914400" y="362102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2" name="l12"/>
          <p:cNvCxnSpPr/>
          <p:nvPr/>
        </p:nvCxnSpPr>
        <p:spPr>
          <a:xfrm>
            <a:off x="-914400" y="418795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3" name="l13"/>
          <p:cNvCxnSpPr/>
          <p:nvPr/>
        </p:nvCxnSpPr>
        <p:spPr>
          <a:xfrm>
            <a:off x="-914400" y="475488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4" name="l14"/>
          <p:cNvCxnSpPr/>
          <p:nvPr/>
        </p:nvCxnSpPr>
        <p:spPr>
          <a:xfrm>
            <a:off x="-914400" y="532180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5" name="l15"/>
          <p:cNvCxnSpPr/>
          <p:nvPr/>
        </p:nvCxnSpPr>
        <p:spPr>
          <a:xfrm>
            <a:off x="-914400" y="588873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6" name="l16"/>
          <p:cNvCxnSpPr/>
          <p:nvPr/>
        </p:nvCxnSpPr>
        <p:spPr>
          <a:xfrm>
            <a:off x="-914400" y="645566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7" name="l17"/>
          <p:cNvCxnSpPr/>
          <p:nvPr/>
        </p:nvCxnSpPr>
        <p:spPr>
          <a:xfrm>
            <a:off x="-914400" y="702259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8" name="l18"/>
          <p:cNvCxnSpPr/>
          <p:nvPr/>
        </p:nvCxnSpPr>
        <p:spPr>
          <a:xfrm>
            <a:off x="-914400" y="758952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sp>
        <p:nvSpPr>
          <p:cNvPr id="19" name="o19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2E9BFF">
              <a:alpha val="8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o20"/>
          <p:cNvSpPr/>
          <p:nvPr/>
        </p:nvSpPr>
        <p:spPr>
          <a:xfrm>
            <a:off x="-1463040" y="4023360"/>
            <a:ext cx="3840480" cy="3840480"/>
          </a:xfrm>
          <a:prstGeom prst="ellipse">
            <a:avLst/>
          </a:prstGeom>
          <a:solidFill>
            <a:srgbClr val="24E0D8">
              <a:alpha val="7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r2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22" name="r22"/>
          <p:cNvSpPr/>
          <p:nvPr/>
        </p:nvSpPr>
        <p:spPr>
          <a:xfrm>
            <a:off x="566928" y="402336"/>
            <a:ext cx="274320" cy="50292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23" name="t23"/>
          <p:cNvSpPr txBox="1"/>
          <p:nvPr/>
        </p:nvSpPr>
        <p:spPr>
          <a:xfrm>
            <a:off x="950976" y="301752"/>
            <a:ext cx="548640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b="1" spc="320" dirty="0">
                <a:solidFill>
                  <a:srgbClr val="24E0D8"/>
                </a:solidFill>
                <a:latin typeface="Segoe UI"/>
                <a:cs typeface="Segoe UI"/>
              </a:rPr>
              <a:t>THE INVESTIGATOR'S TOOLKIT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566928" y="658368"/>
            <a:ext cx="10424160" cy="8686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3000" b="1" dirty="0">
                <a:solidFill>
                  <a:srgbClr val="FFFFFF"/>
                </a:solidFill>
                <a:latin typeface="Poppins"/>
                <a:cs typeface="Poppins"/>
              </a:rPr>
              <a:t>Forensic Tools</a:t>
            </a:r>
          </a:p>
        </p:txBody>
      </p:sp>
      <p:cxnSp>
        <p:nvCxnSpPr>
          <p:cNvPr id="25" name="l25"/>
          <p:cNvCxnSpPr/>
          <p:nvPr/>
        </p:nvCxnSpPr>
        <p:spPr>
          <a:xfrm>
            <a:off x="566928" y="1481328"/>
            <a:ext cx="11055096" cy="0"/>
          </a:xfrm>
          <a:prstGeom prst="line">
            <a:avLst/>
          </a:prstGeom>
          <a:ln w="13970" cap="rnd">
            <a:solidFill>
              <a:srgbClr val="24476E">
                <a:alpha val="70000"/>
              </a:srgbClr>
            </a:solidFill>
          </a:ln>
        </p:spPr>
      </p:cxnSp>
      <p:cxnSp>
        <p:nvCxnSpPr>
          <p:cNvPr id="26" name="l26"/>
          <p:cNvCxnSpPr/>
          <p:nvPr/>
        </p:nvCxnSpPr>
        <p:spPr>
          <a:xfrm>
            <a:off x="566928" y="6428232"/>
            <a:ext cx="11055096" cy="0"/>
          </a:xfrm>
          <a:prstGeom prst="line">
            <a:avLst/>
          </a:prstGeom>
          <a:ln w="12700" cap="rnd">
            <a:solidFill>
              <a:srgbClr val="1C3A5C">
                <a:alpha val="60000"/>
              </a:srgbClr>
            </a:solidFill>
          </a:ln>
        </p:spPr>
      </p:cxnSp>
      <p:sp>
        <p:nvSpPr>
          <p:cNvPr id="27" name="t27"/>
          <p:cNvSpPr txBox="1"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950" spc="150" dirty="0">
                <a:solidFill>
                  <a:srgbClr val="9DB4CC"/>
                </a:solidFill>
                <a:latin typeface="Segoe UI"/>
                <a:cs typeface="Segoe UI"/>
              </a:rPr>
              <a:t>Digital Forensics vs Cloud Forensics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9326880" y="6455664"/>
            <a:ext cx="22860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r">
              <a:buNone/>
            </a:pPr>
            <a:r>
              <a:rPr lang="en-US" sz="1000" b="1" dirty="0">
                <a:solidFill>
                  <a:srgbClr val="24E0D8"/>
                </a:solidFill>
                <a:latin typeface="Segoe UI"/>
                <a:cs typeface="Segoe UI"/>
              </a:rPr>
              <a:t>07</a:t>
            </a:r>
            <a:r>
              <a:rPr lang="en-US" sz="1000" dirty="0">
                <a:solidFill>
                  <a:srgbClr val="9DB4CC"/>
                </a:solidFill>
                <a:latin typeface="Segoe UI"/>
                <a:cs typeface="Segoe UI"/>
              </a:rPr>
              <a:t> / 08</a:t>
            </a:r>
          </a:p>
        </p:txBody>
      </p:sp>
      <p:sp>
        <p:nvSpPr>
          <p:cNvPr id="29" name="r29"/>
          <p:cNvSpPr/>
          <p:nvPr/>
        </p:nvSpPr>
        <p:spPr>
          <a:xfrm>
            <a:off x="566928" y="1691640"/>
            <a:ext cx="5346039.5" cy="4160520"/>
          </a:xfrm>
          <a:prstGeom prst="roundRect">
            <a:avLst>
              <a:gd name="adj" fmla="val 6000"/>
            </a:avLst>
          </a:prstGeom>
          <a:solidFill>
            <a:srgbClr val="0E2038">
              <a:alpha val="95000"/>
            </a:srgbClr>
          </a:solidFill>
          <a:ln w="16510" cap="rnd">
            <a:solidFill>
              <a:srgbClr val="2E9BFF"/>
            </a:solidFill>
          </a:ln>
          <a:effectLst>
            <a:outerShdw blurRad="120000" dist="50000" dir="5400000" rotWithShape="0">
              <a:srgbClr val="000000">
                <a:alpha val="42000"/>
              </a:srgbClr>
            </a:outerShdw>
          </a:effectLst>
        </p:spPr>
        <p:txBody>
          <a:bodyPr/>
          <a:p/>
        </p:txBody>
      </p:sp>
      <p:sp>
        <p:nvSpPr>
          <p:cNvPr id="30" name="r30"/>
          <p:cNvSpPr/>
          <p:nvPr/>
        </p:nvSpPr>
        <p:spPr>
          <a:xfrm>
            <a:off x="566928" y="1691640"/>
            <a:ext cx="5346039.5" cy="82296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31" name="r31"/>
          <p:cNvSpPr/>
          <p:nvPr/>
        </p:nvSpPr>
        <p:spPr>
          <a:xfrm>
            <a:off x="566928" y="2167128"/>
            <a:ext cx="5346039.5" cy="347472"/>
          </a:xfrm>
          <a:prstGeom prst="rect">
            <a:avLst/>
          </a:prstGeom>
          <a:solidFill>
            <a:srgbClr val="0E2038">
              <a:alpha val="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2" name="o32"/>
          <p:cNvSpPr/>
          <p:nvPr/>
        </p:nvSpPr>
        <p:spPr>
          <a:xfrm>
            <a:off x="758952" y="1746504"/>
            <a:ext cx="713232" cy="713232"/>
          </a:xfrm>
          <a:prstGeom prst="ellipse">
            <a:avLst/>
          </a:prstGeom>
          <a:noFill/>
          <a:ln w="17780" cap="rnd">
            <a:solidFill>
              <a:srgbClr val="FFFF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33" name="o33"/>
          <p:cNvSpPr/>
          <p:nvPr/>
        </p:nvSpPr>
        <p:spPr>
          <a:xfrm>
            <a:off x="804672" y="1792224"/>
            <a:ext cx="621792" cy="621792"/>
          </a:xfrm>
          <a:prstGeom prst="ellipse">
            <a:avLst/>
          </a:prstGeom>
          <a:gradFill rotWithShape="1">
            <a:gsLst>
              <a:gs pos="0">
                <a:srgbClr val="FFFFFF"/>
              </a:gs>
              <a:gs pos="100000">
                <a:srgbClr val="2E9BFF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34" name="ff34"/>
          <p:cNvSpPr/>
          <p:nvPr/>
        </p:nvSpPr>
        <p:spPr>
          <a:xfrm>
            <a:off x="941467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2000" y="18000"/>
                </a:moveTo>
                <a:lnTo>
                  <a:pt x="88000" y="18000"/>
                </a:lnTo>
                <a:lnTo>
                  <a:pt x="88000" y="64000"/>
                </a:lnTo>
                <a:lnTo>
                  <a:pt x="12000" y="6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5" name="ff35"/>
          <p:cNvSpPr/>
          <p:nvPr/>
        </p:nvSpPr>
        <p:spPr>
          <a:xfrm>
            <a:off x="941467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000" y="24000"/>
                </a:moveTo>
                <a:lnTo>
                  <a:pt x="82000" y="24000"/>
                </a:lnTo>
                <a:lnTo>
                  <a:pt x="82000" y="58000"/>
                </a:lnTo>
                <a:lnTo>
                  <a:pt x="18000" y="58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36" name="ff36"/>
          <p:cNvSpPr/>
          <p:nvPr/>
        </p:nvSpPr>
        <p:spPr>
          <a:xfrm>
            <a:off x="941467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000" y="64000"/>
                </a:moveTo>
                <a:lnTo>
                  <a:pt x="58000" y="64000"/>
                </a:lnTo>
                <a:lnTo>
                  <a:pt x="62000" y="80000"/>
                </a:lnTo>
                <a:lnTo>
                  <a:pt x="38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7" name="ff37"/>
          <p:cNvSpPr/>
          <p:nvPr/>
        </p:nvSpPr>
        <p:spPr>
          <a:xfrm>
            <a:off x="941467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0000" y="80000"/>
                </a:moveTo>
                <a:lnTo>
                  <a:pt x="70000" y="80000"/>
                </a:lnTo>
                <a:lnTo>
                  <a:pt x="70000" y="88000"/>
                </a:lnTo>
                <a:lnTo>
                  <a:pt x="30000" y="8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8" name="ff38"/>
          <p:cNvSpPr/>
          <p:nvPr/>
        </p:nvSpPr>
        <p:spPr>
          <a:xfrm>
            <a:off x="941467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30000"/>
                </a:moveTo>
                <a:lnTo>
                  <a:pt x="64000" y="30000"/>
                </a:lnTo>
                <a:lnTo>
                  <a:pt x="64000" y="35000"/>
                </a:lnTo>
                <a:lnTo>
                  <a:pt x="24000" y="35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39" name="ff39"/>
          <p:cNvSpPr/>
          <p:nvPr/>
        </p:nvSpPr>
        <p:spPr>
          <a:xfrm>
            <a:off x="941467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000" y="40000"/>
                </a:moveTo>
                <a:lnTo>
                  <a:pt x="52000" y="40000"/>
                </a:lnTo>
                <a:lnTo>
                  <a:pt x="52000" y="44000"/>
                </a:lnTo>
                <a:lnTo>
                  <a:pt x="24000" y="4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0" name="t40"/>
          <p:cNvSpPr txBox="1"/>
          <p:nvPr/>
        </p:nvSpPr>
        <p:spPr>
          <a:xfrm>
            <a:off x="1554480" y="1911096"/>
            <a:ext cx="4248759.5" cy="402336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Desktop Incident</a:t>
            </a:r>
          </a:p>
        </p:txBody>
      </p:sp>
      <p:sp>
        <p:nvSpPr>
          <p:cNvPr id="41" name="r41"/>
          <p:cNvSpPr/>
          <p:nvPr/>
        </p:nvSpPr>
        <p:spPr>
          <a:xfrm>
            <a:off x="822960" y="2715768"/>
            <a:ext cx="4833975.5" cy="610362.0"/>
          </a:xfrm>
          <a:prstGeom prst="roundRect">
            <a:avLst>
              <a:gd name="adj" fmla="val 10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42" name="o42"/>
          <p:cNvSpPr/>
          <p:nvPr/>
        </p:nvSpPr>
        <p:spPr>
          <a:xfrm>
            <a:off x="905256" y="2737485.0"/>
            <a:ext cx="566928" cy="566928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43" name="o43"/>
          <p:cNvSpPr/>
          <p:nvPr/>
        </p:nvSpPr>
        <p:spPr>
          <a:xfrm>
            <a:off x="950976" y="2783205.0"/>
            <a:ext cx="475488" cy="475488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44" name="ff44"/>
          <p:cNvSpPr/>
          <p:nvPr/>
        </p:nvSpPr>
        <p:spPr>
          <a:xfrm>
            <a:off x="1050829" y="2883058.0"/>
            <a:ext cx="275783" cy="27578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6000" y="26000"/>
                </a:moveTo>
                <a:lnTo>
                  <a:pt x="84000" y="26000"/>
                </a:lnTo>
                <a:lnTo>
                  <a:pt x="84000" y="74000"/>
                </a:lnTo>
                <a:lnTo>
                  <a:pt x="16000" y="7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5" name="o45"/>
          <p:cNvSpPr/>
          <p:nvPr/>
        </p:nvSpPr>
        <p:spPr>
          <a:xfrm>
            <a:off x="1202509" y="2993371.0"/>
            <a:ext cx="60672" cy="60672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46" name="o46"/>
          <p:cNvSpPr/>
          <p:nvPr/>
        </p:nvSpPr>
        <p:spPr>
          <a:xfrm>
            <a:off x="1216298" y="3007160.0"/>
            <a:ext cx="27578" cy="2757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47" name="ff47"/>
          <p:cNvSpPr/>
          <p:nvPr/>
        </p:nvSpPr>
        <p:spPr>
          <a:xfrm>
            <a:off x="1050829" y="2883058.0"/>
            <a:ext cx="275783" cy="27578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2000" y="32000"/>
                </a:moveTo>
                <a:lnTo>
                  <a:pt x="44000" y="32000"/>
                </a:lnTo>
                <a:lnTo>
                  <a:pt x="44000" y="38000"/>
                </a:lnTo>
                <a:lnTo>
                  <a:pt x="22000" y="38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48" name="t48"/>
          <p:cNvSpPr txBox="1"/>
          <p:nvPr/>
        </p:nvSpPr>
        <p:spPr>
          <a:xfrm>
            <a:off x="1609343" y="2816352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EnCase</a:t>
            </a:r>
          </a:p>
        </p:txBody>
      </p:sp>
      <p:sp>
        <p:nvSpPr>
          <p:cNvPr id="49" name="t49"/>
          <p:cNvSpPr txBox="1"/>
          <p:nvPr/>
        </p:nvSpPr>
        <p:spPr>
          <a:xfrm>
            <a:off x="1609343" y="3099816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100" dirty="0">
                <a:solidFill>
                  <a:srgbClr val="9DB4CC"/>
                </a:solidFill>
                <a:latin typeface="Segoe UI"/>
                <a:cs typeface="Segoe UI"/>
              </a:rPr>
              <a:t>Disk imaging &amp; deep forensic analysis</a:t>
            </a:r>
          </a:p>
        </p:txBody>
      </p:sp>
      <p:sp>
        <p:nvSpPr>
          <p:cNvPr id="50" name="r50"/>
          <p:cNvSpPr/>
          <p:nvPr/>
        </p:nvSpPr>
        <p:spPr>
          <a:xfrm>
            <a:off x="822960" y="3454146.0"/>
            <a:ext cx="4833975.5" cy="610362.0"/>
          </a:xfrm>
          <a:prstGeom prst="roundRect">
            <a:avLst>
              <a:gd name="adj" fmla="val 10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1" name="o51"/>
          <p:cNvSpPr/>
          <p:nvPr/>
        </p:nvSpPr>
        <p:spPr>
          <a:xfrm>
            <a:off x="905256" y="3475863.0"/>
            <a:ext cx="566928" cy="566928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52" name="o52"/>
          <p:cNvSpPr/>
          <p:nvPr/>
        </p:nvSpPr>
        <p:spPr>
          <a:xfrm>
            <a:off x="950976" y="3521583.0"/>
            <a:ext cx="475488" cy="475488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53" name="ff53"/>
          <p:cNvSpPr/>
          <p:nvPr/>
        </p:nvSpPr>
        <p:spPr>
          <a:xfrm>
            <a:off x="1050829" y="3621436.0"/>
            <a:ext cx="275783" cy="27578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2000" y="14000"/>
                </a:moveTo>
                <a:lnTo>
                  <a:pt x="60000" y="14000"/>
                </a:lnTo>
                <a:lnTo>
                  <a:pt x="78000" y="32000"/>
                </a:lnTo>
                <a:lnTo>
                  <a:pt x="78000" y="86000"/>
                </a:lnTo>
                <a:lnTo>
                  <a:pt x="22000" y="86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54" name="o54"/>
          <p:cNvSpPr/>
          <p:nvPr/>
        </p:nvSpPr>
        <p:spPr>
          <a:xfrm>
            <a:off x="1161142" y="3731749.0"/>
            <a:ext cx="82734" cy="82734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55" name="o55"/>
          <p:cNvSpPr/>
          <p:nvPr/>
        </p:nvSpPr>
        <p:spPr>
          <a:xfrm>
            <a:off x="1177689" y="3748296.0"/>
            <a:ext cx="49640" cy="49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56" name="t56"/>
          <p:cNvSpPr txBox="1"/>
          <p:nvPr/>
        </p:nvSpPr>
        <p:spPr>
          <a:xfrm>
            <a:off x="1609343" y="3554730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FTK</a:t>
            </a:r>
          </a:p>
        </p:txBody>
      </p:sp>
      <p:sp>
        <p:nvSpPr>
          <p:cNvPr id="57" name="t57"/>
          <p:cNvSpPr txBox="1"/>
          <p:nvPr/>
        </p:nvSpPr>
        <p:spPr>
          <a:xfrm>
            <a:off x="1609343" y="3838194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100" dirty="0">
                <a:solidFill>
                  <a:srgbClr val="9DB4CC"/>
                </a:solidFill>
                <a:latin typeface="Segoe UI"/>
                <a:cs typeface="Segoe UI"/>
              </a:rPr>
              <a:t>Indexing, searching &amp; evidence processing</a:t>
            </a:r>
          </a:p>
        </p:txBody>
      </p:sp>
      <p:sp>
        <p:nvSpPr>
          <p:cNvPr id="58" name="r58"/>
          <p:cNvSpPr/>
          <p:nvPr/>
        </p:nvSpPr>
        <p:spPr>
          <a:xfrm>
            <a:off x="822960" y="4192524.0"/>
            <a:ext cx="4833975.5" cy="610362.0"/>
          </a:xfrm>
          <a:prstGeom prst="roundRect">
            <a:avLst>
              <a:gd name="adj" fmla="val 10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59" name="o59"/>
          <p:cNvSpPr/>
          <p:nvPr/>
        </p:nvSpPr>
        <p:spPr>
          <a:xfrm>
            <a:off x="905256" y="4214241.0"/>
            <a:ext cx="566928" cy="566928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60" name="o60"/>
          <p:cNvSpPr/>
          <p:nvPr/>
        </p:nvSpPr>
        <p:spPr>
          <a:xfrm>
            <a:off x="950976" y="4259961.0"/>
            <a:ext cx="475488" cy="475488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61" name="o61"/>
          <p:cNvSpPr/>
          <p:nvPr/>
        </p:nvSpPr>
        <p:spPr>
          <a:xfrm>
            <a:off x="1094954" y="4403939.0"/>
            <a:ext cx="121344" cy="121344"/>
          </a:xfrm>
          <a:prstGeom prst="ellipse">
            <a:avLst/>
          </a:prstGeom>
          <a:noFill/>
          <a:ln w="40640" cap="rnd">
            <a:solidFill>
              <a:srgbClr val="FFFFFF"/>
            </a:solidFill>
          </a:ln>
        </p:spPr>
        <p:txBody>
          <a:bodyPr/>
          <a:p/>
        </p:txBody>
      </p:sp>
      <p:cxnSp>
        <p:nvCxnSpPr>
          <p:cNvPr id="62" name="l62"/>
          <p:cNvCxnSpPr/>
          <p:nvPr/>
        </p:nvCxnSpPr>
        <p:spPr>
          <a:xfrm>
            <a:off x="1205267" y="4514252.0"/>
            <a:ext cx="77219" cy="77219.0"/>
          </a:xfrm>
          <a:prstGeom prst="line">
            <a:avLst/>
          </a:prstGeom>
          <a:ln w="43180" cap="rnd">
            <a:solidFill>
              <a:srgbClr val="FFFFFF"/>
            </a:solidFill>
          </a:ln>
        </p:spPr>
      </p:cxnSp>
      <p:sp>
        <p:nvSpPr>
          <p:cNvPr id="63" name="t63"/>
          <p:cNvSpPr txBox="1"/>
          <p:nvPr/>
        </p:nvSpPr>
        <p:spPr>
          <a:xfrm>
            <a:off x="1609343" y="4293108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Autopsy</a:t>
            </a:r>
          </a:p>
        </p:txBody>
      </p:sp>
      <p:sp>
        <p:nvSpPr>
          <p:cNvPr id="64" name="t64"/>
          <p:cNvSpPr txBox="1"/>
          <p:nvPr/>
        </p:nvSpPr>
        <p:spPr>
          <a:xfrm>
            <a:off x="1609343" y="4576572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100" dirty="0">
                <a:solidFill>
                  <a:srgbClr val="9DB4CC"/>
                </a:solidFill>
                <a:latin typeface="Segoe UI"/>
                <a:cs typeface="Segoe UI"/>
              </a:rPr>
              <a:t>Open-source disk &amp; file investigation</a:t>
            </a:r>
          </a:p>
        </p:txBody>
      </p:sp>
      <p:sp>
        <p:nvSpPr>
          <p:cNvPr id="65" name="r65"/>
          <p:cNvSpPr/>
          <p:nvPr/>
        </p:nvSpPr>
        <p:spPr>
          <a:xfrm>
            <a:off x="822960" y="4930902.0"/>
            <a:ext cx="4833975.5" cy="610362.0"/>
          </a:xfrm>
          <a:prstGeom prst="roundRect">
            <a:avLst>
              <a:gd name="adj" fmla="val 10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66" name="o66"/>
          <p:cNvSpPr/>
          <p:nvPr/>
        </p:nvSpPr>
        <p:spPr>
          <a:xfrm>
            <a:off x="905256" y="4952619.0"/>
            <a:ext cx="566928" cy="566928"/>
          </a:xfrm>
          <a:prstGeom prst="ellipse">
            <a:avLst/>
          </a:prstGeom>
          <a:noFill/>
          <a:ln w="17780" cap="rnd">
            <a:solidFill>
              <a:srgbClr val="2E9B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67" name="o67"/>
          <p:cNvSpPr/>
          <p:nvPr/>
        </p:nvSpPr>
        <p:spPr>
          <a:xfrm>
            <a:off x="950976" y="4998339.0"/>
            <a:ext cx="475488" cy="475488"/>
          </a:xfrm>
          <a:prstGeom prst="ellipse">
            <a:avLst/>
          </a:prstGeom>
          <a:gradFill rotWithShape="1">
            <a:gsLst>
              <a:gs pos="0">
                <a:srgbClr val="2E9BFF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68" name="o68"/>
          <p:cNvSpPr/>
          <p:nvPr/>
        </p:nvSpPr>
        <p:spPr>
          <a:xfrm>
            <a:off x="1166658" y="5125770.0"/>
            <a:ext cx="44125" cy="441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69" name="o69"/>
          <p:cNvSpPr/>
          <p:nvPr/>
        </p:nvSpPr>
        <p:spPr>
          <a:xfrm>
            <a:off x="1083923" y="5274693.0"/>
            <a:ext cx="44125" cy="441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0" name="o70"/>
          <p:cNvSpPr/>
          <p:nvPr/>
        </p:nvSpPr>
        <p:spPr>
          <a:xfrm>
            <a:off x="1249393" y="5274693.0"/>
            <a:ext cx="44125" cy="441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cxnSp>
        <p:nvCxnSpPr>
          <p:cNvPr id="71" name="l71"/>
          <p:cNvCxnSpPr/>
          <p:nvPr/>
        </p:nvCxnSpPr>
        <p:spPr>
          <a:xfrm flipH="1">
            <a:off x="1111501" y="5158864.0"/>
            <a:ext cx="77219" cy="132376.0"/>
          </a:xfrm>
          <a:prstGeom prst="line">
            <a:avLst/>
          </a:prstGeom>
          <a:ln w="27940" cap="rnd">
            <a:solidFill>
              <a:srgbClr val="FFFFFF"/>
            </a:solidFill>
          </a:ln>
        </p:spPr>
      </p:cxnSp>
      <p:cxnSp>
        <p:nvCxnSpPr>
          <p:cNvPr id="72" name="l72"/>
          <p:cNvCxnSpPr/>
          <p:nvPr/>
        </p:nvCxnSpPr>
        <p:spPr>
          <a:xfrm>
            <a:off x="1188720" y="5158864.0"/>
            <a:ext cx="77219" cy="132376.0"/>
          </a:xfrm>
          <a:prstGeom prst="line">
            <a:avLst/>
          </a:prstGeom>
          <a:ln w="27940" cap="rnd">
            <a:solidFill>
              <a:srgbClr val="FFFFFF"/>
            </a:solidFill>
          </a:ln>
        </p:spPr>
      </p:cxnSp>
      <p:cxnSp>
        <p:nvCxnSpPr>
          <p:cNvPr id="73" name="l73"/>
          <p:cNvCxnSpPr/>
          <p:nvPr/>
        </p:nvCxnSpPr>
        <p:spPr>
          <a:xfrm>
            <a:off x="1111501" y="5296755.0"/>
            <a:ext cx="154438" cy="0.0"/>
          </a:xfrm>
          <a:prstGeom prst="line">
            <a:avLst/>
          </a:prstGeom>
          <a:ln w="27940" cap="rnd">
            <a:solidFill>
              <a:srgbClr val="FFFFFF"/>
            </a:solidFill>
          </a:ln>
        </p:spPr>
      </p:cxnSp>
      <p:sp>
        <p:nvSpPr>
          <p:cNvPr id="74" name="t74"/>
          <p:cNvSpPr txBox="1"/>
          <p:nvPr/>
        </p:nvSpPr>
        <p:spPr>
          <a:xfrm>
            <a:off x="1609343" y="5031486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Wireshark</a:t>
            </a:r>
          </a:p>
        </p:txBody>
      </p:sp>
      <p:sp>
        <p:nvSpPr>
          <p:cNvPr id="75" name="t75"/>
          <p:cNvSpPr txBox="1"/>
          <p:nvPr/>
        </p:nvSpPr>
        <p:spPr>
          <a:xfrm>
            <a:off x="1609343" y="5314950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100" dirty="0">
                <a:solidFill>
                  <a:srgbClr val="9DB4CC"/>
                </a:solidFill>
                <a:latin typeface="Segoe UI"/>
                <a:cs typeface="Segoe UI"/>
              </a:rPr>
              <a:t>Network traffic capture &amp; inspection</a:t>
            </a:r>
          </a:p>
        </p:txBody>
      </p:sp>
      <p:sp>
        <p:nvSpPr>
          <p:cNvPr id="76" name="r76"/>
          <p:cNvSpPr/>
          <p:nvPr/>
        </p:nvSpPr>
        <p:spPr>
          <a:xfrm>
            <a:off x="6278727.5" y="1691640"/>
            <a:ext cx="5346039.5" cy="4160520"/>
          </a:xfrm>
          <a:prstGeom prst="roundRect">
            <a:avLst>
              <a:gd name="adj" fmla="val 6000"/>
            </a:avLst>
          </a:prstGeom>
          <a:solidFill>
            <a:srgbClr val="0E2038">
              <a:alpha val="95000"/>
            </a:srgbClr>
          </a:solidFill>
          <a:ln w="16510" cap="rnd">
            <a:solidFill>
              <a:srgbClr val="24E0D8"/>
            </a:solidFill>
          </a:ln>
          <a:effectLst>
            <a:outerShdw blurRad="120000" dist="50000" dir="5400000" rotWithShape="0">
              <a:srgbClr val="000000">
                <a:alpha val="42000"/>
              </a:srgbClr>
            </a:outerShdw>
          </a:effectLst>
        </p:spPr>
        <p:txBody>
          <a:bodyPr/>
          <a:p/>
        </p:txBody>
      </p:sp>
      <p:sp>
        <p:nvSpPr>
          <p:cNvPr id="77" name="r77"/>
          <p:cNvSpPr/>
          <p:nvPr/>
        </p:nvSpPr>
        <p:spPr>
          <a:xfrm>
            <a:off x="6278727.5" y="1691640"/>
            <a:ext cx="5346039.5" cy="82296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24E0D8"/>
              </a:gs>
              <a:gs pos="100000">
                <a:srgbClr val="0E7C86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78" name="r78"/>
          <p:cNvSpPr/>
          <p:nvPr/>
        </p:nvSpPr>
        <p:spPr>
          <a:xfrm>
            <a:off x="6278727.5" y="2167128"/>
            <a:ext cx="5346039.5" cy="347472"/>
          </a:xfrm>
          <a:prstGeom prst="rect">
            <a:avLst/>
          </a:prstGeom>
          <a:solidFill>
            <a:srgbClr val="0E2038">
              <a:alpha val="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9" name="o79"/>
          <p:cNvSpPr/>
          <p:nvPr/>
        </p:nvSpPr>
        <p:spPr>
          <a:xfrm>
            <a:off x="6470751.5" y="1746504"/>
            <a:ext cx="713232" cy="713232"/>
          </a:xfrm>
          <a:prstGeom prst="ellipse">
            <a:avLst/>
          </a:prstGeom>
          <a:noFill/>
          <a:ln w="17780" cap="rnd">
            <a:solidFill>
              <a:srgbClr val="FFFF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80" name="o80"/>
          <p:cNvSpPr/>
          <p:nvPr/>
        </p:nvSpPr>
        <p:spPr>
          <a:xfrm>
            <a:off x="6516471.5" y="1792224"/>
            <a:ext cx="621792" cy="621792"/>
          </a:xfrm>
          <a:prstGeom prst="ellipse">
            <a:avLst/>
          </a:prstGeom>
          <a:gradFill rotWithShape="1">
            <a:gsLst>
              <a:gs pos="0">
                <a:srgbClr val="FFFFFF"/>
              </a:gs>
              <a:gs pos="100000">
                <a:srgbClr val="24E0D8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81" name="ff81"/>
          <p:cNvSpPr/>
          <p:nvPr/>
        </p:nvSpPr>
        <p:spPr>
          <a:xfrm>
            <a:off x="6653266.5" y="1929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000" y="72000"/>
                </a:moveTo>
                <a:cubicBezTo>
                  <a:pt x="12" y="72"/>
                  <a:pt x="10" y="52"/>
                  <a:pt x="28" y="50"/>
                </a:cubicBezTo>
                <a:cubicBezTo>
                  <a:pt x="28" y="30"/>
                  <a:pt x="58" y="26"/>
                  <a:pt x="62" y="46"/>
                </a:cubicBezTo>
                <a:cubicBezTo>
                  <a:pt x="84" y="42"/>
                  <a:pt x="92" y="70"/>
                  <a:pt x="74" y="72"/>
                </a:cubicBezTo>
                <a:lnTo>
                  <a:pt x="26000" y="72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82" name="t82"/>
          <p:cNvSpPr txBox="1"/>
          <p:nvPr/>
        </p:nvSpPr>
        <p:spPr>
          <a:xfrm>
            <a:off x="7266279.5" y="1911096"/>
            <a:ext cx="4248759.5" cy="402336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  <a:latin typeface="Segoe UI"/>
                <a:cs typeface="Segoe UI"/>
              </a:rPr>
              <a:t>Cloud Incident</a:t>
            </a:r>
          </a:p>
        </p:txBody>
      </p:sp>
      <p:sp>
        <p:nvSpPr>
          <p:cNvPr id="83" name="r83"/>
          <p:cNvSpPr/>
          <p:nvPr/>
        </p:nvSpPr>
        <p:spPr>
          <a:xfrm>
            <a:off x="6534759.5" y="2715768"/>
            <a:ext cx="4833975.5" cy="856488.0"/>
          </a:xfrm>
          <a:prstGeom prst="roundRect">
            <a:avLst>
              <a:gd name="adj" fmla="val 10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84" name="o84"/>
          <p:cNvSpPr/>
          <p:nvPr/>
        </p:nvSpPr>
        <p:spPr>
          <a:xfrm>
            <a:off x="6617055.5" y="2860548.0"/>
            <a:ext cx="566928" cy="566928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85" name="o85"/>
          <p:cNvSpPr/>
          <p:nvPr/>
        </p:nvSpPr>
        <p:spPr>
          <a:xfrm>
            <a:off x="6662775.5" y="2906268.0"/>
            <a:ext cx="475488" cy="475488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86" name="ff86"/>
          <p:cNvSpPr/>
          <p:nvPr/>
        </p:nvSpPr>
        <p:spPr>
          <a:xfrm>
            <a:off x="6762628.5" y="3006121.0"/>
            <a:ext cx="275783" cy="27578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0000" y="14000"/>
                </a:moveTo>
                <a:lnTo>
                  <a:pt x="64000" y="14000"/>
                </a:lnTo>
                <a:lnTo>
                  <a:pt x="80000" y="30000"/>
                </a:lnTo>
                <a:lnTo>
                  <a:pt x="80000" y="86000"/>
                </a:lnTo>
                <a:lnTo>
                  <a:pt x="20000" y="86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87" name="ff87"/>
          <p:cNvSpPr/>
          <p:nvPr/>
        </p:nvSpPr>
        <p:spPr>
          <a:xfrm>
            <a:off x="6762628.5" y="3006121.0"/>
            <a:ext cx="275783" cy="27578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8000" y="40000"/>
                </a:moveTo>
                <a:lnTo>
                  <a:pt x="72000" y="40000"/>
                </a:lnTo>
                <a:lnTo>
                  <a:pt x="72000" y="45000"/>
                </a:lnTo>
                <a:lnTo>
                  <a:pt x="28000" y="45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88" name="ff88"/>
          <p:cNvSpPr/>
          <p:nvPr/>
        </p:nvSpPr>
        <p:spPr>
          <a:xfrm>
            <a:off x="6762628.5" y="3006121.0"/>
            <a:ext cx="275783" cy="27578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8000" y="52000"/>
                </a:moveTo>
                <a:lnTo>
                  <a:pt x="72000" y="52000"/>
                </a:lnTo>
                <a:lnTo>
                  <a:pt x="72000" y="57000"/>
                </a:lnTo>
                <a:lnTo>
                  <a:pt x="28000" y="57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89" name="ff89"/>
          <p:cNvSpPr/>
          <p:nvPr/>
        </p:nvSpPr>
        <p:spPr>
          <a:xfrm>
            <a:off x="6762628.5" y="3006121.0"/>
            <a:ext cx="275783" cy="27578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8000" y="64000"/>
                </a:moveTo>
                <a:lnTo>
                  <a:pt x="56000" y="64000"/>
                </a:lnTo>
                <a:lnTo>
                  <a:pt x="56000" y="69000"/>
                </a:lnTo>
                <a:lnTo>
                  <a:pt x="28000" y="69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90" name="t90"/>
          <p:cNvSpPr txBox="1"/>
          <p:nvPr/>
        </p:nvSpPr>
        <p:spPr>
          <a:xfrm>
            <a:off x="7321142.5" y="2816352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Native CSP Audit Logs</a:t>
            </a:r>
          </a:p>
        </p:txBody>
      </p:sp>
      <p:sp>
        <p:nvSpPr>
          <p:cNvPr id="91" name="t91"/>
          <p:cNvSpPr txBox="1"/>
          <p:nvPr/>
        </p:nvSpPr>
        <p:spPr>
          <a:xfrm>
            <a:off x="7321142.5" y="3099816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100" dirty="0">
                <a:solidFill>
                  <a:srgbClr val="9DB4CC"/>
                </a:solidFill>
                <a:latin typeface="Segoe UI"/>
                <a:cs typeface="Segoe UI"/>
              </a:rPr>
              <a:t>Provider activity &amp; API trails</a:t>
            </a:r>
          </a:p>
        </p:txBody>
      </p:sp>
      <p:sp>
        <p:nvSpPr>
          <p:cNvPr id="92" name="r92"/>
          <p:cNvSpPr/>
          <p:nvPr/>
        </p:nvSpPr>
        <p:spPr>
          <a:xfrm>
            <a:off x="6534759.5" y="3700272.0"/>
            <a:ext cx="4833975.5" cy="856488.0"/>
          </a:xfrm>
          <a:prstGeom prst="roundRect">
            <a:avLst>
              <a:gd name="adj" fmla="val 10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93" name="o93"/>
          <p:cNvSpPr/>
          <p:nvPr/>
        </p:nvSpPr>
        <p:spPr>
          <a:xfrm>
            <a:off x="6617055.5" y="3845052.0"/>
            <a:ext cx="566928" cy="566928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94" name="o94"/>
          <p:cNvSpPr/>
          <p:nvPr/>
        </p:nvSpPr>
        <p:spPr>
          <a:xfrm>
            <a:off x="6662775.5" y="3890772.0"/>
            <a:ext cx="475488" cy="475488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95" name="ff95"/>
          <p:cNvSpPr/>
          <p:nvPr/>
        </p:nvSpPr>
        <p:spPr>
          <a:xfrm>
            <a:off x="6762628.5" y="3990625.0"/>
            <a:ext cx="275783" cy="27578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000" y="30000"/>
                </a:moveTo>
                <a:lnTo>
                  <a:pt x="30000" y="30000"/>
                </a:lnTo>
                <a:lnTo>
                  <a:pt x="38000" y="22000"/>
                </a:lnTo>
                <a:lnTo>
                  <a:pt x="62000" y="22000"/>
                </a:lnTo>
                <a:lnTo>
                  <a:pt x="70000" y="30000"/>
                </a:lnTo>
                <a:lnTo>
                  <a:pt x="86000" y="30000"/>
                </a:lnTo>
                <a:lnTo>
                  <a:pt x="86000" y="80000"/>
                </a:lnTo>
                <a:lnTo>
                  <a:pt x="14000" y="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96" name="o96"/>
          <p:cNvSpPr/>
          <p:nvPr/>
        </p:nvSpPr>
        <p:spPr>
          <a:xfrm>
            <a:off x="6850878.5" y="4089906.0"/>
            <a:ext cx="99281" cy="99281"/>
          </a:xfrm>
          <a:prstGeom prst="ellipse">
            <a:avLst/>
          </a:pr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97" name="o97"/>
          <p:cNvSpPr/>
          <p:nvPr/>
        </p:nvSpPr>
        <p:spPr>
          <a:xfrm>
            <a:off x="6867425.5" y="4106453.0"/>
            <a:ext cx="66187" cy="6618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98" name="t98"/>
          <p:cNvSpPr txBox="1"/>
          <p:nvPr/>
        </p:nvSpPr>
        <p:spPr>
          <a:xfrm>
            <a:off x="7321142.5" y="3800856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Magnet AXIOM Cloud</a:t>
            </a:r>
          </a:p>
        </p:txBody>
      </p:sp>
      <p:sp>
        <p:nvSpPr>
          <p:cNvPr id="99" name="t99"/>
          <p:cNvSpPr txBox="1"/>
          <p:nvPr/>
        </p:nvSpPr>
        <p:spPr>
          <a:xfrm>
            <a:off x="7321142.5" y="4084320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100" dirty="0">
                <a:solidFill>
                  <a:srgbClr val="9DB4CC"/>
                </a:solidFill>
                <a:latin typeface="Segoe UI"/>
                <a:cs typeface="Segoe UI"/>
              </a:rPr>
              <a:t>Acquire &amp; analyse cloud data</a:t>
            </a:r>
          </a:p>
        </p:txBody>
      </p:sp>
      <p:sp>
        <p:nvSpPr>
          <p:cNvPr id="100" name="r100"/>
          <p:cNvSpPr/>
          <p:nvPr/>
        </p:nvSpPr>
        <p:spPr>
          <a:xfrm>
            <a:off x="6534759.5" y="4684776.0"/>
            <a:ext cx="4833975.5" cy="856488.0"/>
          </a:xfrm>
          <a:prstGeom prst="roundRect">
            <a:avLst>
              <a:gd name="adj" fmla="val 10000"/>
            </a:avLst>
          </a:prstGeom>
          <a:solidFill>
            <a:srgbClr val="12263F"/>
          </a:solidFill>
          <a:ln w="11430" cap="rnd">
            <a:solidFill>
              <a:srgbClr val="24476E"/>
            </a:solidFill>
          </a:ln>
        </p:spPr>
        <p:txBody>
          <a:bodyPr/>
          <a:p/>
        </p:txBody>
      </p:sp>
      <p:sp>
        <p:nvSpPr>
          <p:cNvPr id="101" name="o101"/>
          <p:cNvSpPr/>
          <p:nvPr/>
        </p:nvSpPr>
        <p:spPr>
          <a:xfrm>
            <a:off x="6617055.5" y="4829556.0"/>
            <a:ext cx="566928" cy="566928"/>
          </a:xfrm>
          <a:prstGeom prst="ellipse">
            <a:avLst/>
          </a:prstGeom>
          <a:noFill/>
          <a:ln w="17780" cap="rnd">
            <a:solidFill>
              <a:srgbClr val="24E0D8">
                <a:alpha val="55000"/>
              </a:srgbClr>
            </a:solidFill>
          </a:ln>
        </p:spPr>
        <p:txBody>
          <a:bodyPr/>
          <a:p/>
        </p:txBody>
      </p:sp>
      <p:sp>
        <p:nvSpPr>
          <p:cNvPr id="102" name="o102"/>
          <p:cNvSpPr/>
          <p:nvPr/>
        </p:nvSpPr>
        <p:spPr>
          <a:xfrm>
            <a:off x="6662775.5" y="4875276.0"/>
            <a:ext cx="475488" cy="475488"/>
          </a:xfrm>
          <a:prstGeom prst="ellipse">
            <a:avLst/>
          </a:prstGeom>
          <a:gradFill rotWithShape="1">
            <a:gsLst>
              <a:gs pos="0">
                <a:srgbClr val="24E0D8"/>
              </a:gs>
              <a:gs pos="100000">
                <a:srgbClr val="0D1B3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103" name="o103"/>
          <p:cNvSpPr/>
          <p:nvPr/>
        </p:nvSpPr>
        <p:spPr>
          <a:xfrm>
            <a:off x="6801237.5" y="5030285.0"/>
            <a:ext cx="93766" cy="93766"/>
          </a:xfrm>
          <a:prstGeom prst="ellipse">
            <a:avLst/>
          </a:prstGeom>
          <a:noFill/>
          <a:ln w="50800" cap="rnd">
            <a:solidFill>
              <a:srgbClr val="FFFFFF"/>
            </a:solidFill>
          </a:ln>
        </p:spPr>
        <p:txBody>
          <a:bodyPr/>
          <a:p/>
        </p:txBody>
      </p:sp>
      <p:cxnSp>
        <p:nvCxnSpPr>
          <p:cNvPr id="104" name="l104"/>
          <p:cNvCxnSpPr/>
          <p:nvPr/>
        </p:nvCxnSpPr>
        <p:spPr>
          <a:xfrm>
            <a:off x="6878456.5" y="5107504.0"/>
            <a:ext cx="115829.0" cy="99282.0"/>
          </a:xfrm>
          <a:prstGeom prst="line">
            <a:avLst/>
          </a:prstGeom>
          <a:ln w="50800" cap="rnd">
            <a:solidFill>
              <a:srgbClr val="FFFFFF"/>
            </a:solidFill>
          </a:ln>
        </p:spPr>
      </p:cxnSp>
      <p:cxnSp>
        <p:nvCxnSpPr>
          <p:cNvPr id="105" name="l105"/>
          <p:cNvCxnSpPr/>
          <p:nvPr/>
        </p:nvCxnSpPr>
        <p:spPr>
          <a:xfrm flipV="1">
            <a:off x="6944644.5" y="5118536.0"/>
            <a:ext cx="38610.0" cy="38609.0"/>
          </a:xfrm>
          <a:prstGeom prst="line">
            <a:avLst/>
          </a:prstGeom>
          <a:ln w="50800" cap="rnd">
            <a:solidFill>
              <a:srgbClr val="FFFFFF"/>
            </a:solidFill>
          </a:ln>
        </p:spPr>
      </p:cxnSp>
      <p:sp>
        <p:nvSpPr>
          <p:cNvPr id="106" name="t106"/>
          <p:cNvSpPr txBox="1"/>
          <p:nvPr/>
        </p:nvSpPr>
        <p:spPr>
          <a:xfrm>
            <a:off x="7321142.5" y="4785360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Segoe UI"/>
                <a:cs typeface="Segoe UI"/>
              </a:rPr>
              <a:t>Cellebrite Cloud</a:t>
            </a:r>
          </a:p>
        </p:txBody>
      </p:sp>
      <p:sp>
        <p:nvSpPr>
          <p:cNvPr id="107" name="t107"/>
          <p:cNvSpPr txBox="1"/>
          <p:nvPr/>
        </p:nvSpPr>
        <p:spPr>
          <a:xfrm>
            <a:off x="7321142.5" y="5068824.0"/>
            <a:ext cx="4065879.5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100" dirty="0">
                <a:solidFill>
                  <a:srgbClr val="9DB4CC"/>
                </a:solidFill>
                <a:latin typeface="Segoe UI"/>
                <a:cs typeface="Segoe UI"/>
              </a:rPr>
              <a:t>Cloud account &amp; app data extraction</a:t>
            </a:r>
          </a:p>
        </p:txBody>
      </p:sp>
    </p:spTree>
  </p:cSld>
  <p:transition spd="med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A2E"/>
              </a:gs>
              <a:gs pos="55000">
                <a:srgbClr val="0A1526"/>
              </a:gs>
              <a:gs pos="100000">
                <a:srgbClr val="081120"/>
              </a:gs>
            </a:gsLst>
            <a:lin ang="3000000" scaled="1"/>
          </a:gradFill>
          <a:ln>
            <a:noFill/>
          </a:ln>
        </p:spPr>
        <p:txBody>
          <a:bodyPr/>
          <a:p/>
        </p:txBody>
      </p:sp>
      <p:cxnSp>
        <p:nvCxnSpPr>
          <p:cNvPr id="3" name="l3"/>
          <p:cNvCxnSpPr/>
          <p:nvPr/>
        </p:nvCxnSpPr>
        <p:spPr>
          <a:xfrm>
            <a:off x="-914400" y="-91440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4" name="l4"/>
          <p:cNvCxnSpPr/>
          <p:nvPr/>
        </p:nvCxnSpPr>
        <p:spPr>
          <a:xfrm>
            <a:off x="-914400" y="-34747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5" name="l5"/>
          <p:cNvCxnSpPr/>
          <p:nvPr/>
        </p:nvCxnSpPr>
        <p:spPr>
          <a:xfrm>
            <a:off x="-914400" y="21945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6" name="l6"/>
          <p:cNvCxnSpPr/>
          <p:nvPr/>
        </p:nvCxnSpPr>
        <p:spPr>
          <a:xfrm>
            <a:off x="-914400" y="78638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7" name="l7"/>
          <p:cNvCxnSpPr/>
          <p:nvPr/>
        </p:nvCxnSpPr>
        <p:spPr>
          <a:xfrm>
            <a:off x="-914400" y="135331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8" name="l8"/>
          <p:cNvCxnSpPr/>
          <p:nvPr/>
        </p:nvCxnSpPr>
        <p:spPr>
          <a:xfrm>
            <a:off x="-914400" y="192024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9" name="l9"/>
          <p:cNvCxnSpPr/>
          <p:nvPr/>
        </p:nvCxnSpPr>
        <p:spPr>
          <a:xfrm>
            <a:off x="-914400" y="248716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0" name="l10"/>
          <p:cNvCxnSpPr/>
          <p:nvPr/>
        </p:nvCxnSpPr>
        <p:spPr>
          <a:xfrm>
            <a:off x="-914400" y="305409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1" name="l11"/>
          <p:cNvCxnSpPr/>
          <p:nvPr/>
        </p:nvCxnSpPr>
        <p:spPr>
          <a:xfrm>
            <a:off x="-914400" y="362102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2" name="l12"/>
          <p:cNvCxnSpPr/>
          <p:nvPr/>
        </p:nvCxnSpPr>
        <p:spPr>
          <a:xfrm>
            <a:off x="-914400" y="418795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3" name="l13"/>
          <p:cNvCxnSpPr/>
          <p:nvPr/>
        </p:nvCxnSpPr>
        <p:spPr>
          <a:xfrm>
            <a:off x="-914400" y="475488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4" name="l14"/>
          <p:cNvCxnSpPr/>
          <p:nvPr/>
        </p:nvCxnSpPr>
        <p:spPr>
          <a:xfrm>
            <a:off x="-914400" y="5321808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5" name="l15"/>
          <p:cNvCxnSpPr/>
          <p:nvPr/>
        </p:nvCxnSpPr>
        <p:spPr>
          <a:xfrm>
            <a:off x="-914400" y="5888736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6" name="l16"/>
          <p:cNvCxnSpPr/>
          <p:nvPr/>
        </p:nvCxnSpPr>
        <p:spPr>
          <a:xfrm>
            <a:off x="-914400" y="6455664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7" name="l17"/>
          <p:cNvCxnSpPr/>
          <p:nvPr/>
        </p:nvCxnSpPr>
        <p:spPr>
          <a:xfrm>
            <a:off x="-914400" y="7022592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cxnSp>
        <p:nvCxnSpPr>
          <p:cNvPr id="18" name="l18"/>
          <p:cNvCxnSpPr/>
          <p:nvPr/>
        </p:nvCxnSpPr>
        <p:spPr>
          <a:xfrm>
            <a:off x="-914400" y="7589520"/>
            <a:ext cx="14020495" cy="3840480"/>
          </a:xfrm>
          <a:prstGeom prst="line">
            <a:avLst/>
          </a:prstGeom>
          <a:ln w="6350" cap="rnd">
            <a:solidFill>
              <a:srgbClr val="1C3A5C">
                <a:alpha val="16000"/>
              </a:srgbClr>
            </a:solidFill>
          </a:ln>
        </p:spPr>
      </p:cxnSp>
      <p:sp>
        <p:nvSpPr>
          <p:cNvPr id="19" name="o19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2E9BFF">
              <a:alpha val="8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o20"/>
          <p:cNvSpPr/>
          <p:nvPr/>
        </p:nvSpPr>
        <p:spPr>
          <a:xfrm>
            <a:off x="-1463040" y="4023360"/>
            <a:ext cx="3840480" cy="3840480"/>
          </a:xfrm>
          <a:prstGeom prst="ellipse">
            <a:avLst/>
          </a:prstGeom>
          <a:solidFill>
            <a:srgbClr val="24E0D8">
              <a:alpha val="7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r2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22" name="r22"/>
          <p:cNvSpPr/>
          <p:nvPr/>
        </p:nvSpPr>
        <p:spPr>
          <a:xfrm>
            <a:off x="566928" y="402336"/>
            <a:ext cx="274320" cy="50292"/>
          </a:xfrm>
          <a:prstGeom prst="rect">
            <a:avLst/>
          </a:prstGeom>
          <a:solidFill>
            <a:srgbClr val="24E0D8"/>
          </a:solidFill>
          <a:ln>
            <a:noFill/>
          </a:ln>
        </p:spPr>
        <p:txBody>
          <a:bodyPr/>
          <a:p/>
        </p:txBody>
      </p:sp>
      <p:sp>
        <p:nvSpPr>
          <p:cNvPr id="23" name="t23"/>
          <p:cNvSpPr txBox="1"/>
          <p:nvPr/>
        </p:nvSpPr>
        <p:spPr>
          <a:xfrm>
            <a:off x="950976" y="301752"/>
            <a:ext cx="5486400" cy="31089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1250" b="1" spc="320" dirty="0">
                <a:solidFill>
                  <a:srgbClr val="24E0D8"/>
                </a:solidFill>
                <a:latin typeface="Segoe UI"/>
                <a:cs typeface="Segoe UI"/>
              </a:rPr>
              <a:t>FROM INCIDENT TO REPORT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566928" y="658368"/>
            <a:ext cx="10424160" cy="8686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Poppins"/>
                <a:cs typeface="Poppins"/>
              </a:rPr>
              <a:t>Investigation Flow &amp; Conclusion</a:t>
            </a:r>
          </a:p>
        </p:txBody>
      </p:sp>
      <p:cxnSp>
        <p:nvCxnSpPr>
          <p:cNvPr id="25" name="l25"/>
          <p:cNvCxnSpPr/>
          <p:nvPr/>
        </p:nvCxnSpPr>
        <p:spPr>
          <a:xfrm>
            <a:off x="566928" y="1481328"/>
            <a:ext cx="11055096" cy="0"/>
          </a:xfrm>
          <a:prstGeom prst="line">
            <a:avLst/>
          </a:prstGeom>
          <a:ln w="13970" cap="rnd">
            <a:solidFill>
              <a:srgbClr val="24476E">
                <a:alpha val="70000"/>
              </a:srgbClr>
            </a:solidFill>
          </a:ln>
        </p:spPr>
      </p:cxnSp>
      <p:cxnSp>
        <p:nvCxnSpPr>
          <p:cNvPr id="26" name="l26"/>
          <p:cNvCxnSpPr/>
          <p:nvPr/>
        </p:nvCxnSpPr>
        <p:spPr>
          <a:xfrm>
            <a:off x="566928" y="6428232"/>
            <a:ext cx="11055096" cy="0"/>
          </a:xfrm>
          <a:prstGeom prst="line">
            <a:avLst/>
          </a:prstGeom>
          <a:ln w="12700" cap="rnd">
            <a:solidFill>
              <a:srgbClr val="1C3A5C">
                <a:alpha val="60000"/>
              </a:srgbClr>
            </a:solidFill>
          </a:ln>
        </p:spPr>
      </p:cxnSp>
      <p:sp>
        <p:nvSpPr>
          <p:cNvPr id="27" name="t27"/>
          <p:cNvSpPr txBox="1"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950" spc="150" dirty="0">
                <a:solidFill>
                  <a:srgbClr val="9DB4CC"/>
                </a:solidFill>
                <a:latin typeface="Segoe UI"/>
                <a:cs typeface="Segoe UI"/>
              </a:rPr>
              <a:t>Digital Forensics vs Cloud Forensics</a:t>
            </a:r>
          </a:p>
        </p:txBody>
      </p:sp>
      <p:sp>
        <p:nvSpPr>
          <p:cNvPr id="28" name="t28"/>
          <p:cNvSpPr txBox="1"/>
          <p:nvPr/>
        </p:nvSpPr>
        <p:spPr>
          <a:xfrm>
            <a:off x="9326880" y="6455664"/>
            <a:ext cx="22860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r">
              <a:buNone/>
            </a:pPr>
            <a:r>
              <a:rPr lang="en-US" sz="1000" b="1" dirty="0">
                <a:solidFill>
                  <a:srgbClr val="24E0D8"/>
                </a:solidFill>
                <a:latin typeface="Segoe UI"/>
                <a:cs typeface="Segoe UI"/>
              </a:rPr>
              <a:t>08</a:t>
            </a:r>
            <a:r>
              <a:rPr lang="en-US" sz="1000" dirty="0">
                <a:solidFill>
                  <a:srgbClr val="9DB4CC"/>
                </a:solidFill>
                <a:latin typeface="Segoe UI"/>
                <a:cs typeface="Segoe UI"/>
              </a:rPr>
              <a:t> / 08</a:t>
            </a:r>
          </a:p>
        </p:txBody>
      </p:sp>
      <p:sp>
        <p:nvSpPr>
          <p:cNvPr id="29" name="r29"/>
          <p:cNvSpPr/>
          <p:nvPr/>
        </p:nvSpPr>
        <p:spPr>
          <a:xfrm>
            <a:off x="566928" y="1801368"/>
            <a:ext cx="1417320" cy="566928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2E9BFF"/>
              </a:gs>
              <a:gs pos="100000">
                <a:srgbClr val="12457F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30" name="t30"/>
          <p:cNvSpPr txBox="1"/>
          <p:nvPr/>
        </p:nvSpPr>
        <p:spPr>
          <a:xfrm>
            <a:off x="566928" y="1801368"/>
            <a:ext cx="1417320" cy="56692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DESKTOP</a:t>
            </a:r>
          </a:p>
        </p:txBody>
      </p:sp>
      <p:sp>
        <p:nvSpPr>
          <p:cNvPr id="31" name="r31"/>
          <p:cNvSpPr/>
          <p:nvPr/>
        </p:nvSpPr>
        <p:spPr>
          <a:xfrm>
            <a:off x="2212848.0" y="169164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E9BFF"/>
            </a:solidFill>
          </a:ln>
        </p:spPr>
        <p:txBody>
          <a:bodyPr/>
          <a:p/>
        </p:txBody>
      </p:sp>
      <p:sp>
        <p:nvSpPr>
          <p:cNvPr id="32" name="t32"/>
          <p:cNvSpPr txBox="1"/>
          <p:nvPr/>
        </p:nvSpPr>
        <p:spPr>
          <a:xfrm>
            <a:off x="2304288.0" y="169164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Incident</a:t>
            </a:r>
          </a:p>
        </p:txBody>
      </p:sp>
      <p:cxnSp>
        <p:nvCxnSpPr>
          <p:cNvPr id="33" name="l33"/>
          <p:cNvCxnSpPr/>
          <p:nvPr/>
        </p:nvCxnSpPr>
        <p:spPr>
          <a:xfrm>
            <a:off x="3693109.166666667" y="2084832.0"/>
            <a:ext cx="91440.0" cy="0.0"/>
          </a:xfrm>
          <a:prstGeom prst="line">
            <a:avLst/>
          </a:prstGeom>
          <a:ln w="25400" cap="rnd">
            <a:solidFill>
              <a:srgbClr val="2E9BFF"/>
            </a:solidFill>
            <a:tailEnd type="triangle" w="med" len="med"/>
          </a:ln>
        </p:spPr>
      </p:cxnSp>
      <p:sp>
        <p:nvSpPr>
          <p:cNvPr id="34" name="r34"/>
          <p:cNvSpPr/>
          <p:nvPr/>
        </p:nvSpPr>
        <p:spPr>
          <a:xfrm>
            <a:off x="3802837.166666667" y="169164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E9BFF"/>
            </a:solidFill>
          </a:ln>
        </p:spPr>
        <p:txBody>
          <a:bodyPr/>
          <a:p/>
        </p:txBody>
      </p:sp>
      <p:sp>
        <p:nvSpPr>
          <p:cNvPr id="35" name="t35"/>
          <p:cNvSpPr txBox="1"/>
          <p:nvPr/>
        </p:nvSpPr>
        <p:spPr>
          <a:xfrm>
            <a:off x="3894277.166666667" y="169164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Device Seizure</a:t>
            </a:r>
          </a:p>
        </p:txBody>
      </p:sp>
      <p:cxnSp>
        <p:nvCxnSpPr>
          <p:cNvPr id="36" name="l36"/>
          <p:cNvCxnSpPr/>
          <p:nvPr/>
        </p:nvCxnSpPr>
        <p:spPr>
          <a:xfrm>
            <a:off x="5283098.333333334" y="2084832.0"/>
            <a:ext cx="91440.0" cy="0.0"/>
          </a:xfrm>
          <a:prstGeom prst="line">
            <a:avLst/>
          </a:prstGeom>
          <a:ln w="25400" cap="rnd">
            <a:solidFill>
              <a:srgbClr val="2E9BFF"/>
            </a:solidFill>
            <a:tailEnd type="triangle" w="med" len="med"/>
          </a:ln>
        </p:spPr>
      </p:cxnSp>
      <p:sp>
        <p:nvSpPr>
          <p:cNvPr id="37" name="r37"/>
          <p:cNvSpPr/>
          <p:nvPr/>
        </p:nvSpPr>
        <p:spPr>
          <a:xfrm>
            <a:off x="5392826.333333334" y="169164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E9BFF"/>
            </a:solidFill>
          </a:ln>
        </p:spPr>
        <p:txBody>
          <a:bodyPr/>
          <a:p/>
        </p:txBody>
      </p:sp>
      <p:sp>
        <p:nvSpPr>
          <p:cNvPr id="38" name="t38"/>
          <p:cNvSpPr txBox="1"/>
          <p:nvPr/>
        </p:nvSpPr>
        <p:spPr>
          <a:xfrm>
            <a:off x="5484266.333333334" y="169164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Imaging</a:t>
            </a:r>
          </a:p>
        </p:txBody>
      </p:sp>
      <p:cxnSp>
        <p:nvCxnSpPr>
          <p:cNvPr id="39" name="l39"/>
          <p:cNvCxnSpPr/>
          <p:nvPr/>
        </p:nvCxnSpPr>
        <p:spPr>
          <a:xfrm>
            <a:off x="6873087.500000001" y="2084832.0"/>
            <a:ext cx="91440.0" cy="0.0"/>
          </a:xfrm>
          <a:prstGeom prst="line">
            <a:avLst/>
          </a:prstGeom>
          <a:ln w="25400" cap="rnd">
            <a:solidFill>
              <a:srgbClr val="2E9BFF"/>
            </a:solidFill>
            <a:tailEnd type="triangle" w="med" len="med"/>
          </a:ln>
        </p:spPr>
      </p:cxnSp>
      <p:sp>
        <p:nvSpPr>
          <p:cNvPr id="40" name="r40"/>
          <p:cNvSpPr/>
          <p:nvPr/>
        </p:nvSpPr>
        <p:spPr>
          <a:xfrm>
            <a:off x="6982815.5" y="169164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E9BFF"/>
            </a:solidFill>
          </a:ln>
        </p:spPr>
        <p:txBody>
          <a:bodyPr/>
          <a:p/>
        </p:txBody>
      </p:sp>
      <p:sp>
        <p:nvSpPr>
          <p:cNvPr id="41" name="t41"/>
          <p:cNvSpPr txBox="1"/>
          <p:nvPr/>
        </p:nvSpPr>
        <p:spPr>
          <a:xfrm>
            <a:off x="7074255.5" y="169164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Examination</a:t>
            </a:r>
          </a:p>
        </p:txBody>
      </p:sp>
      <p:cxnSp>
        <p:nvCxnSpPr>
          <p:cNvPr id="42" name="l42"/>
          <p:cNvCxnSpPr/>
          <p:nvPr/>
        </p:nvCxnSpPr>
        <p:spPr>
          <a:xfrm>
            <a:off x="8463076.666666666" y="2084832.0"/>
            <a:ext cx="91440.0" cy="0.0"/>
          </a:xfrm>
          <a:prstGeom prst="line">
            <a:avLst/>
          </a:prstGeom>
          <a:ln w="25400" cap="rnd">
            <a:solidFill>
              <a:srgbClr val="2E9BFF"/>
            </a:solidFill>
            <a:tailEnd type="triangle" w="med" len="med"/>
          </a:ln>
        </p:spPr>
      </p:cxnSp>
      <p:sp>
        <p:nvSpPr>
          <p:cNvPr id="43" name="r43"/>
          <p:cNvSpPr/>
          <p:nvPr/>
        </p:nvSpPr>
        <p:spPr>
          <a:xfrm>
            <a:off x="8572804.666666668" y="169164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E9BFF"/>
            </a:solidFill>
          </a:ln>
        </p:spPr>
        <p:txBody>
          <a:bodyPr/>
          <a:p/>
        </p:txBody>
      </p:sp>
      <p:sp>
        <p:nvSpPr>
          <p:cNvPr id="44" name="t44"/>
          <p:cNvSpPr txBox="1"/>
          <p:nvPr/>
        </p:nvSpPr>
        <p:spPr>
          <a:xfrm>
            <a:off x="8664244.666666668" y="169164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Analysis</a:t>
            </a:r>
          </a:p>
        </p:txBody>
      </p:sp>
      <p:cxnSp>
        <p:nvCxnSpPr>
          <p:cNvPr id="45" name="l45"/>
          <p:cNvCxnSpPr/>
          <p:nvPr/>
        </p:nvCxnSpPr>
        <p:spPr>
          <a:xfrm>
            <a:off x="10053065.833333334" y="2084832.0"/>
            <a:ext cx="91440.0" cy="0.0"/>
          </a:xfrm>
          <a:prstGeom prst="line">
            <a:avLst/>
          </a:prstGeom>
          <a:ln w="25400" cap="rnd">
            <a:solidFill>
              <a:srgbClr val="2E9BFF"/>
            </a:solidFill>
            <a:tailEnd type="triangle" w="med" len="med"/>
          </a:ln>
        </p:spPr>
      </p:cxnSp>
      <p:sp>
        <p:nvSpPr>
          <p:cNvPr id="46" name="r46"/>
          <p:cNvSpPr/>
          <p:nvPr/>
        </p:nvSpPr>
        <p:spPr>
          <a:xfrm>
            <a:off x="10162793.833333334" y="169164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E9BFF"/>
            </a:solidFill>
          </a:ln>
        </p:spPr>
        <p:txBody>
          <a:bodyPr/>
          <a:p/>
        </p:txBody>
      </p:sp>
      <p:sp>
        <p:nvSpPr>
          <p:cNvPr id="47" name="t47"/>
          <p:cNvSpPr txBox="1"/>
          <p:nvPr/>
        </p:nvSpPr>
        <p:spPr>
          <a:xfrm>
            <a:off x="10254233.833333334" y="169164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Report</a:t>
            </a:r>
          </a:p>
        </p:txBody>
      </p:sp>
      <p:sp>
        <p:nvSpPr>
          <p:cNvPr id="48" name="r48"/>
          <p:cNvSpPr/>
          <p:nvPr/>
        </p:nvSpPr>
        <p:spPr>
          <a:xfrm>
            <a:off x="566928" y="2852928"/>
            <a:ext cx="1417320" cy="566928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24E0D8"/>
              </a:gs>
              <a:gs pos="100000">
                <a:srgbClr val="0E7C86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49" name="t49"/>
          <p:cNvSpPr txBox="1"/>
          <p:nvPr/>
        </p:nvSpPr>
        <p:spPr>
          <a:xfrm>
            <a:off x="566928" y="2852928"/>
            <a:ext cx="1417320" cy="56692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CLOUD</a:t>
            </a:r>
          </a:p>
        </p:txBody>
      </p:sp>
      <p:sp>
        <p:nvSpPr>
          <p:cNvPr id="50" name="r50"/>
          <p:cNvSpPr/>
          <p:nvPr/>
        </p:nvSpPr>
        <p:spPr>
          <a:xfrm>
            <a:off x="2212848.0" y="274320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4E0D8"/>
            </a:solidFill>
          </a:ln>
        </p:spPr>
        <p:txBody>
          <a:bodyPr/>
          <a:p/>
        </p:txBody>
      </p:sp>
      <p:sp>
        <p:nvSpPr>
          <p:cNvPr id="51" name="t51"/>
          <p:cNvSpPr txBox="1"/>
          <p:nvPr/>
        </p:nvSpPr>
        <p:spPr>
          <a:xfrm>
            <a:off x="2304288.0" y="274320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Incident</a:t>
            </a:r>
          </a:p>
        </p:txBody>
      </p:sp>
      <p:cxnSp>
        <p:nvCxnSpPr>
          <p:cNvPr id="52" name="l52"/>
          <p:cNvCxnSpPr/>
          <p:nvPr/>
        </p:nvCxnSpPr>
        <p:spPr>
          <a:xfrm>
            <a:off x="3693109.166666667" y="3136392.0"/>
            <a:ext cx="91440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53" name="r53"/>
          <p:cNvSpPr/>
          <p:nvPr/>
        </p:nvSpPr>
        <p:spPr>
          <a:xfrm>
            <a:off x="3802837.166666667" y="274320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4E0D8"/>
            </a:solidFill>
          </a:ln>
        </p:spPr>
        <p:txBody>
          <a:bodyPr/>
          <a:p/>
        </p:txBody>
      </p:sp>
      <p:sp>
        <p:nvSpPr>
          <p:cNvPr id="54" name="t54"/>
          <p:cNvSpPr txBox="1"/>
          <p:nvPr/>
        </p:nvSpPr>
        <p:spPr>
          <a:xfrm>
            <a:off x="3894277.166666667" y="274320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CSP Identification</a:t>
            </a:r>
          </a:p>
        </p:txBody>
      </p:sp>
      <p:cxnSp>
        <p:nvCxnSpPr>
          <p:cNvPr id="55" name="l55"/>
          <p:cNvCxnSpPr/>
          <p:nvPr/>
        </p:nvCxnSpPr>
        <p:spPr>
          <a:xfrm>
            <a:off x="5283098.333333334" y="3136392.0"/>
            <a:ext cx="91440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56" name="r56"/>
          <p:cNvSpPr/>
          <p:nvPr/>
        </p:nvSpPr>
        <p:spPr>
          <a:xfrm>
            <a:off x="5392826.333333334" y="274320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4E0D8"/>
            </a:solidFill>
          </a:ln>
        </p:spPr>
        <p:txBody>
          <a:bodyPr/>
          <a:p/>
        </p:txBody>
      </p:sp>
      <p:sp>
        <p:nvSpPr>
          <p:cNvPr id="57" name="t57"/>
          <p:cNvSpPr txBox="1"/>
          <p:nvPr/>
        </p:nvSpPr>
        <p:spPr>
          <a:xfrm>
            <a:off x="5484266.333333334" y="274320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Log / Snapshot
Preservation</a:t>
            </a:r>
          </a:p>
        </p:txBody>
      </p:sp>
      <p:cxnSp>
        <p:nvCxnSpPr>
          <p:cNvPr id="58" name="l58"/>
          <p:cNvCxnSpPr/>
          <p:nvPr/>
        </p:nvCxnSpPr>
        <p:spPr>
          <a:xfrm>
            <a:off x="6873087.500000001" y="3136392.0"/>
            <a:ext cx="91440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59" name="r59"/>
          <p:cNvSpPr/>
          <p:nvPr/>
        </p:nvSpPr>
        <p:spPr>
          <a:xfrm>
            <a:off x="6982815.5" y="274320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4E0D8"/>
            </a:solidFill>
          </a:ln>
        </p:spPr>
        <p:txBody>
          <a:bodyPr/>
          <a:p/>
        </p:txBody>
      </p:sp>
      <p:sp>
        <p:nvSpPr>
          <p:cNvPr id="60" name="t60"/>
          <p:cNvSpPr txBox="1"/>
          <p:nvPr/>
        </p:nvSpPr>
        <p:spPr>
          <a:xfrm>
            <a:off x="7074255.5" y="274320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CSP-Assisted
Acquisition</a:t>
            </a:r>
          </a:p>
        </p:txBody>
      </p:sp>
      <p:cxnSp>
        <p:nvCxnSpPr>
          <p:cNvPr id="61" name="l61"/>
          <p:cNvCxnSpPr/>
          <p:nvPr/>
        </p:nvCxnSpPr>
        <p:spPr>
          <a:xfrm>
            <a:off x="8463076.666666666" y="3136392.0"/>
            <a:ext cx="91440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62" name="r62"/>
          <p:cNvSpPr/>
          <p:nvPr/>
        </p:nvSpPr>
        <p:spPr>
          <a:xfrm>
            <a:off x="8572804.666666668" y="274320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4E0D8"/>
            </a:solidFill>
          </a:ln>
        </p:spPr>
        <p:txBody>
          <a:bodyPr/>
          <a:p/>
        </p:txBody>
      </p:sp>
      <p:sp>
        <p:nvSpPr>
          <p:cNvPr id="63" name="t63"/>
          <p:cNvSpPr txBox="1"/>
          <p:nvPr/>
        </p:nvSpPr>
        <p:spPr>
          <a:xfrm>
            <a:off x="8664244.666666668" y="274320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Analysis</a:t>
            </a:r>
          </a:p>
        </p:txBody>
      </p:sp>
      <p:cxnSp>
        <p:nvCxnSpPr>
          <p:cNvPr id="64" name="l64"/>
          <p:cNvCxnSpPr/>
          <p:nvPr/>
        </p:nvCxnSpPr>
        <p:spPr>
          <a:xfrm>
            <a:off x="10053065.833333334" y="3136392.0"/>
            <a:ext cx="91440.0" cy="0.0"/>
          </a:xfrm>
          <a:prstGeom prst="line">
            <a:avLst/>
          </a:prstGeom>
          <a:ln w="25400" cap="rnd">
            <a:solidFill>
              <a:srgbClr val="24E0D8"/>
            </a:solidFill>
            <a:tailEnd type="triangle" w="med" len="med"/>
          </a:ln>
        </p:spPr>
      </p:cxnSp>
      <p:sp>
        <p:nvSpPr>
          <p:cNvPr id="65" name="r65"/>
          <p:cNvSpPr/>
          <p:nvPr/>
        </p:nvSpPr>
        <p:spPr>
          <a:xfrm>
            <a:off x="10162793.833333334" y="2743200"/>
            <a:ext cx="1461973.1666666667" cy="786384"/>
          </a:xfrm>
          <a:prstGeom prst="roundRect">
            <a:avLst>
              <a:gd name="adj" fmla="val 10000"/>
            </a:avLst>
          </a:prstGeom>
          <a:solidFill>
            <a:srgbClr val="0E2038"/>
          </a:solidFill>
          <a:ln w="13970" cap="rnd">
            <a:solidFill>
              <a:srgbClr val="24E0D8"/>
            </a:solidFill>
          </a:ln>
        </p:spPr>
        <p:txBody>
          <a:bodyPr/>
          <a:p/>
        </p:txBody>
      </p:sp>
      <p:sp>
        <p:nvSpPr>
          <p:cNvPr id="66" name="t66"/>
          <p:cNvSpPr txBox="1"/>
          <p:nvPr/>
        </p:nvSpPr>
        <p:spPr>
          <a:xfrm>
            <a:off x="10254233.833333334" y="2743200"/>
            <a:ext cx="1279093.1666666667" cy="786384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1100" b="1" dirty="0">
                <a:solidFill>
                  <a:srgbClr val="E7F0FA"/>
                </a:solidFill>
                <a:latin typeface="Segoe UI"/>
                <a:cs typeface="Segoe UI"/>
              </a:rPr>
              <a:t>Report</a:t>
            </a:r>
          </a:p>
        </p:txBody>
      </p:sp>
      <p:sp>
        <p:nvSpPr>
          <p:cNvPr id="67" name="r67"/>
          <p:cNvSpPr/>
          <p:nvPr/>
        </p:nvSpPr>
        <p:spPr>
          <a:xfrm>
            <a:off x="566928" y="3886200"/>
            <a:ext cx="11057839" cy="16002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102A46"/>
              </a:gs>
              <a:gs pos="100000">
                <a:srgbClr val="0B1D31"/>
              </a:gs>
            </a:gsLst>
            <a:lin ang="5400000" scaled="1"/>
          </a:gradFill>
          <a:ln w="16510" cap="rnd">
            <a:solidFill>
              <a:srgbClr val="24E0D8">
                <a:alpha val="70000"/>
              </a:srgbClr>
            </a:solidFill>
          </a:ln>
          <a:effectLst>
            <a:outerShdw blurRad="120000" dist="50000" dir="5400000" rotWithShape="0">
              <a:srgbClr val="000000">
                <a:alpha val="42000"/>
              </a:srgbClr>
            </a:outerShdw>
          </a:effectLst>
        </p:spPr>
        <p:txBody>
          <a:bodyPr/>
          <a:p/>
        </p:txBody>
      </p:sp>
      <p:sp>
        <p:nvSpPr>
          <p:cNvPr id="68" name="r68"/>
          <p:cNvSpPr/>
          <p:nvPr/>
        </p:nvSpPr>
        <p:spPr>
          <a:xfrm>
            <a:off x="566928" y="3886200"/>
            <a:ext cx="73152" cy="1600200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69" name="o69"/>
          <p:cNvSpPr/>
          <p:nvPr/>
        </p:nvSpPr>
        <p:spPr>
          <a:xfrm>
            <a:off x="850392" y="4032504"/>
            <a:ext cx="713232" cy="713232"/>
          </a:xfrm>
          <a:prstGeom prst="ellipse">
            <a:avLst/>
          </a:prstGeom>
          <a:noFill/>
          <a:ln w="17780" cap="rnd">
            <a:solidFill>
              <a:srgbClr val="7C4DFF">
                <a:alpha val="55000"/>
              </a:srgbClr>
            </a:solidFill>
          </a:ln>
        </p:spPr>
        <p:txBody>
          <a:bodyPr/>
          <a:p/>
        </p:txBody>
      </p:sp>
      <p:sp>
        <p:nvSpPr>
          <p:cNvPr id="70" name="o70"/>
          <p:cNvSpPr/>
          <p:nvPr/>
        </p:nvSpPr>
        <p:spPr>
          <a:xfrm>
            <a:off x="896112" y="4078224"/>
            <a:ext cx="621792" cy="621792"/>
          </a:xfrm>
          <a:prstGeom prst="ellipse">
            <a:avLst/>
          </a:prstGeom>
          <a:gradFill rotWithShape="1">
            <a:gsLst>
              <a:gs pos="0">
                <a:srgbClr val="7C4DFF"/>
              </a:gs>
              <a:gs pos="100000">
                <a:srgbClr val="2A1560"/>
              </a:gs>
            </a:gsLst>
            <a:lin ang="5400000" scaled="1"/>
          </a:gradFill>
          <a:ln>
            <a:noFill/>
          </a:ln>
          <a:effectLst>
            <a:outerShdw blurRad="90000" dist="30000" dir="5400000" rotWithShape="0">
              <a:srgbClr val="000000">
                <a:alpha val="38000"/>
              </a:srgbClr>
            </a:outerShdw>
          </a:effectLst>
        </p:spPr>
        <p:txBody>
          <a:bodyPr/>
          <a:p/>
        </p:txBody>
      </p:sp>
      <p:sp>
        <p:nvSpPr>
          <p:cNvPr id="71" name="ff71"/>
          <p:cNvSpPr/>
          <p:nvPr/>
        </p:nvSpPr>
        <p:spPr>
          <a:xfrm>
            <a:off x="1032907" y="4215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10000"/>
                </a:moveTo>
                <a:lnTo>
                  <a:pt x="84000" y="24000"/>
                </a:lnTo>
                <a:lnTo>
                  <a:pt x="84000" y="52000"/>
                </a:lnTo>
                <a:cubicBezTo>
                  <a:pt x="84" y="74"/>
                  <a:pt x="68" y="86"/>
                  <a:pt x="50" y="92"/>
                </a:cubicBezTo>
                <a:cubicBezTo>
                  <a:pt x="32" y="86"/>
                  <a:pt x="16" y="74"/>
                  <a:pt x="16" y="52"/>
                </a:cubicBezTo>
                <a:lnTo>
                  <a:pt x="16000" y="2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sp>
        <p:nvSpPr>
          <p:cNvPr id="72" name="ff72"/>
          <p:cNvSpPr/>
          <p:nvPr/>
        </p:nvSpPr>
        <p:spPr>
          <a:xfrm>
            <a:off x="1032907" y="4215019"/>
            <a:ext cx="348203" cy="34820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6000" y="50000"/>
                </a:moveTo>
                <a:lnTo>
                  <a:pt x="46000" y="60000"/>
                </a:lnTo>
                <a:lnTo>
                  <a:pt x="66000" y="36000"/>
                </a:lnTo>
                <a:lnTo>
                  <a:pt x="70000" y="42000"/>
                </a:lnTo>
                <a:lnTo>
                  <a:pt x="46000" y="70000"/>
                </a:lnTo>
                <a:lnTo>
                  <a:pt x="32000" y="55000"/>
                </a:lnTo>
                <a:close/>
              </a:path>
            </a:pathLst>
          </a:custGeom>
          <a:solidFill>
            <a:srgbClr val="0A1526"/>
          </a:solidFill>
          <a:ln>
            <a:noFill/>
          </a:ln>
        </p:spPr>
        <p:txBody>
          <a:bodyPr/>
          <a:p/>
        </p:txBody>
      </p:sp>
      <p:sp>
        <p:nvSpPr>
          <p:cNvPr id="73" name="t73"/>
          <p:cNvSpPr txBox="1"/>
          <p:nvPr/>
        </p:nvSpPr>
        <p:spPr>
          <a:xfrm>
            <a:off x="1664208" y="4069080"/>
            <a:ext cx="2743200" cy="3657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buNone/>
            </a:pPr>
            <a:r>
              <a:rPr lang="en-US" sz="1800" b="1" dirty="0">
                <a:solidFill>
                  <a:srgbClr val="24E0D8"/>
                </a:solidFill>
                <a:latin typeface="Segoe UI"/>
                <a:cs typeface="Segoe UI"/>
              </a:rPr>
              <a:t>Conclusion</a:t>
            </a:r>
          </a:p>
        </p:txBody>
      </p:sp>
      <p:sp>
        <p:nvSpPr>
          <p:cNvPr id="74" name="t74"/>
          <p:cNvSpPr txBox="1"/>
          <p:nvPr/>
        </p:nvSpPr>
        <p:spPr>
          <a:xfrm>
            <a:off x="1664208" y="4489704"/>
            <a:ext cx="9594799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24000"/>
              </a:lnSpc>
              <a:buNone/>
            </a:pPr>
            <a:r>
              <a:rPr lang="en-US" sz="1400" dirty="0">
                <a:solidFill>
                  <a:srgbClr val="E7F0FA"/>
                </a:solidFill>
                <a:latin typeface="Segoe UI"/>
                <a:cs typeface="Segoe UI"/>
              </a:rPr>
              <a:t>Both investigations share the same principles — </a:t>
            </a:r>
            <a:r>
              <a:rPr lang="en-US" sz="1400" b="1" dirty="0">
                <a:solidFill>
                  <a:srgbClr val="FFFFFF"/>
                </a:solidFill>
                <a:latin typeface="Segoe UI"/>
                <a:cs typeface="Segoe UI"/>
              </a:rPr>
              <a:t>chain of custody, integrity and admissibility</a:t>
            </a:r>
            <a:r>
              <a:rPr lang="en-US" sz="1400" dirty="0">
                <a:solidFill>
                  <a:srgbClr val="E7F0FA"/>
                </a:solidFill>
                <a:latin typeface="Segoe UI"/>
                <a:cs typeface="Segoe UI"/>
              </a:rPr>
              <a:t>. However, cloud forensics is more complex because investigators have less physical control and depend on the CSP for evidence.</a:t>
            </a:r>
          </a:p>
        </p:txBody>
      </p:sp>
      <p:sp>
        <p:nvSpPr>
          <p:cNvPr id="75" name="t75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Poppins"/>
                <a:cs typeface="Poppins"/>
              </a:rPr>
              <a:t>Thank You</a:t>
            </a:r>
          </a:p>
        </p:txBody>
      </p:sp>
      <p:sp>
        <p:nvSpPr>
          <p:cNvPr id="76" name="r76"/>
          <p:cNvSpPr/>
          <p:nvPr/>
        </p:nvSpPr>
        <p:spPr>
          <a:xfrm>
            <a:off x="5272887.5" y="6181344"/>
            <a:ext cx="1645920" cy="45720"/>
          </a:xfrm>
          <a:prstGeom prst="rect">
            <a:avLst/>
          </a:prstGeom>
          <a:gradFill rotWithShape="1">
            <a:gsLst>
              <a:gs pos="0">
                <a:srgbClr val="24E0D8"/>
              </a:gs>
              <a:gs pos="100000">
                <a:srgbClr val="2E9BFF"/>
              </a:gs>
            </a:gsLst>
            <a:lin ang="5400000" scaled="1"/>
          </a:gradFill>
          <a:ln>
            <a:noFill/>
          </a:ln>
        </p:spPr>
        <p:txBody>
          <a:bodyPr/>
          <a:p/>
        </p:txBody>
      </p:sp>
      <p:sp>
        <p:nvSpPr>
          <p:cNvPr id="77" name="t77"/>
          <p:cNvSpPr txBox="1"/>
          <p:nvPr/>
        </p:nvSpPr>
        <p:spPr>
          <a:xfrm>
            <a:off x="566928" y="6172200"/>
            <a:ext cx="10972800" cy="27432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buNone/>
            </a:pPr>
            <a:r>
              <a:rPr lang="en-US" sz="900" b="1" spc="100" dirty="0">
                <a:solidFill>
                  <a:srgbClr val="24E0D8"/>
                </a:solidFill>
                <a:latin typeface="Segoe UI"/>
                <a:cs typeface="Segoe UI"/>
              </a:rPr>
              <a:t>References  </a:t>
            </a:r>
            <a:r>
              <a:rPr lang="en-US" sz="900" spc="40" dirty="0">
                <a:solidFill>
                  <a:srgbClr val="9DB4CC"/>
                </a:solidFill>
                <a:latin typeface="Segoe UI"/>
                <a:cs typeface="Segoe UI"/>
              </a:rPr>
              <a:t>NIST SP 800-86  •  NIST IR 8006  •  Zawoad &amp; Hasan (2013)</a:t>
            </a:r>
          </a:p>
        </p:txBody>
      </p:sp>
    </p:spTree>
  </p:cSld>
  <p:transition spd="med">
    <p:fade/>
  </p:transition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ForensicsTheme">
  <a:themeElements>
    <a:clrScheme name="Forensics">
      <a:dk1>
        <a:srgbClr val="0A1526"/>
      </a:dk1>
      <a:lt1>
        <a:srgbClr val="FFFFFF"/>
      </a:lt1>
      <a:dk2>
        <a:srgbClr val="0E1F33"/>
      </a:dk2>
      <a:lt2>
        <a:srgbClr val="E9F2FB"/>
      </a:lt2>
      <a:accent1>
        <a:srgbClr val="2E9BFF"/>
      </a:accent1>
      <a:accent2>
        <a:srgbClr val="24E0D8"/>
      </a:accent2>
      <a:accent3>
        <a:srgbClr val="7C4DFF"/>
      </a:accent3>
      <a:accent4>
        <a:srgbClr val="00D4FF"/>
      </a:accent4>
      <a:accent5>
        <a:srgbClr val="FF6B6B"/>
      </a:accent5>
      <a:accent6>
        <a:srgbClr val="FFB020"/>
      </a:accent6>
      <a:hlink>
        <a:srgbClr val="24E0D8"/>
      </a:hlink>
      <a:folHlink>
        <a:srgbClr val="7C4DFF"/>
      </a:folHlink>
    </a:clrScheme>
    <a:fontScheme name="Forensics">
      <a:majorFont>
        <a:latin typeface="Poppins"/>
        <a:ea typeface=""/>
        <a:cs typeface=""/>
      </a:majorFont>
      <a:minorFont>
        <a:latin typeface="Segoe UI"/>
        <a:ea typeface=""/>
        <a:cs typeface=""/>
      </a:minorFont>
    </a:fontScheme>
    <a:fmtScheme name="Forensic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